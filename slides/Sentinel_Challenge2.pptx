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B8B6AE"/>
              </a:solidFill>
            </c:spPr>
          </c:dPt>
          <c:dPt>
            <c:idx val="1"/>
            <c:spPr>
              <a:solidFill>
                <a:srgbClr val="B8B6AE"/>
              </a:solidFill>
            </c:spPr>
          </c:dPt>
          <c:dPt>
            <c:idx val="2"/>
            <c:spPr>
              <a:solidFill>
                <a:srgbClr val="B8B6AE"/>
              </a:solidFill>
            </c:spPr>
          </c:dPt>
          <c:dPt>
            <c:idx val="3"/>
            <c:spPr>
              <a:solidFill>
                <a:srgbClr val="B8B6AE"/>
              </a:solidFill>
            </c:spPr>
          </c:dPt>
          <c:dPt>
            <c:idx val="4"/>
            <c:spPr>
              <a:solidFill>
                <a:srgbClr val="B8B6AE"/>
              </a:solidFill>
            </c:spPr>
          </c:dPt>
          <c:dPt>
            <c:idx val="5"/>
            <c:spPr>
              <a:solidFill>
                <a:srgbClr val="B8B6AE"/>
              </a:solidFill>
            </c:spPr>
          </c:dPt>
          <c:dPt>
            <c:idx val="6"/>
            <c:spPr>
              <a:solidFill>
                <a:srgbClr val="B8B6AE"/>
              </a:solidFill>
            </c:spPr>
          </c:dPt>
          <c:dPt>
            <c:idx val="7"/>
            <c:spPr>
              <a:solidFill>
                <a:srgbClr val="B8B6AE"/>
              </a:solidFill>
            </c:spPr>
          </c:dPt>
          <c:dPt>
            <c:idx val="8"/>
            <c:spPr>
              <a:solidFill>
                <a:srgbClr val="2A78D6"/>
              </a:solidFill>
            </c:spPr>
          </c:dPt>
          <c:cat>
            <c:strRef>
              <c:f>Sheet1!$A$2:$A$10</c:f>
              <c:strCache>
                <c:ptCount val="9"/>
                <c:pt idx="0">
                  <c:v>D1 residual only</c:v>
                </c:pt>
                <c:pt idx="1">
                  <c:v>D2 change only</c:v>
                </c:pt>
                <c:pt idx="2">
                  <c:v>D3 shape only</c:v>
                </c:pt>
                <c:pt idx="3">
                  <c:v>D1 + D2 + D3 (shape on)</c:v>
                </c:pt>
                <c:pt idx="4">
                  <c:v>D1 + D2, no calibration</c:v>
                </c:pt>
                <c:pt idx="5">
                  <c:v>+ calibration, plain threshold</c:v>
                </c:pt>
                <c:pt idx="6">
                  <c:v>+ hysteresis</c:v>
                </c:pt>
                <c:pt idx="7">
                  <c:v>+ cooldown, max length</c:v>
                </c:pt>
                <c:pt idx="8">
                  <c:v>+ pause, re-baseline (full)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0.417</c:v>
                </c:pt>
                <c:pt idx="1">
                  <c:v>0.422</c:v>
                </c:pt>
                <c:pt idx="2">
                  <c:v>0.176</c:v>
                </c:pt>
                <c:pt idx="3">
                  <c:v>0.465</c:v>
                </c:pt>
                <c:pt idx="4">
                  <c:v>0.429</c:v>
                </c:pt>
                <c:pt idx="5">
                  <c:v>0.472</c:v>
                </c:pt>
                <c:pt idx="6">
                  <c:v>0.477</c:v>
                </c:pt>
                <c:pt idx="7">
                  <c:v>0.475</c:v>
                </c:pt>
                <c:pt idx="8">
                  <c:v>0.479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990783410138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2514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2A78D6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dPt>
            <c:idx val="2"/>
            <c:spPr>
              <a:solidFill>
                <a:srgbClr val="2A78D6"/>
              </a:solidFill>
            </c:spPr>
          </c:dPt>
          <c:dPt>
            <c:idx val="3"/>
            <c:spPr>
              <a:solidFill>
                <a:srgbClr val="2A78D6"/>
              </a:solidFill>
            </c:spPr>
          </c:dPt>
          <c:dPt>
            <c:idx val="4"/>
            <c:spPr>
              <a:solidFill>
                <a:srgbClr val="2A78D6"/>
              </a:solidFill>
            </c:spPr>
          </c:dPt>
          <c:dPt>
            <c:idx val="5"/>
            <c:spPr>
              <a:solidFill>
                <a:srgbClr val="2A78D6"/>
              </a:solidFill>
            </c:spPr>
          </c:dPt>
          <c:cat>
            <c:strRef>
              <c:f>Sheet1!$A$2:$A$7</c:f>
              <c:strCache>
                <c:ptCount val="6"/>
                <c:pt idx="0">
                  <c:v>Artificial (4/6)</c:v>
                </c:pt>
                <c:pt idx="1">
                  <c:v>Tweets (21/33)</c:v>
                </c:pt>
                <c:pt idx="2">
                  <c:v>AWS (13/30)</c:v>
                </c:pt>
                <c:pt idx="3">
                  <c:v>Ad exchange (4/14)</c:v>
                </c:pt>
                <c:pt idx="4">
                  <c:v>Known cause (7/19)</c:v>
                </c:pt>
                <c:pt idx="5">
                  <c:v>Traffic (3/14)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</c:v>
                </c:pt>
                <c:pt idx="1">
                  <c:v>0.545</c:v>
                </c:pt>
                <c:pt idx="2">
                  <c:v>0.5</c:v>
                </c:pt>
                <c:pt idx="3">
                  <c:v>0.4</c:v>
                </c:pt>
                <c:pt idx="4">
                  <c:v>0.368</c:v>
                </c:pt>
                <c:pt idx="5">
                  <c:v>0.316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2514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reads a series one point at a time. For every point it gives a score, a label and, for every alert, the reason. Simple causal detectors, one calibrated scale, one state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per alert is what an operator feels. The judging metric is event F1, so the design goal is: trigger once, inside the incident, early, and stay quiet on its aftermath.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category behaves differently: daily cycles, spikes, level shifts, bursts. That is why one detector is not enough and why the threshold must be calibrated per series,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 is one update call. Learning pauses while an alert is open so the anomaly does not become the new normal; after a lasting shift the detectors re-baseline.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raw scores live on different scales. Calibration turns each into a p-value against its own recent normal history, so one threshold means the same on every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keeps the best of the previous one. The all-files F1 is optimistic; the nested LOCO number re-runs the whole search without the held-out category and is what a new category would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point adjustment. An alert is judged where it starts: one that starts before the window and runs into it is a false alert and the window counts as missed, exactly as NAB scores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fairest comparison is the row where a baseline gets our calibration and event logic with its threshold chosen the same way: the detectors themselves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alert record also keeps every detector's surprise at onset, the score trace, and whether the detector re-baselined afterwards (events.jsonl).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NAB: labels are imperfect, so some false positives are real events and some misses have no visible signal. The held-out number is the one to expect on new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B3E8"/>
                </a:solidFill>
                <a:latin typeface="Calibri"/>
              </a:rPr>
              <a:t>UTKRISHTA 2026  ·  CHALLENGE 2  ·  STREAMING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6DBE4"/>
                </a:solidFill>
                <a:latin typeface="Calibri"/>
              </a:rPr>
              <a:t>A calibrated, explainable streaming ensemble that raises one alert per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9D1DE"/>
                </a:solidFill>
                <a:latin typeface="Calibri"/>
              </a:rPr>
              <a:t>Team TBD  ·  Kommana Srinivasa Rao  ·  Panuganti Bhanu  ·  Vishnu Datta  ·  Kumarran Mahesh</a:t>
            </a:r>
          </a:p>
        </p:txBody>
      </p:sp>
      <p:pic>
        <p:nvPicPr>
          <p:cNvPr id="6" name="Picture 5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9039"/>
            <a:ext cx="11064240" cy="22913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0819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machine_temperature_system_failure (NAB) · orange = labelled anomaly window · red line = Sentinel alert trigger · light red = open event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Monitoring needs alerts people can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Servers, machines, traffic: a stream arrives point by point and someone has to act on each alert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Decide now, from the past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7568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The output at time t may use data up to t. No look-ahead, no second pass.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10896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06324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One alert per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49300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Repeated and false alerts cause alert fatigue; real incidents then get ignored.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4805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Say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91032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Each alert carries evidence a person can check: observed vs expected, shift, odd shape.</a:t>
            </a:r>
          </a:p>
        </p:txBody>
      </p:sp>
      <p:pic>
        <p:nvPicPr>
          <p:cNvPr id="13" name="Picture 12" descr="alert_st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0200"/>
            <a:ext cx="6172200" cy="258260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4251960"/>
            <a:ext cx="6172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Same series, same labelled window. A plain threshold fires again and again; Sentinel alerts inside the window and stays quiet afterwards.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983480"/>
            <a:ext cx="297180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509320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52514E"/>
                </a:solidFill>
                <a:latin typeface="Calibri"/>
              </a:rPr>
              <a:t>34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73328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plain rolling z-score, 28 outside the window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983480"/>
            <a:ext cx="297180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509320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1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573328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Sentinel, 1 triggered inside the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NAB: 58 series, 116 labelled anomaly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7 categories of real and synthetic metrics; windows ≈ 10% of each file, centred on the labelled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40080"/>
                <a:gridCol w="960120"/>
                <a:gridCol w="86868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Windows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Seasonal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Artificial, no anomaly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20,160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Artificial, with anomaly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24,192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AWS CloudWatch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67,740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Ad exchange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9,610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Known cause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69,561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Traffic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15,664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Tweets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158,631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365,558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Rows kept as given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49 duplicate timestamps; a stream cannot drop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461772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Probation = min(15% of N, 750)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learn only, no alerts (NAB rule)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48640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Season: day / week / none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ACF at the period lag after a linear detrend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548640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No global scaling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every statistic is online and robust</a:t>
            </a:r>
          </a:p>
        </p:txBody>
      </p:sp>
      <p:pic>
        <p:nvPicPr>
          <p:cNvPr id="9" name="Picture 8" descr="category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41972" cy="4800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One pass per point: detect, calibrate, fuse, decide, explain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StreamingSentinel.update(timestamp, value) → score, label,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Stream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timestamp, value
one point at a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0592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Probation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season mode, scale floor;
replay the first P points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205740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D1 Residual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spikes · dips · seasonal breaks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278892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D2 Change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level / variance shifts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352044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D3 Shape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odd patterns (off in final.yaml)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Calibration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per detector: tail p-value vs its recent NORMAL scores
U = −log10 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Fusion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U = max U_k − log10 K
Ū = smoothed 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Event state machine</a:t>
            </a:r>
          </a:p>
          <a:p>
            <a:pPr algn="l"/>
            <a:r>
              <a:rPr sz="1100" b="0" i="0">
                <a:solidFill>
                  <a:srgbClr val="C9D1DE"/>
                </a:solidFill>
                <a:latin typeface="Calibri"/>
              </a:rPr>
              <a:t>hysteresis · cooldown · max length · pause · re-baseline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57984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59936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61888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65792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58400" y="4572000"/>
            <a:ext cx="1572768" cy="10972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Outputs</a:t>
            </a:r>
          </a:p>
          <a:p>
            <a:pPr algn="l"/>
            <a:r>
              <a:rPr sz="1000" b="0" i="0">
                <a:solidFill>
                  <a:srgbClr val="52514E"/>
                </a:solidFill>
                <a:latin typeface="Calibri"/>
              </a:rPr>
              <a:t>score ∈ [0,1] · label · top detector · event id · evidence JSON + sentence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844784" y="4187952"/>
            <a:ext cx="0" cy="356616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O(1)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D1 rolling median (sorted list) and D2 CUSUM per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O(H·m)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D3: one matrix-vector product over the last H 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23 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mean time per point, one CPU core (p99 183 µs)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random numbers, labels or future points used at run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Cheap detectors, one calibrated scale, one state machine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D1 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Spikes, dips, broken daily/weekly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r = x − (median of last W deseasonalized x + hour offset)
S1 = |r| / σ_EW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D2 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Level shifts, slow drift, variance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z = (x − slow mean) / slow scale
C± = max(0, C± ± z − k),  S2 = max(C+, C−, V+) /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D3  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Unusual patterns (optional; off in final.yaml)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distance of newest z-normalized 16-point window
to its nearest of the last 1000 windows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4754880" cy="26060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1012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0B0B"/>
                </a:solidFill>
                <a:latin typeface="Calibri"/>
              </a:rPr>
              <a:t>Calibration →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4480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p = (1 + #{buffer ≥ s}) / (1 + n)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far tail: p = 0.05 · exp(−(s − q95) / mean excess)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U = −log10 p   (U = 4 ≈ 1 in 10,000)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Buffer = recent scores in NORMAL state only, so an anomaly never teaches itself. The tail fit lets U pass the 1/(n+1) floor of an empirical p-value.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NORMAL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COOLDOWN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06056" y="4251959"/>
            <a:ext cx="475488" cy="0"/>
          </a:xfrm>
          <a:prstGeom prst="line">
            <a:avLst/>
          </a:prstGeom>
          <a:ln w="1905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54896" y="4251959"/>
            <a:ext cx="475488" cy="0"/>
          </a:xfrm>
          <a:prstGeom prst="line">
            <a:avLst/>
          </a:prstGeom>
          <a:ln w="1905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86600" y="33649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Ū ≥ θ_enter
= 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3364991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Ū &lt; 3.0 or
length ≥ 200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767060" y="4590288"/>
            <a:ext cx="0" cy="256032"/>
          </a:xfrm>
          <a:prstGeom prst="line">
            <a:avLst/>
          </a:prstGeom>
          <a:ln w="15875">
            <a:solidFill>
              <a:srgbClr val="5251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469380" y="4846320"/>
            <a:ext cx="4297680" cy="0"/>
          </a:xfrm>
          <a:prstGeom prst="line">
            <a:avLst/>
          </a:prstGeom>
          <a:ln w="15875">
            <a:solidFill>
              <a:srgbClr val="5251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469380" y="4608576"/>
            <a:ext cx="0" cy="237744"/>
          </a:xfrm>
          <a:prstGeom prst="line">
            <a:avLst/>
          </a:prstGeom>
          <a:ln w="1587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4892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after 400 quiet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34924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Fusion: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U = max_k U_k − log10 K (Bonferroni, K = 2 detectors on); Ū = mean over 5 points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Label: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ANOMALOUS on the first 1 row(s) of an event (the trigger); the span is in state/event_id and events.jsonl.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While EVENT: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learning paused. At the end: re-baseline if the level moved &gt; 3σ or D2 fired.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Staged search, logged run by run, judged on held-out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objective: trigger-based event F1; 231 configs in the final search, each run on all 58 files; every run in experiments/runs.csv</a:t>
            </a:r>
          </a:p>
        </p:txBody>
      </p:sp>
      <p:pic>
        <p:nvPicPr>
          <p:cNvPr id="4" name="Picture 3" descr="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760720" cy="2804625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537960" y="1417320"/>
          <a:ext cx="512064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37960" y="50292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98781"/>
                </a:solidFill>
                <a:latin typeface="Calibri"/>
              </a:rPr>
              <a:t>Ablation: trigger-based event F1 (ET), each variant with its own best θ_enter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5760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S1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detector params (108): ET F1 0.419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S2a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θ, hysteresis, smoothing (36): ET F1 0.452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S2b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cooldown, max length (36): ET F1 0.464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S3a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Fisher, peak-or-mean, learn in cooldown (24): ET F1 0.470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S3b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season ACF, log1p (18):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S3c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capped CUSUM (9):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S3d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shape detector off (6): ET F1 0.488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S3e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deseasonalized CUSUM (3):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Final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ET F1 0.479 (stability rule); ET F1, held-out (nested LOCO, partial: 3 of 7 categories): 0.381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Event F1 counted at the alert trigger, on held-out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No official evaluator was given, so we defined the metric and audited it against degenerate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5212080" cy="54864"/>
          </a:xfrm>
          <a:prstGeom prst="rect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508760"/>
            <a:ext cx="1463040" cy="457200"/>
          </a:xfrm>
          <a:prstGeom prst="rect">
            <a:avLst/>
          </a:prstGeom>
          <a:solidFill>
            <a:srgbClr val="FB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1508760"/>
            <a:ext cx="1280160" cy="457200"/>
          </a:xfrm>
          <a:prstGeom prst="rect">
            <a:avLst/>
          </a:prstGeom>
          <a:solidFill>
            <a:srgbClr val="FB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54480" y="2121408"/>
            <a:ext cx="45720" cy="36576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63240" y="2121408"/>
            <a:ext cx="45720" cy="36576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21408"/>
            <a:ext cx="45720" cy="36576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19" y="24688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true 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46888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false alert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" y="2468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4688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missed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Precision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alerts triggered inside a window / alerts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Recall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windows with ≥ 1 alert trigger / windows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Delay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first trigger in the window − window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2514E"/>
                </a:solidFill>
                <a:latin typeface="Calibri"/>
              </a:rPr>
              <a:t>Why not overlap F1?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flagging every row scores 0.95 under an overlap event F1, 0.00 under ours; random 1% of rows: 0.06. Details: reports/metric_audit.md.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Nested leave-one-category-out (LOCO)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Art. none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9304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Art. anom.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29968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70632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AdExch.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1296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Known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Traffic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51206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Tweets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2356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The whole staged search runs on 6 categories; its pick is scored on the 7th. Run for 3 of 7 categories (cost); one global config, no per-file tuning.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309360" y="1371600"/>
          <a:ext cx="53492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309360" y="530352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Sentinel trigger-based event F1 per category (windows found / windows), final config on all files. On the 5 no-anomaly files: 1 false alert.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Results: Sentinel vs baselines on the same metric and protocol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0.48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ET F1, all files (95% CI 0.38–0.56)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0.38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ET F1, held-out (nested LOCO, partial: 3 of 7 categories)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0B0B"/>
                </a:solidFill>
                <a:latin typeface="Calibri"/>
              </a:rPr>
              <a:t>0.51 / 0.45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precision / recall (52/116 windows, 49 false)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18872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1298448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0B0B"/>
                </a:solidFill>
                <a:latin typeface="Calibri"/>
              </a:rPr>
              <a:t>23 µs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19385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per point, one CPU core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697480"/>
          <a:ext cx="110642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914400"/>
                <a:gridCol w="1005840"/>
                <a:gridCol w="1051560"/>
                <a:gridCol w="914400"/>
                <a:gridCol w="1234440"/>
                <a:gridCol w="91440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ET F1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False alerts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E1 F1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NAB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Sentinel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0.515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0.448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38.8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LOF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0.467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0.467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0.510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0.431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0.467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36.7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Isolation Forest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44.4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Rolling z-score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0.295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One-Class SVM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0.266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27.8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Random (+ event logic)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0.126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0.724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1137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0.178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98781"/>
                </a:solidFill>
                <a:latin typeface="Calibri"/>
              </a:rPr>
              <a:t>Best variant of each baseline (full table: results/baselines_comparison.csv). Held-out column: θ chosen on 6 categories, scored on the 7th, for every method (Sentinel's other settings were tuned on all files). NAB = NAB standard score, every ANOMALOUS row a detection (checked against NAB's own code). Published NAB detectors, ET F1 at their NAB threshold: CAD OSE 0.68, HTM 0.53, ARTime 0.48; not causal (NAB gives each file's min/max in advance) and thresholds tuned on all labels.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Every alert comes with evidence a person can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streamlit run app/streamlit_app.py  ·  python scripts/run_stream.py --input file.csv --output out.csv --events ev.jsonl</a:t>
            </a:r>
          </a:p>
        </p:txBody>
      </p:sp>
      <p:pic>
        <p:nvPicPr>
          <p:cNvPr id="4" name="Picture 3" descr="demo_stream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607808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46520" y="15087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5819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Correct alert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ec2_cpu_utilization_825cc2.csv  ·  2014-04-15 16:59:00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Value 54.78 is 9.8x the normal spread below the expected 93.78. Also: Sustained downward shift: recent mean 85.91 vs baseline 93.32 for 38 points.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8803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9535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Correct alert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Twitter_volume_FB.csv  ·  2015-04-03 17:47:53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2918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Value 1258 is 58.2x the normal spread above the expected 11. Also: Sustained upward shift: recent mean 107.1 vs baseline 16.83 for 2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4251960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3251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34948"/>
                </a:solidFill>
                <a:latin typeface="Calibri"/>
              </a:rPr>
              <a:t>False alert: why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art_noisy.csv  ·  2014-04-04 22:10:00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634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Variance change: values became much more spread out around the baseline 13.55 over 41 points.</a:t>
            </a:r>
          </a:p>
          <a:p>
            <a:pPr algn="l"/>
            <a:r>
              <a:rPr sz="1100" b="0" i="1">
                <a:solidFill>
                  <a:srgbClr val="52514E"/>
                </a:solidFill>
                <a:latin typeface="Calibri"/>
              </a:rPr>
              <a:t>This file is pure noise with no anomaly (NAB artificialNoAnomaly): the variance CUSUM crossed θ on a chance run of wide swings. False alerts on the 5 anomaly-free files: 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breaks it, and what comes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Looks like normal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anomalies that resemble the usual seasonal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50008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Bursty series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Tweets/AWS: many unlabelled spikes look like labelled 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374136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Regime switching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CUSUM fires on series that change level often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98264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Labels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some windows show no visible change; some clear events are unlabelled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FB3E8"/>
                </a:solidFill>
                <a:latin typeface="Calibri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2120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Multivariate streams (shared context across metrics)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Learn more seasonal periods online, not only day/week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Operator feedback to adapt θ per service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Compare with time-series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9476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FB3E8"/>
                </a:solidFill>
                <a:latin typeface="Calibri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causal detectors (residual + CUSUM) + calibration + event logic: trigger-based event F1 0.48 on NAB, all files; 0.38 held-out (nested LOCO, partial: 3 of 7 categories).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One alert per incident, each with a reason; tens of microseconds per point.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Metric audited; every number reproducible from one command per 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4A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Utkrishta 2026 Challenge 2</dc:title>
  <dc:subject/>
  <dc:creator>Kommana Srinivasa Rao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