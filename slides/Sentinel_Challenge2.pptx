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F1</c:v>
                </c:pt>
              </c:strCache>
            </c:strRef>
          </c:tx>
          <c:dPt>
            <c:idx val="0"/>
            <c:spPr>
              <a:solidFill>
                <a:srgbClr val="B8B6AE"/>
              </a:solidFill>
            </c:spPr>
          </c:dPt>
          <c:dPt>
            <c:idx val="1"/>
            <c:spPr>
              <a:solidFill>
                <a:srgbClr val="B8B6AE"/>
              </a:solidFill>
            </c:spPr>
          </c:dPt>
          <c:dPt>
            <c:idx val="2"/>
            <c:spPr>
              <a:solidFill>
                <a:srgbClr val="B8B6AE"/>
              </a:solidFill>
            </c:spPr>
          </c:dPt>
          <c:dPt>
            <c:idx val="3"/>
            <c:spPr>
              <a:solidFill>
                <a:srgbClr val="B8B6AE"/>
              </a:solidFill>
            </c:spPr>
          </c:dPt>
          <c:dPt>
            <c:idx val="4"/>
            <c:spPr>
              <a:solidFill>
                <a:srgbClr val="B8B6AE"/>
              </a:solidFill>
            </c:spPr>
          </c:dPt>
          <c:dPt>
            <c:idx val="5"/>
            <c:spPr>
              <a:solidFill>
                <a:srgbClr val="B8B6AE"/>
              </a:solidFill>
            </c:spPr>
          </c:dPt>
          <c:dPt>
            <c:idx val="6"/>
            <c:spPr>
              <a:solidFill>
                <a:srgbClr val="B8B6AE"/>
              </a:solidFill>
            </c:spPr>
          </c:dPt>
          <c:dPt>
            <c:idx val="7"/>
            <c:spPr>
              <a:solidFill>
                <a:srgbClr val="B8B6AE"/>
              </a:solidFill>
            </c:spPr>
          </c:dPt>
          <c:dPt>
            <c:idx val="8"/>
            <c:spPr>
              <a:solidFill>
                <a:srgbClr val="2A78D6"/>
              </a:solidFill>
            </c:spPr>
          </c:dPt>
          <c:cat>
            <c:strRef>
              <c:f>Sheet1!$A$2:$A$10</c:f>
              <c:strCache>
                <c:ptCount val="9"/>
                <c:pt idx="0">
                  <c:v>D1 residual only</c:v>
                </c:pt>
                <c:pt idx="1">
                  <c:v>D2 change only</c:v>
                </c:pt>
                <c:pt idx="2">
                  <c:v>D7 subspace only</c:v>
                </c:pt>
                <c:pt idx="3">
                  <c:v>D1 + D2 (v2 detectors)</c:v>
                </c:pt>
                <c:pt idx="4">
                  <c:v>D1 + D2 + D7, no calibration (raw / probation p99)</c:v>
                </c:pt>
                <c:pt idx="5">
                  <c:v>+ calibration, plain threshold</c:v>
                </c:pt>
                <c:pt idx="6">
                  <c:v>+ hysteresis</c:v>
                </c:pt>
                <c:pt idx="7">
                  <c:v>+ cooldown and max length</c:v>
                </c:pt>
                <c:pt idx="8">
                  <c:v>+ pause and re-baseline (full Sentinel, D1 + D2 + D7)</c:v>
                </c:pt>
              </c:strCache>
            </c:strRef>
          </c:cat>
          <c:val>
            <c:numRef>
              <c:f>Sheet1!$B$2:$B$10</c:f>
              <c:numCache>
                <c:formatCode>General</c:formatCode>
                <c:ptCount val="9"/>
                <c:pt idx="0">
                  <c:v>0.515</c:v>
                </c:pt>
                <c:pt idx="1">
                  <c:v>0.469</c:v>
                </c:pt>
                <c:pt idx="2">
                  <c:v>0.517</c:v>
                </c:pt>
                <c:pt idx="3">
                  <c:v>0.523</c:v>
                </c:pt>
                <c:pt idx="4">
                  <c:v>0.422</c:v>
                </c:pt>
                <c:pt idx="5">
                  <c:v>0.496</c:v>
                </c:pt>
                <c:pt idx="6">
                  <c:v>0.515</c:v>
                </c:pt>
                <c:pt idx="7">
                  <c:v>0.548</c:v>
                </c:pt>
                <c:pt idx="8">
                  <c:v>0.541</c:v>
                </c:pt>
              </c:numCache>
            </c:numRef>
          </c:val>
        </c:ser>
        <c:dLbls>
          <c:numFmt formatCode="0.00" sourceLinked="0"/>
          <c:txPr>
            <a:bodyPr/>
            <a:lstStyle/>
            <a:p>
              <a:pPr>
                <a:defRPr sz="1000">
                  <a:solidFill>
                    <a:srgbClr val="0B0B0B"/>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noFill/>
          </a:ln>
        </c:spPr>
        <c:txPr>
          <a:bodyPr/>
          <a:lstStyle/>
          <a:p>
            <a:pPr>
              <a:defRPr sz="1000">
                <a:solidFill>
                  <a:srgbClr val="52514E"/>
                </a:solidFill>
              </a:defRPr>
            </a:pPr>
          </a:p>
        </c:txPr>
        <c:crossAx val="-2113994440"/>
        <c:crosses val="autoZero"/>
        <c:auto val="1"/>
        <c:lblAlgn val="ctr"/>
        <c:lblOffset val="100"/>
        <c:noMultiLvlLbl val="0"/>
      </c:catAx>
      <c:valAx>
        <c:axId val="-2113994440"/>
        <c:scaling>
          <c:max val="0.6854838709677419"/>
          <c:min val="0.0"/>
        </c:scaling>
        <c:delete/>
        <c:axPos val="b"/>
        <c:majorTickMark val="out"/>
        <c:minorTickMark val="none"/>
        <c:tickLblPos val="nextTo"/>
        <c:crossAx val="-2068027336"/>
        <c:crosses val="autoZero"/>
      </c:valAx>
    </c:plotArea>
    <c:dispBlanksAs val="gap"/>
  </c:chart>
  <c:txPr>
    <a:bodyPr/>
    <a:lstStyle/>
    <a:p>
      <a:pPr>
        <a:defRPr sz="1000">
          <a:solidFill>
            <a:srgbClr val="52514E"/>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F1</c:v>
                </c:pt>
              </c:strCache>
            </c:strRef>
          </c:tx>
          <c:dPt>
            <c:idx val="0"/>
            <c:spPr>
              <a:solidFill>
                <a:srgbClr val="2A78D6"/>
              </a:solidFill>
            </c:spPr>
          </c:dPt>
          <c:dPt>
            <c:idx val="1"/>
            <c:spPr>
              <a:solidFill>
                <a:srgbClr val="2A78D6"/>
              </a:solidFill>
            </c:spPr>
          </c:dPt>
          <c:dPt>
            <c:idx val="2"/>
            <c:spPr>
              <a:solidFill>
                <a:srgbClr val="2A78D6"/>
              </a:solidFill>
            </c:spPr>
          </c:dPt>
          <c:dPt>
            <c:idx val="3"/>
            <c:spPr>
              <a:solidFill>
                <a:srgbClr val="2A78D6"/>
              </a:solidFill>
            </c:spPr>
          </c:dPt>
          <c:dPt>
            <c:idx val="4"/>
            <c:spPr>
              <a:solidFill>
                <a:srgbClr val="2A78D6"/>
              </a:solidFill>
            </c:spPr>
          </c:dPt>
          <c:dPt>
            <c:idx val="5"/>
            <c:spPr>
              <a:solidFill>
                <a:srgbClr val="2A78D6"/>
              </a:solidFill>
            </c:spPr>
          </c:dPt>
          <c:cat>
            <c:strRef>
              <c:f>Sheet1!$A$2:$A$7</c:f>
              <c:strCache>
                <c:ptCount val="6"/>
                <c:pt idx="0">
                  <c:v>Artificial (4/6)</c:v>
                </c:pt>
                <c:pt idx="1">
                  <c:v>AWS (15/30)</c:v>
                </c:pt>
                <c:pt idx="2">
                  <c:v>Tweets (19/33)</c:v>
                </c:pt>
                <c:pt idx="3">
                  <c:v>Ad exchange (5/14)</c:v>
                </c:pt>
                <c:pt idx="4">
                  <c:v>Traffic (4/14)</c:v>
                </c:pt>
                <c:pt idx="5">
                  <c:v>Known cause (9/19)</c:v>
                </c:pt>
              </c:strCache>
            </c:strRef>
          </c:cat>
          <c:val>
            <c:numRef>
              <c:f>Sheet1!$B$2:$B$7</c:f>
              <c:numCache>
                <c:formatCode>General</c:formatCode>
                <c:ptCount val="6"/>
                <c:pt idx="0">
                  <c:v>0.727</c:v>
                </c:pt>
                <c:pt idx="1">
                  <c:v>0.6</c:v>
                </c:pt>
                <c:pt idx="2">
                  <c:v>0.594</c:v>
                </c:pt>
                <c:pt idx="3">
                  <c:v>0.455</c:v>
                </c:pt>
                <c:pt idx="4">
                  <c:v>0.444</c:v>
                </c:pt>
                <c:pt idx="5">
                  <c:v>0.429</c:v>
                </c:pt>
              </c:numCache>
            </c:numRef>
          </c:val>
        </c:ser>
        <c:dLbls>
          <c:numFmt formatCode="0.00" sourceLinked="0"/>
          <c:txPr>
            <a:bodyPr/>
            <a:lstStyle/>
            <a:p>
              <a:pPr>
                <a:defRPr sz="1200">
                  <a:solidFill>
                    <a:srgbClr val="0B0B0B"/>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noFill/>
          </a:ln>
        </c:spPr>
        <c:txPr>
          <a:bodyPr/>
          <a:lstStyle/>
          <a:p>
            <a:pPr>
              <a:defRPr sz="1200">
                <a:solidFill>
                  <a:srgbClr val="52514E"/>
                </a:solidFill>
              </a:defRPr>
            </a:pPr>
          </a:p>
        </c:txPr>
        <c:crossAx val="-2113994440"/>
        <c:crosses val="autoZero"/>
        <c:auto val="1"/>
        <c:lblAlgn val="ctr"/>
        <c:lblOffset val="100"/>
        <c:noMultiLvlLbl val="0"/>
      </c:catAx>
      <c:valAx>
        <c:axId val="-2113994440"/>
        <c:scaling>
          <c:max val="1.15"/>
          <c:min val="0.0"/>
        </c:scaling>
        <c:delete/>
        <c:axPos val="b"/>
        <c:majorTickMark val="out"/>
        <c:minorTickMark val="none"/>
        <c:tickLblPos val="nextTo"/>
        <c:crossAx val="-2068027336"/>
        <c:crosses val="autoZero"/>
      </c:valAx>
    </c:plotArea>
    <c:dispBlanksAs val="gap"/>
  </c:chart>
  <c:txPr>
    <a:bodyPr/>
    <a:lstStyle/>
    <a:p>
      <a:pPr>
        <a:defRPr sz="1200">
          <a:solidFill>
            <a:srgbClr val="52514E"/>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Sentinel reads a series one point at a time. For every point it gives a score, a label and, for every alert, the reason. Simple causal detectors, one calibrated scale, one state machine.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per alert is what an operator feels. The judging metric is event F1, so the design goal is: trigger once, inside the incident, early, and stay quiet on its aftermath.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category behaves differently: daily cycles, spikes, level shifts, bursts. That is why one detector is not enough and why the threshold must be calibrated per series, online.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to right is one update call. Learning pauses while an alert is open so the anomaly does not become the new normal; after a lasting shift the detectors re-baseline.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raw scores live on different scales. Calibration turns each into a p-value against its own recent normal history, so one threshold means the same on every file.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Adoption rule, fixed before the v3 runs: a candidate must beat the current system on held-out categories (θ chosen on six, scored on the seventh) and on the late half of every file (θ chosen on the early halves), and the paired bootstrap mean must be positive. Most candidates improved in-sample by 0.04–0.06 and still failed one of the two checks.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point adjustment. An alert is judged where it starts: one that starts before the window and runs into it is a false alert and the window counts as missed, exactly as NAB scores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fairest comparison is the row where a baseline gets our calibration and event logic with its threshold chosen the same way: the detectors themselves still matter.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alert record also keeps every detector's surprise at onset, the score trace, and whether the detector re-baselined afterwards (events.jsonl).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NAB: labels are imperfect, so some false positives are real events and some misses have no visible signal. The held-out number is the one to expect on new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chart" Target="../charts/char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pPr algn="l"/>
            <a:r>
              <a:rPr sz="1200" b="1" i="0">
                <a:solidFill>
                  <a:srgbClr val="8FB3E8"/>
                </a:solidFill>
                <a:latin typeface="Calibri"/>
              </a:rPr>
              <a:t>UTKRISHTA 2026  ·  CHALLENGE 2  ·  STREAMING ANOMALY DETECTION</a:t>
            </a:r>
          </a:p>
        </p:txBody>
      </p:sp>
      <p:sp>
        <p:nvSpPr>
          <p:cNvPr id="3" name="TextBox 2"/>
          <p:cNvSpPr txBox="1"/>
          <p:nvPr/>
        </p:nvSpPr>
        <p:spPr>
          <a:xfrm>
            <a:off x="548640" y="914400"/>
            <a:ext cx="8229600" cy="1005840"/>
          </a:xfrm>
          <a:prstGeom prst="rect">
            <a:avLst/>
          </a:prstGeom>
          <a:noFill/>
        </p:spPr>
        <p:txBody>
          <a:bodyPr wrap="square" anchor="t" lIns="0" rIns="0" tIns="0" bIns="0">
            <a:spAutoFit/>
          </a:bodyPr>
          <a:lstStyle/>
          <a:p>
            <a:pPr algn="l"/>
            <a:r>
              <a:rPr sz="6000" b="1" i="0">
                <a:solidFill>
                  <a:srgbClr val="FFFFFF"/>
                </a:solidFill>
                <a:latin typeface="Calibri"/>
              </a:rPr>
              <a:t>Sentinel</a:t>
            </a:r>
          </a:p>
        </p:txBody>
      </p:sp>
      <p:sp>
        <p:nvSpPr>
          <p:cNvPr id="4" name="TextBox 3"/>
          <p:cNvSpPr txBox="1"/>
          <p:nvPr/>
        </p:nvSpPr>
        <p:spPr>
          <a:xfrm>
            <a:off x="548640" y="1920240"/>
            <a:ext cx="7863840" cy="914400"/>
          </a:xfrm>
          <a:prstGeom prst="rect">
            <a:avLst/>
          </a:prstGeom>
          <a:noFill/>
        </p:spPr>
        <p:txBody>
          <a:bodyPr wrap="square" anchor="t" lIns="0" rIns="0" tIns="0" bIns="0">
            <a:spAutoFit/>
          </a:bodyPr>
          <a:lstStyle/>
          <a:p>
            <a:pPr algn="l"/>
            <a:r>
              <a:rPr sz="2200" b="0" i="0">
                <a:solidFill>
                  <a:srgbClr val="D6DBE4"/>
                </a:solidFill>
                <a:latin typeface="Calibri"/>
              </a:rPr>
              <a:t>A calibrated, explainable streaming ensemble that raises one alert per incident</a:t>
            </a:r>
          </a:p>
        </p:txBody>
      </p:sp>
      <p:sp>
        <p:nvSpPr>
          <p:cNvPr id="5" name="TextBox 4"/>
          <p:cNvSpPr txBox="1"/>
          <p:nvPr/>
        </p:nvSpPr>
        <p:spPr>
          <a:xfrm>
            <a:off x="548640" y="2971800"/>
            <a:ext cx="11064240" cy="365760"/>
          </a:xfrm>
          <a:prstGeom prst="rect">
            <a:avLst/>
          </a:prstGeom>
          <a:noFill/>
        </p:spPr>
        <p:txBody>
          <a:bodyPr wrap="square" anchor="t" lIns="0" rIns="0" tIns="0" bIns="0">
            <a:spAutoFit/>
          </a:bodyPr>
          <a:lstStyle/>
          <a:p>
            <a:pPr algn="l"/>
            <a:r>
              <a:rPr sz="1400" b="0" i="0">
                <a:solidFill>
                  <a:srgbClr val="C9D1DE"/>
                </a:solidFill>
                <a:latin typeface="Calibri"/>
              </a:rPr>
              <a:t>Team TBD  ·  Kommana Srinivasa Rao  ·  Panuganti Bhanu  ·  Vishnu Datta  ·  Kumarran Mahesh</a:t>
            </a:r>
          </a:p>
        </p:txBody>
      </p:sp>
      <p:pic>
        <p:nvPicPr>
          <p:cNvPr id="6" name="Picture 5" descr="hero.png"/>
          <p:cNvPicPr>
            <a:picLocks noChangeAspect="1"/>
          </p:cNvPicPr>
          <p:nvPr/>
        </p:nvPicPr>
        <p:blipFill>
          <a:blip r:embed="rId2"/>
          <a:stretch>
            <a:fillRect/>
          </a:stretch>
        </p:blipFill>
        <p:spPr>
          <a:xfrm>
            <a:off x="548640" y="3749039"/>
            <a:ext cx="11064240" cy="2291318"/>
          </a:xfrm>
          <a:prstGeom prst="rect">
            <a:avLst/>
          </a:prstGeom>
        </p:spPr>
      </p:pic>
      <p:sp>
        <p:nvSpPr>
          <p:cNvPr id="7" name="TextBox 6"/>
          <p:cNvSpPr txBox="1"/>
          <p:nvPr/>
        </p:nvSpPr>
        <p:spPr>
          <a:xfrm>
            <a:off x="548640" y="6108192"/>
            <a:ext cx="10972800" cy="320040"/>
          </a:xfrm>
          <a:prstGeom prst="rect">
            <a:avLst/>
          </a:prstGeom>
          <a:noFill/>
        </p:spPr>
        <p:txBody>
          <a:bodyPr wrap="square" anchor="t" lIns="0" rIns="0" tIns="0" bIns="0">
            <a:spAutoFit/>
          </a:bodyPr>
          <a:lstStyle/>
          <a:p>
            <a:pPr algn="l"/>
            <a:r>
              <a:rPr sz="1000" b="0" i="0">
                <a:solidFill>
                  <a:srgbClr val="8A94A6"/>
                </a:solidFill>
                <a:latin typeface="Calibri"/>
              </a:rPr>
              <a:t>machine_temperature_system_failure (NAB) · orange = labelled anomaly window · red line = Sentinel alert trigger · light red = open event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r>
              <a:rPr sz="3200" b="1" i="0">
                <a:solidFill>
                  <a:srgbClr val="0B0B0B"/>
                </a:solidFill>
                <a:latin typeface="Calibri"/>
              </a:rPr>
              <a:t>Monitoring needs alerts people can trust</a:t>
            </a:r>
          </a:p>
        </p:txBody>
      </p:sp>
      <p:sp>
        <p:nvSpPr>
          <p:cNvPr id="3" name="TextBox 2"/>
          <p:cNvSpPr txBox="1"/>
          <p:nvPr/>
        </p:nvSpPr>
        <p:spPr>
          <a:xfrm>
            <a:off x="548640" y="987552"/>
            <a:ext cx="11064240" cy="411480"/>
          </a:xfrm>
          <a:prstGeom prst="rect">
            <a:avLst/>
          </a:prstGeom>
          <a:noFill/>
        </p:spPr>
        <p:txBody>
          <a:bodyPr wrap="square" anchor="t" lIns="0" rIns="0" tIns="0" bIns="0">
            <a:spAutoFit/>
          </a:bodyPr>
          <a:lstStyle/>
          <a:p>
            <a:pPr algn="l"/>
            <a:r>
              <a:rPr sz="1500" b="0" i="0">
                <a:solidFill>
                  <a:srgbClr val="52514E"/>
                </a:solidFill>
                <a:latin typeface="Calibri"/>
              </a:rPr>
              <a:t>Servers, machines, traffic: a stream arrives point by point and someone has to act on each alert</a:t>
            </a:r>
          </a:p>
        </p:txBody>
      </p:sp>
      <p:sp>
        <p:nvSpPr>
          <p:cNvPr id="4" name="Oval 3"/>
          <p:cNvSpPr/>
          <p:nvPr/>
        </p:nvSpPr>
        <p:spPr>
          <a:xfrm>
            <a:off x="548640" y="1691640"/>
            <a:ext cx="566928" cy="56692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1</a:t>
            </a:r>
          </a:p>
        </p:txBody>
      </p:sp>
      <p:sp>
        <p:nvSpPr>
          <p:cNvPr id="5" name="TextBox 4"/>
          <p:cNvSpPr txBox="1"/>
          <p:nvPr/>
        </p:nvSpPr>
        <p:spPr>
          <a:xfrm>
            <a:off x="1325880" y="1645920"/>
            <a:ext cx="3931920" cy="411480"/>
          </a:xfrm>
          <a:prstGeom prst="rect">
            <a:avLst/>
          </a:prstGeom>
          <a:noFill/>
        </p:spPr>
        <p:txBody>
          <a:bodyPr wrap="square" anchor="t" lIns="0" rIns="0" tIns="0" bIns="0">
            <a:spAutoFit/>
          </a:bodyPr>
          <a:lstStyle/>
          <a:p>
            <a:pPr algn="l"/>
            <a:r>
              <a:rPr sz="2000" b="1" i="0">
                <a:solidFill>
                  <a:srgbClr val="0B0B0B"/>
                </a:solidFill>
                <a:latin typeface="Calibri"/>
              </a:rPr>
              <a:t>Decide now, from the past only</a:t>
            </a:r>
          </a:p>
        </p:txBody>
      </p:sp>
      <p:sp>
        <p:nvSpPr>
          <p:cNvPr id="6" name="TextBox 5"/>
          <p:cNvSpPr txBox="1"/>
          <p:nvPr/>
        </p:nvSpPr>
        <p:spPr>
          <a:xfrm>
            <a:off x="1325880" y="2075688"/>
            <a:ext cx="3931920" cy="822960"/>
          </a:xfrm>
          <a:prstGeom prst="rect">
            <a:avLst/>
          </a:prstGeom>
          <a:noFill/>
        </p:spPr>
        <p:txBody>
          <a:bodyPr wrap="square" anchor="t" lIns="0" rIns="0" tIns="0" bIns="0">
            <a:spAutoFit/>
          </a:bodyPr>
          <a:lstStyle/>
          <a:p>
            <a:pPr algn="l"/>
            <a:r>
              <a:rPr sz="1400" b="0" i="0">
                <a:solidFill>
                  <a:srgbClr val="52514E"/>
                </a:solidFill>
                <a:latin typeface="Calibri"/>
              </a:rPr>
              <a:t>The output at time t may use data up to t. No look-ahead, no second pass.</a:t>
            </a:r>
          </a:p>
        </p:txBody>
      </p:sp>
      <p:sp>
        <p:nvSpPr>
          <p:cNvPr id="7" name="Oval 6"/>
          <p:cNvSpPr/>
          <p:nvPr/>
        </p:nvSpPr>
        <p:spPr>
          <a:xfrm>
            <a:off x="548640" y="3108960"/>
            <a:ext cx="566928" cy="56692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2</a:t>
            </a:r>
          </a:p>
        </p:txBody>
      </p:sp>
      <p:sp>
        <p:nvSpPr>
          <p:cNvPr id="8" name="TextBox 7"/>
          <p:cNvSpPr txBox="1"/>
          <p:nvPr/>
        </p:nvSpPr>
        <p:spPr>
          <a:xfrm>
            <a:off x="1325880" y="3063240"/>
            <a:ext cx="3931920" cy="411480"/>
          </a:xfrm>
          <a:prstGeom prst="rect">
            <a:avLst/>
          </a:prstGeom>
          <a:noFill/>
        </p:spPr>
        <p:txBody>
          <a:bodyPr wrap="square" anchor="t" lIns="0" rIns="0" tIns="0" bIns="0">
            <a:spAutoFit/>
          </a:bodyPr>
          <a:lstStyle/>
          <a:p>
            <a:pPr algn="l"/>
            <a:r>
              <a:rPr sz="2000" b="1" i="0">
                <a:solidFill>
                  <a:srgbClr val="0B0B0B"/>
                </a:solidFill>
                <a:latin typeface="Calibri"/>
              </a:rPr>
              <a:t>One alert per incident</a:t>
            </a:r>
          </a:p>
        </p:txBody>
      </p:sp>
      <p:sp>
        <p:nvSpPr>
          <p:cNvPr id="9" name="TextBox 8"/>
          <p:cNvSpPr txBox="1"/>
          <p:nvPr/>
        </p:nvSpPr>
        <p:spPr>
          <a:xfrm>
            <a:off x="1325880" y="3493008"/>
            <a:ext cx="3931920" cy="822960"/>
          </a:xfrm>
          <a:prstGeom prst="rect">
            <a:avLst/>
          </a:prstGeom>
          <a:noFill/>
        </p:spPr>
        <p:txBody>
          <a:bodyPr wrap="square" anchor="t" lIns="0" rIns="0" tIns="0" bIns="0">
            <a:spAutoFit/>
          </a:bodyPr>
          <a:lstStyle/>
          <a:p>
            <a:pPr algn="l"/>
            <a:r>
              <a:rPr sz="1400" b="0" i="0">
                <a:solidFill>
                  <a:srgbClr val="52514E"/>
                </a:solidFill>
                <a:latin typeface="Calibri"/>
              </a:rPr>
              <a:t>Repeated and false alerts cause alert fatigue; real incidents then get ignored.</a:t>
            </a:r>
          </a:p>
        </p:txBody>
      </p:sp>
      <p:sp>
        <p:nvSpPr>
          <p:cNvPr id="10" name="Oval 9"/>
          <p:cNvSpPr/>
          <p:nvPr/>
        </p:nvSpPr>
        <p:spPr>
          <a:xfrm>
            <a:off x="548640" y="4526280"/>
            <a:ext cx="566928" cy="56692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3</a:t>
            </a:r>
          </a:p>
        </p:txBody>
      </p:sp>
      <p:sp>
        <p:nvSpPr>
          <p:cNvPr id="11" name="TextBox 10"/>
          <p:cNvSpPr txBox="1"/>
          <p:nvPr/>
        </p:nvSpPr>
        <p:spPr>
          <a:xfrm>
            <a:off x="1325880" y="4480560"/>
            <a:ext cx="3931920" cy="411480"/>
          </a:xfrm>
          <a:prstGeom prst="rect">
            <a:avLst/>
          </a:prstGeom>
          <a:noFill/>
        </p:spPr>
        <p:txBody>
          <a:bodyPr wrap="square" anchor="t" lIns="0" rIns="0" tIns="0" bIns="0">
            <a:spAutoFit/>
          </a:bodyPr>
          <a:lstStyle/>
          <a:p>
            <a:pPr algn="l"/>
            <a:r>
              <a:rPr sz="2000" b="1" i="0">
                <a:solidFill>
                  <a:srgbClr val="0B0B0B"/>
                </a:solidFill>
                <a:latin typeface="Calibri"/>
              </a:rPr>
              <a:t>Say why</a:t>
            </a:r>
          </a:p>
        </p:txBody>
      </p:sp>
      <p:sp>
        <p:nvSpPr>
          <p:cNvPr id="12" name="TextBox 11"/>
          <p:cNvSpPr txBox="1"/>
          <p:nvPr/>
        </p:nvSpPr>
        <p:spPr>
          <a:xfrm>
            <a:off x="1325880" y="4910328"/>
            <a:ext cx="3931920" cy="822960"/>
          </a:xfrm>
          <a:prstGeom prst="rect">
            <a:avLst/>
          </a:prstGeom>
          <a:noFill/>
        </p:spPr>
        <p:txBody>
          <a:bodyPr wrap="square" anchor="t" lIns="0" rIns="0" tIns="0" bIns="0">
            <a:spAutoFit/>
          </a:bodyPr>
          <a:lstStyle/>
          <a:p>
            <a:pPr algn="l"/>
            <a:r>
              <a:rPr sz="1400" b="0" i="0">
                <a:solidFill>
                  <a:srgbClr val="52514E"/>
                </a:solidFill>
                <a:latin typeface="Calibri"/>
              </a:rPr>
              <a:t>Each alert carries evidence a person can check: observed vs expected, shift, odd shape.</a:t>
            </a:r>
          </a:p>
        </p:txBody>
      </p:sp>
      <p:pic>
        <p:nvPicPr>
          <p:cNvPr id="13" name="Picture 12" descr="alert_storm.png"/>
          <p:cNvPicPr>
            <a:picLocks noChangeAspect="1"/>
          </p:cNvPicPr>
          <p:nvPr/>
        </p:nvPicPr>
        <p:blipFill>
          <a:blip r:embed="rId2"/>
          <a:stretch>
            <a:fillRect/>
          </a:stretch>
        </p:blipFill>
        <p:spPr>
          <a:xfrm>
            <a:off x="5486400" y="1600200"/>
            <a:ext cx="6172200" cy="2582606"/>
          </a:xfrm>
          <a:prstGeom prst="rect">
            <a:avLst/>
          </a:prstGeom>
        </p:spPr>
      </p:pic>
      <p:sp>
        <p:nvSpPr>
          <p:cNvPr id="14" name="TextBox 13"/>
          <p:cNvSpPr txBox="1"/>
          <p:nvPr/>
        </p:nvSpPr>
        <p:spPr>
          <a:xfrm>
            <a:off x="5486400" y="4251960"/>
            <a:ext cx="6172200" cy="640080"/>
          </a:xfrm>
          <a:prstGeom prst="rect">
            <a:avLst/>
          </a:prstGeom>
          <a:noFill/>
        </p:spPr>
        <p:txBody>
          <a:bodyPr wrap="square" anchor="t" lIns="0" rIns="0" tIns="0" bIns="0">
            <a:spAutoFit/>
          </a:bodyPr>
          <a:lstStyle/>
          <a:p>
            <a:pPr algn="l"/>
            <a:r>
              <a:rPr sz="1300" b="0" i="0">
                <a:solidFill>
                  <a:srgbClr val="52514E"/>
                </a:solidFill>
                <a:latin typeface="Calibri"/>
              </a:rPr>
              <a:t>Same series, same labelled window. A plain threshold fires again and again; Sentinel alerts inside the window and stays quiet afterwards.</a:t>
            </a:r>
          </a:p>
        </p:txBody>
      </p:sp>
      <p:sp>
        <p:nvSpPr>
          <p:cNvPr id="15" name="Rounded Rectangle 14"/>
          <p:cNvSpPr/>
          <p:nvPr/>
        </p:nvSpPr>
        <p:spPr>
          <a:xfrm>
            <a:off x="5486400" y="4983480"/>
            <a:ext cx="2971800" cy="1234440"/>
          </a:xfrm>
          <a:prstGeom prst="roundRect">
            <a:avLst>
              <a:gd name="adj" fmla="val 8000"/>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0" y="5093208"/>
            <a:ext cx="2606040" cy="685800"/>
          </a:xfrm>
          <a:prstGeom prst="rect">
            <a:avLst/>
          </a:prstGeom>
          <a:noFill/>
        </p:spPr>
        <p:txBody>
          <a:bodyPr wrap="square" anchor="t" lIns="0" rIns="0" tIns="0" bIns="0">
            <a:spAutoFit/>
          </a:bodyPr>
          <a:lstStyle/>
          <a:p>
            <a:pPr algn="l"/>
            <a:r>
              <a:rPr sz="3400" b="1" i="0">
                <a:solidFill>
                  <a:srgbClr val="52514E"/>
                </a:solidFill>
                <a:latin typeface="Calibri"/>
              </a:rPr>
              <a:t>34 alerts</a:t>
            </a:r>
          </a:p>
        </p:txBody>
      </p:sp>
      <p:sp>
        <p:nvSpPr>
          <p:cNvPr id="17" name="TextBox 16"/>
          <p:cNvSpPr txBox="1"/>
          <p:nvPr/>
        </p:nvSpPr>
        <p:spPr>
          <a:xfrm>
            <a:off x="5669280" y="5733288"/>
            <a:ext cx="2606040" cy="411480"/>
          </a:xfrm>
          <a:prstGeom prst="rect">
            <a:avLst/>
          </a:prstGeom>
          <a:noFill/>
        </p:spPr>
        <p:txBody>
          <a:bodyPr wrap="square" anchor="t" lIns="0" rIns="0" tIns="0" bIns="0">
            <a:spAutoFit/>
          </a:bodyPr>
          <a:lstStyle/>
          <a:p>
            <a:pPr algn="l"/>
            <a:r>
              <a:rPr sz="1200" b="0" i="0">
                <a:solidFill>
                  <a:srgbClr val="52514E"/>
                </a:solidFill>
                <a:latin typeface="Calibri"/>
              </a:rPr>
              <a:t>plain rolling z-score, 28 outside the window</a:t>
            </a:r>
          </a:p>
        </p:txBody>
      </p:sp>
      <p:sp>
        <p:nvSpPr>
          <p:cNvPr id="18" name="Rounded Rectangle 17"/>
          <p:cNvSpPr/>
          <p:nvPr/>
        </p:nvSpPr>
        <p:spPr>
          <a:xfrm>
            <a:off x="8686800" y="4983480"/>
            <a:ext cx="2971800" cy="1234440"/>
          </a:xfrm>
          <a:prstGeom prst="roundRect">
            <a:avLst>
              <a:gd name="adj" fmla="val 8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69680" y="5093208"/>
            <a:ext cx="2606040" cy="685800"/>
          </a:xfrm>
          <a:prstGeom prst="rect">
            <a:avLst/>
          </a:prstGeom>
          <a:noFill/>
        </p:spPr>
        <p:txBody>
          <a:bodyPr wrap="square" anchor="t" lIns="0" rIns="0" tIns="0" bIns="0">
            <a:spAutoFit/>
          </a:bodyPr>
          <a:lstStyle/>
          <a:p>
            <a:pPr algn="l"/>
            <a:r>
              <a:rPr sz="3400" b="1" i="0">
                <a:solidFill>
                  <a:srgbClr val="2A78D6"/>
                </a:solidFill>
                <a:latin typeface="Calibri"/>
              </a:rPr>
              <a:t>1 alert</a:t>
            </a:r>
          </a:p>
        </p:txBody>
      </p:sp>
      <p:sp>
        <p:nvSpPr>
          <p:cNvPr id="20" name="TextBox 19"/>
          <p:cNvSpPr txBox="1"/>
          <p:nvPr/>
        </p:nvSpPr>
        <p:spPr>
          <a:xfrm>
            <a:off x="8869680" y="5733288"/>
            <a:ext cx="2606040" cy="411480"/>
          </a:xfrm>
          <a:prstGeom prst="rect">
            <a:avLst/>
          </a:prstGeom>
          <a:noFill/>
        </p:spPr>
        <p:txBody>
          <a:bodyPr wrap="square" anchor="t" lIns="0" rIns="0" tIns="0" bIns="0">
            <a:spAutoFit/>
          </a:bodyPr>
          <a:lstStyle/>
          <a:p>
            <a:pPr algn="l"/>
            <a:r>
              <a:rPr sz="1200" b="0" i="0">
                <a:solidFill>
                  <a:srgbClr val="52514E"/>
                </a:solidFill>
                <a:latin typeface="Calibri"/>
              </a:rPr>
              <a:t>Sentinel, 1 triggered inside the window</a:t>
            </a:r>
          </a:p>
        </p:txBody>
      </p:sp>
      <p:sp>
        <p:nvSpPr>
          <p:cNvPr id="21" name="TextBox 20"/>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98781"/>
                </a:solidFill>
                <a:latin typeface="Calibri"/>
              </a:rPr>
              <a:t>Sentinel  ·  Utkrishta 2026  ·  Challenge 2</a:t>
            </a:r>
          </a:p>
        </p:txBody>
      </p:sp>
      <p:sp>
        <p:nvSpPr>
          <p:cNvPr id="22" name="TextBox 21"/>
          <p:cNvSpPr txBox="1"/>
          <p:nvPr/>
        </p:nvSpPr>
        <p:spPr>
          <a:xfrm>
            <a:off x="10725912" y="6446520"/>
            <a:ext cx="914400" cy="274320"/>
          </a:xfrm>
          <a:prstGeom prst="rect">
            <a:avLst/>
          </a:prstGeom>
          <a:noFill/>
        </p:spPr>
        <p:txBody>
          <a:bodyPr wrap="square" anchor="t" lIns="0" rIns="0" tIns="0" bIns="0">
            <a:spAutoFit/>
          </a:bodyPr>
          <a:lstStyle/>
          <a:p>
            <a:pPr algn="r"/>
            <a:r>
              <a:rPr sz="1000" b="0" i="0">
                <a:solidFill>
                  <a:srgbClr val="898781"/>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r>
              <a:rPr sz="3200" b="1" i="0">
                <a:solidFill>
                  <a:srgbClr val="0B0B0B"/>
                </a:solidFill>
                <a:latin typeface="Calibri"/>
              </a:rPr>
              <a:t>NAB: 58 series, 116 labelled anomaly windows</a:t>
            </a:r>
          </a:p>
        </p:txBody>
      </p:sp>
      <p:sp>
        <p:nvSpPr>
          <p:cNvPr id="3" name="TextBox 2"/>
          <p:cNvSpPr txBox="1"/>
          <p:nvPr/>
        </p:nvSpPr>
        <p:spPr>
          <a:xfrm>
            <a:off x="548640" y="987552"/>
            <a:ext cx="11064240" cy="411480"/>
          </a:xfrm>
          <a:prstGeom prst="rect">
            <a:avLst/>
          </a:prstGeom>
          <a:noFill/>
        </p:spPr>
        <p:txBody>
          <a:bodyPr wrap="square" anchor="t" lIns="0" rIns="0" tIns="0" bIns="0">
            <a:spAutoFit/>
          </a:bodyPr>
          <a:lstStyle/>
          <a:p>
            <a:pPr algn="l"/>
            <a:r>
              <a:rPr sz="1500" b="0" i="0">
                <a:solidFill>
                  <a:srgbClr val="52514E"/>
                </a:solidFill>
                <a:latin typeface="Calibri"/>
              </a:rPr>
              <a:t>7 categories of real and synthetic metrics; windows ≈ 10% of each file, centred on the labelled point</a:t>
            </a:r>
          </a:p>
        </p:txBody>
      </p:sp>
      <p:graphicFrame>
        <p:nvGraphicFramePr>
          <p:cNvPr id="4" name="Table 3"/>
          <p:cNvGraphicFramePr>
            <a:graphicFrameLocks noGrp="1"/>
          </p:cNvGraphicFramePr>
          <p:nvPr/>
        </p:nvGraphicFramePr>
        <p:xfrm>
          <a:off x="548640" y="1600200"/>
          <a:ext cx="5486400" cy="2798064"/>
        </p:xfrm>
        <a:graphic>
          <a:graphicData uri="http://schemas.openxmlformats.org/drawingml/2006/table">
            <a:tbl>
              <a:tblPr firstRow="1" bandRow="1">
                <a:tableStyleId>{5C22544A-7EE6-4342-B048-85BDC9FD1C3A}</a:tableStyleId>
              </a:tblPr>
              <a:tblGrid>
                <a:gridCol w="2103120"/>
                <a:gridCol w="640080"/>
                <a:gridCol w="960120"/>
                <a:gridCol w="868680"/>
                <a:gridCol w="914400"/>
              </a:tblGrid>
              <a:tr h="310896">
                <a:tc>
                  <a:txBody>
                    <a:bodyPr/>
                    <a:lstStyle/>
                    <a:p>
                      <a:pPr algn="l"/>
                      <a:r>
                        <a:rPr sz="1200" b="1">
                          <a:solidFill>
                            <a:srgbClr val="FFFFFF"/>
                          </a:solidFill>
                          <a:latin typeface="Calibri"/>
                        </a:rPr>
                        <a:t>Category</a:t>
                      </a:r>
                    </a:p>
                  </a:txBody>
                  <a:tcPr marL="73152" marR="73152" marT="27432" marB="27432" anchor="ctr">
                    <a:solidFill>
                      <a:srgbClr val="0F1B2D"/>
                    </a:solidFill>
                  </a:tcPr>
                </a:tc>
                <a:tc>
                  <a:txBody>
                    <a:bodyPr/>
                    <a:lstStyle/>
                    <a:p>
                      <a:pPr algn="r"/>
                      <a:r>
                        <a:rPr sz="1200" b="1">
                          <a:solidFill>
                            <a:srgbClr val="FFFFFF"/>
                          </a:solidFill>
                          <a:latin typeface="Calibri"/>
                        </a:rPr>
                        <a:t>Files</a:t>
                      </a:r>
                    </a:p>
                  </a:txBody>
                  <a:tcPr marL="73152" marR="73152" marT="27432" marB="27432" anchor="ctr">
                    <a:solidFill>
                      <a:srgbClr val="0F1B2D"/>
                    </a:solidFill>
                  </a:tcPr>
                </a:tc>
                <a:tc>
                  <a:txBody>
                    <a:bodyPr/>
                    <a:lstStyle/>
                    <a:p>
                      <a:pPr algn="r"/>
                      <a:r>
                        <a:rPr sz="1200" b="1">
                          <a:solidFill>
                            <a:srgbClr val="FFFFFF"/>
                          </a:solidFill>
                          <a:latin typeface="Calibri"/>
                        </a:rPr>
                        <a:t>Points</a:t>
                      </a:r>
                    </a:p>
                  </a:txBody>
                  <a:tcPr marL="73152" marR="73152" marT="27432" marB="27432" anchor="ctr">
                    <a:solidFill>
                      <a:srgbClr val="0F1B2D"/>
                    </a:solidFill>
                  </a:tcPr>
                </a:tc>
                <a:tc>
                  <a:txBody>
                    <a:bodyPr/>
                    <a:lstStyle/>
                    <a:p>
                      <a:pPr algn="r"/>
                      <a:r>
                        <a:rPr sz="1200" b="1">
                          <a:solidFill>
                            <a:srgbClr val="FFFFFF"/>
                          </a:solidFill>
                          <a:latin typeface="Calibri"/>
                        </a:rPr>
                        <a:t>Windows</a:t>
                      </a:r>
                    </a:p>
                  </a:txBody>
                  <a:tcPr marL="73152" marR="73152" marT="27432" marB="27432" anchor="ctr">
                    <a:solidFill>
                      <a:srgbClr val="0F1B2D"/>
                    </a:solidFill>
                  </a:tcPr>
                </a:tc>
                <a:tc>
                  <a:txBody>
                    <a:bodyPr/>
                    <a:lstStyle/>
                    <a:p>
                      <a:pPr algn="r"/>
                      <a:r>
                        <a:rPr sz="1200" b="1">
                          <a:solidFill>
                            <a:srgbClr val="FFFFFF"/>
                          </a:solidFill>
                          <a:latin typeface="Calibri"/>
                        </a:rPr>
                        <a:t>Seasonal</a:t>
                      </a:r>
                    </a:p>
                  </a:txBody>
                  <a:tcPr marL="73152" marR="73152" marT="27432" marB="27432" anchor="ctr">
                    <a:solidFill>
                      <a:srgbClr val="0F1B2D"/>
                    </a:solidFill>
                  </a:tcPr>
                </a:tc>
              </a:tr>
              <a:tr h="310896">
                <a:tc>
                  <a:txBody>
                    <a:bodyPr/>
                    <a:lstStyle/>
                    <a:p>
                      <a:pPr algn="l"/>
                      <a:r>
                        <a:rPr sz="1200">
                          <a:solidFill>
                            <a:srgbClr val="52514E"/>
                          </a:solidFill>
                          <a:latin typeface="Calibri"/>
                        </a:rPr>
                        <a:t>Artificial, no anomaly</a:t>
                      </a:r>
                    </a:p>
                  </a:txBody>
                  <a:tcPr marL="73152" marR="73152" marT="27432" marB="27432" anchor="ctr">
                    <a:solidFill>
                      <a:srgbClr val="FFFFFF"/>
                    </a:solidFill>
                  </a:tcPr>
                </a:tc>
                <a:tc>
                  <a:txBody>
                    <a:bodyPr/>
                    <a:lstStyle/>
                    <a:p>
                      <a:pPr algn="r"/>
                      <a:r>
                        <a:rPr sz="1200">
                          <a:solidFill>
                            <a:srgbClr val="52514E"/>
                          </a:solidFill>
                          <a:latin typeface="Calibri"/>
                        </a:rPr>
                        <a:t>5</a:t>
                      </a:r>
                    </a:p>
                  </a:txBody>
                  <a:tcPr marL="73152" marR="73152" marT="27432" marB="27432" anchor="ctr">
                    <a:solidFill>
                      <a:srgbClr val="FFFFFF"/>
                    </a:solidFill>
                  </a:tcPr>
                </a:tc>
                <a:tc>
                  <a:txBody>
                    <a:bodyPr/>
                    <a:lstStyle/>
                    <a:p>
                      <a:pPr algn="r"/>
                      <a:r>
                        <a:rPr sz="1200">
                          <a:solidFill>
                            <a:srgbClr val="52514E"/>
                          </a:solidFill>
                          <a:latin typeface="Calibri"/>
                        </a:rPr>
                        <a:t>20,160</a:t>
                      </a:r>
                    </a:p>
                  </a:txBody>
                  <a:tcPr marL="73152" marR="73152" marT="27432" marB="27432" anchor="ctr">
                    <a:solidFill>
                      <a:srgbClr val="FFFFFF"/>
                    </a:solidFill>
                  </a:tcPr>
                </a:tc>
                <a:tc>
                  <a:txBody>
                    <a:bodyPr/>
                    <a:lstStyle/>
                    <a:p>
                      <a:pPr algn="r"/>
                      <a:r>
                        <a:rPr sz="1200">
                          <a:solidFill>
                            <a:srgbClr val="52514E"/>
                          </a:solidFill>
                          <a:latin typeface="Calibri"/>
                        </a:rPr>
                        <a:t>0</a:t>
                      </a:r>
                    </a:p>
                  </a:txBody>
                  <a:tcPr marL="73152" marR="73152" marT="27432" marB="27432" anchor="ctr">
                    <a:solidFill>
                      <a:srgbClr val="FFFFFF"/>
                    </a:solidFill>
                  </a:tcPr>
                </a:tc>
                <a:tc>
                  <a:txBody>
                    <a:bodyPr/>
                    <a:lstStyle/>
                    <a:p>
                      <a:pPr algn="r"/>
                      <a:r>
                        <a:rPr sz="1200">
                          <a:solidFill>
                            <a:srgbClr val="52514E"/>
                          </a:solidFill>
                          <a:latin typeface="Calibri"/>
                        </a:rPr>
                        <a:t>3</a:t>
                      </a:r>
                    </a:p>
                  </a:txBody>
                  <a:tcPr marL="73152" marR="73152" marT="27432" marB="27432" anchor="ctr">
                    <a:solidFill>
                      <a:srgbClr val="FFFFFF"/>
                    </a:solidFill>
                  </a:tcPr>
                </a:tc>
              </a:tr>
              <a:tr h="310896">
                <a:tc>
                  <a:txBody>
                    <a:bodyPr/>
                    <a:lstStyle/>
                    <a:p>
                      <a:pPr algn="l"/>
                      <a:r>
                        <a:rPr sz="1200">
                          <a:solidFill>
                            <a:srgbClr val="52514E"/>
                          </a:solidFill>
                          <a:latin typeface="Calibri"/>
                        </a:rPr>
                        <a:t>Artificial, with anomaly</a:t>
                      </a:r>
                    </a:p>
                  </a:txBody>
                  <a:tcPr marL="73152" marR="73152" marT="27432" marB="27432" anchor="ctr">
                    <a:solidFill>
                      <a:srgbClr val="F7F7F5"/>
                    </a:solidFill>
                  </a:tcPr>
                </a:tc>
                <a:tc>
                  <a:txBody>
                    <a:bodyPr/>
                    <a:lstStyle/>
                    <a:p>
                      <a:pPr algn="r"/>
                      <a:r>
                        <a:rPr sz="1200">
                          <a:solidFill>
                            <a:srgbClr val="52514E"/>
                          </a:solidFill>
                          <a:latin typeface="Calibri"/>
                        </a:rPr>
                        <a:t>6</a:t>
                      </a:r>
                    </a:p>
                  </a:txBody>
                  <a:tcPr marL="73152" marR="73152" marT="27432" marB="27432" anchor="ctr">
                    <a:solidFill>
                      <a:srgbClr val="F7F7F5"/>
                    </a:solidFill>
                  </a:tcPr>
                </a:tc>
                <a:tc>
                  <a:txBody>
                    <a:bodyPr/>
                    <a:lstStyle/>
                    <a:p>
                      <a:pPr algn="r"/>
                      <a:r>
                        <a:rPr sz="1200">
                          <a:solidFill>
                            <a:srgbClr val="52514E"/>
                          </a:solidFill>
                          <a:latin typeface="Calibri"/>
                        </a:rPr>
                        <a:t>24,192</a:t>
                      </a:r>
                    </a:p>
                  </a:txBody>
                  <a:tcPr marL="73152" marR="73152" marT="27432" marB="27432" anchor="ctr">
                    <a:solidFill>
                      <a:srgbClr val="F7F7F5"/>
                    </a:solidFill>
                  </a:tcPr>
                </a:tc>
                <a:tc>
                  <a:txBody>
                    <a:bodyPr/>
                    <a:lstStyle/>
                    <a:p>
                      <a:pPr algn="r"/>
                      <a:r>
                        <a:rPr sz="1200">
                          <a:solidFill>
                            <a:srgbClr val="52514E"/>
                          </a:solidFill>
                          <a:latin typeface="Calibri"/>
                        </a:rPr>
                        <a:t>6</a:t>
                      </a:r>
                    </a:p>
                  </a:txBody>
                  <a:tcPr marL="73152" marR="73152" marT="27432" marB="27432" anchor="ctr">
                    <a:solidFill>
                      <a:srgbClr val="F7F7F5"/>
                    </a:solidFill>
                  </a:tcPr>
                </a:tc>
                <a:tc>
                  <a:txBody>
                    <a:bodyPr/>
                    <a:lstStyle/>
                    <a:p>
                      <a:pPr algn="r"/>
                      <a:r>
                        <a:rPr sz="1200">
                          <a:solidFill>
                            <a:srgbClr val="52514E"/>
                          </a:solidFill>
                          <a:latin typeface="Calibri"/>
                        </a:rPr>
                        <a:t>4</a:t>
                      </a:r>
                    </a:p>
                  </a:txBody>
                  <a:tcPr marL="73152" marR="73152" marT="27432" marB="27432" anchor="ctr">
                    <a:solidFill>
                      <a:srgbClr val="F7F7F5"/>
                    </a:solidFill>
                  </a:tcPr>
                </a:tc>
              </a:tr>
              <a:tr h="310896">
                <a:tc>
                  <a:txBody>
                    <a:bodyPr/>
                    <a:lstStyle/>
                    <a:p>
                      <a:pPr algn="l"/>
                      <a:r>
                        <a:rPr sz="1200">
                          <a:solidFill>
                            <a:srgbClr val="52514E"/>
                          </a:solidFill>
                          <a:latin typeface="Calibri"/>
                        </a:rPr>
                        <a:t>AWS CloudWatch</a:t>
                      </a:r>
                    </a:p>
                  </a:txBody>
                  <a:tcPr marL="73152" marR="73152" marT="27432" marB="27432" anchor="ctr">
                    <a:solidFill>
                      <a:srgbClr val="FFFFFF"/>
                    </a:solidFill>
                  </a:tcPr>
                </a:tc>
                <a:tc>
                  <a:txBody>
                    <a:bodyPr/>
                    <a:lstStyle/>
                    <a:p>
                      <a:pPr algn="r"/>
                      <a:r>
                        <a:rPr sz="1200">
                          <a:solidFill>
                            <a:srgbClr val="52514E"/>
                          </a:solidFill>
                          <a:latin typeface="Calibri"/>
                        </a:rPr>
                        <a:t>17</a:t>
                      </a:r>
                    </a:p>
                  </a:txBody>
                  <a:tcPr marL="73152" marR="73152" marT="27432" marB="27432" anchor="ctr">
                    <a:solidFill>
                      <a:srgbClr val="FFFFFF"/>
                    </a:solidFill>
                  </a:tcPr>
                </a:tc>
                <a:tc>
                  <a:txBody>
                    <a:bodyPr/>
                    <a:lstStyle/>
                    <a:p>
                      <a:pPr algn="r"/>
                      <a:r>
                        <a:rPr sz="1200">
                          <a:solidFill>
                            <a:srgbClr val="52514E"/>
                          </a:solidFill>
                          <a:latin typeface="Calibri"/>
                        </a:rPr>
                        <a:t>67,740</a:t>
                      </a:r>
                    </a:p>
                  </a:txBody>
                  <a:tcPr marL="73152" marR="73152" marT="27432" marB="27432" anchor="ctr">
                    <a:solidFill>
                      <a:srgbClr val="FFFFFF"/>
                    </a:solidFill>
                  </a:tcPr>
                </a:tc>
                <a:tc>
                  <a:txBody>
                    <a:bodyPr/>
                    <a:lstStyle/>
                    <a:p>
                      <a:pPr algn="r"/>
                      <a:r>
                        <a:rPr sz="1200">
                          <a:solidFill>
                            <a:srgbClr val="52514E"/>
                          </a:solidFill>
                          <a:latin typeface="Calibri"/>
                        </a:rPr>
                        <a:t>30</a:t>
                      </a:r>
                    </a:p>
                  </a:txBody>
                  <a:tcPr marL="73152" marR="73152" marT="27432" marB="27432" anchor="ctr">
                    <a:solidFill>
                      <a:srgbClr val="FFFFFF"/>
                    </a:solidFill>
                  </a:tcPr>
                </a:tc>
                <a:tc>
                  <a:txBody>
                    <a:bodyPr/>
                    <a:lstStyle/>
                    <a:p>
                      <a:pPr algn="r"/>
                      <a:r>
                        <a:rPr sz="1200">
                          <a:solidFill>
                            <a:srgbClr val="52514E"/>
                          </a:solidFill>
                          <a:latin typeface="Calibri"/>
                        </a:rPr>
                        <a:t>3</a:t>
                      </a:r>
                    </a:p>
                  </a:txBody>
                  <a:tcPr marL="73152" marR="73152" marT="27432" marB="27432" anchor="ctr">
                    <a:solidFill>
                      <a:srgbClr val="FFFFFF"/>
                    </a:solidFill>
                  </a:tcPr>
                </a:tc>
              </a:tr>
              <a:tr h="310896">
                <a:tc>
                  <a:txBody>
                    <a:bodyPr/>
                    <a:lstStyle/>
                    <a:p>
                      <a:pPr algn="l"/>
                      <a:r>
                        <a:rPr sz="1200">
                          <a:solidFill>
                            <a:srgbClr val="52514E"/>
                          </a:solidFill>
                          <a:latin typeface="Calibri"/>
                        </a:rPr>
                        <a:t>Ad exchange</a:t>
                      </a:r>
                    </a:p>
                  </a:txBody>
                  <a:tcPr marL="73152" marR="73152" marT="27432" marB="27432" anchor="ctr">
                    <a:solidFill>
                      <a:srgbClr val="F7F7F5"/>
                    </a:solidFill>
                  </a:tcPr>
                </a:tc>
                <a:tc>
                  <a:txBody>
                    <a:bodyPr/>
                    <a:lstStyle/>
                    <a:p>
                      <a:pPr algn="r"/>
                      <a:r>
                        <a:rPr sz="1200">
                          <a:solidFill>
                            <a:srgbClr val="52514E"/>
                          </a:solidFill>
                          <a:latin typeface="Calibri"/>
                        </a:rPr>
                        <a:t>6</a:t>
                      </a:r>
                    </a:p>
                  </a:txBody>
                  <a:tcPr marL="73152" marR="73152" marT="27432" marB="27432" anchor="ctr">
                    <a:solidFill>
                      <a:srgbClr val="F7F7F5"/>
                    </a:solidFill>
                  </a:tcPr>
                </a:tc>
                <a:tc>
                  <a:txBody>
                    <a:bodyPr/>
                    <a:lstStyle/>
                    <a:p>
                      <a:pPr algn="r"/>
                      <a:r>
                        <a:rPr sz="1200">
                          <a:solidFill>
                            <a:srgbClr val="52514E"/>
                          </a:solidFill>
                          <a:latin typeface="Calibri"/>
                        </a:rPr>
                        <a:t>9,610</a:t>
                      </a:r>
                    </a:p>
                  </a:txBody>
                  <a:tcPr marL="73152" marR="73152" marT="27432" marB="27432" anchor="ctr">
                    <a:solidFill>
                      <a:srgbClr val="F7F7F5"/>
                    </a:solidFill>
                  </a:tcPr>
                </a:tc>
                <a:tc>
                  <a:txBody>
                    <a:bodyPr/>
                    <a:lstStyle/>
                    <a:p>
                      <a:pPr algn="r"/>
                      <a:r>
                        <a:rPr sz="1200">
                          <a:solidFill>
                            <a:srgbClr val="52514E"/>
                          </a:solidFill>
                          <a:latin typeface="Calibri"/>
                        </a:rPr>
                        <a:t>14</a:t>
                      </a:r>
                    </a:p>
                  </a:txBody>
                  <a:tcPr marL="73152" marR="73152" marT="27432" marB="27432" anchor="ctr">
                    <a:solidFill>
                      <a:srgbClr val="F7F7F5"/>
                    </a:solidFill>
                  </a:tcPr>
                </a:tc>
                <a:tc>
                  <a:txBody>
                    <a:bodyPr/>
                    <a:lstStyle/>
                    <a:p>
                      <a:pPr algn="r"/>
                      <a:r>
                        <a:rPr sz="1200">
                          <a:solidFill>
                            <a:srgbClr val="52514E"/>
                          </a:solidFill>
                          <a:latin typeface="Calibri"/>
                        </a:rPr>
                        <a:t>6</a:t>
                      </a:r>
                    </a:p>
                  </a:txBody>
                  <a:tcPr marL="73152" marR="73152" marT="27432" marB="27432" anchor="ctr">
                    <a:solidFill>
                      <a:srgbClr val="F7F7F5"/>
                    </a:solidFill>
                  </a:tcPr>
                </a:tc>
              </a:tr>
              <a:tr h="310896">
                <a:tc>
                  <a:txBody>
                    <a:bodyPr/>
                    <a:lstStyle/>
                    <a:p>
                      <a:pPr algn="l"/>
                      <a:r>
                        <a:rPr sz="1200">
                          <a:solidFill>
                            <a:srgbClr val="52514E"/>
                          </a:solidFill>
                          <a:latin typeface="Calibri"/>
                        </a:rPr>
                        <a:t>Known cause</a:t>
                      </a:r>
                    </a:p>
                  </a:txBody>
                  <a:tcPr marL="73152" marR="73152" marT="27432" marB="27432" anchor="ctr">
                    <a:solidFill>
                      <a:srgbClr val="FFFFFF"/>
                    </a:solidFill>
                  </a:tcPr>
                </a:tc>
                <a:tc>
                  <a:txBody>
                    <a:bodyPr/>
                    <a:lstStyle/>
                    <a:p>
                      <a:pPr algn="r"/>
                      <a:r>
                        <a:rPr sz="1200">
                          <a:solidFill>
                            <a:srgbClr val="52514E"/>
                          </a:solidFill>
                          <a:latin typeface="Calibri"/>
                        </a:rPr>
                        <a:t>7</a:t>
                      </a:r>
                    </a:p>
                  </a:txBody>
                  <a:tcPr marL="73152" marR="73152" marT="27432" marB="27432" anchor="ctr">
                    <a:solidFill>
                      <a:srgbClr val="FFFFFF"/>
                    </a:solidFill>
                  </a:tcPr>
                </a:tc>
                <a:tc>
                  <a:txBody>
                    <a:bodyPr/>
                    <a:lstStyle/>
                    <a:p>
                      <a:pPr algn="r"/>
                      <a:r>
                        <a:rPr sz="1200">
                          <a:solidFill>
                            <a:srgbClr val="52514E"/>
                          </a:solidFill>
                          <a:latin typeface="Calibri"/>
                        </a:rPr>
                        <a:t>69,561</a:t>
                      </a:r>
                    </a:p>
                  </a:txBody>
                  <a:tcPr marL="73152" marR="73152" marT="27432" marB="27432" anchor="ctr">
                    <a:solidFill>
                      <a:srgbClr val="FFFFFF"/>
                    </a:solidFill>
                  </a:tcPr>
                </a:tc>
                <a:tc>
                  <a:txBody>
                    <a:bodyPr/>
                    <a:lstStyle/>
                    <a:p>
                      <a:pPr algn="r"/>
                      <a:r>
                        <a:rPr sz="1200">
                          <a:solidFill>
                            <a:srgbClr val="52514E"/>
                          </a:solidFill>
                          <a:latin typeface="Calibri"/>
                        </a:rPr>
                        <a:t>19</a:t>
                      </a:r>
                    </a:p>
                  </a:txBody>
                  <a:tcPr marL="73152" marR="73152" marT="27432" marB="27432" anchor="ctr">
                    <a:solidFill>
                      <a:srgbClr val="FFFFFF"/>
                    </a:solidFill>
                  </a:tcPr>
                </a:tc>
                <a:tc>
                  <a:txBody>
                    <a:bodyPr/>
                    <a:lstStyle/>
                    <a:p>
                      <a:pPr algn="r"/>
                      <a:r>
                        <a:rPr sz="1200">
                          <a:solidFill>
                            <a:srgbClr val="52514E"/>
                          </a:solidFill>
                          <a:latin typeface="Calibri"/>
                        </a:rPr>
                        <a:t>3</a:t>
                      </a:r>
                    </a:p>
                  </a:txBody>
                  <a:tcPr marL="73152" marR="73152" marT="27432" marB="27432" anchor="ctr">
                    <a:solidFill>
                      <a:srgbClr val="FFFFFF"/>
                    </a:solidFill>
                  </a:tcPr>
                </a:tc>
              </a:tr>
              <a:tr h="310896">
                <a:tc>
                  <a:txBody>
                    <a:bodyPr/>
                    <a:lstStyle/>
                    <a:p>
                      <a:pPr algn="l"/>
                      <a:r>
                        <a:rPr sz="1200">
                          <a:solidFill>
                            <a:srgbClr val="52514E"/>
                          </a:solidFill>
                          <a:latin typeface="Calibri"/>
                        </a:rPr>
                        <a:t>Traffic</a:t>
                      </a:r>
                    </a:p>
                  </a:txBody>
                  <a:tcPr marL="73152" marR="73152" marT="27432" marB="27432" anchor="ctr">
                    <a:solidFill>
                      <a:srgbClr val="F7F7F5"/>
                    </a:solidFill>
                  </a:tcPr>
                </a:tc>
                <a:tc>
                  <a:txBody>
                    <a:bodyPr/>
                    <a:lstStyle/>
                    <a:p>
                      <a:pPr algn="r"/>
                      <a:r>
                        <a:rPr sz="1200">
                          <a:solidFill>
                            <a:srgbClr val="52514E"/>
                          </a:solidFill>
                          <a:latin typeface="Calibri"/>
                        </a:rPr>
                        <a:t>7</a:t>
                      </a:r>
                    </a:p>
                  </a:txBody>
                  <a:tcPr marL="73152" marR="73152" marT="27432" marB="27432" anchor="ctr">
                    <a:solidFill>
                      <a:srgbClr val="F7F7F5"/>
                    </a:solidFill>
                  </a:tcPr>
                </a:tc>
                <a:tc>
                  <a:txBody>
                    <a:bodyPr/>
                    <a:lstStyle/>
                    <a:p>
                      <a:pPr algn="r"/>
                      <a:r>
                        <a:rPr sz="1200">
                          <a:solidFill>
                            <a:srgbClr val="52514E"/>
                          </a:solidFill>
                          <a:latin typeface="Calibri"/>
                        </a:rPr>
                        <a:t>15,664</a:t>
                      </a:r>
                    </a:p>
                  </a:txBody>
                  <a:tcPr marL="73152" marR="73152" marT="27432" marB="27432" anchor="ctr">
                    <a:solidFill>
                      <a:srgbClr val="F7F7F5"/>
                    </a:solidFill>
                  </a:tcPr>
                </a:tc>
                <a:tc>
                  <a:txBody>
                    <a:bodyPr/>
                    <a:lstStyle/>
                    <a:p>
                      <a:pPr algn="r"/>
                      <a:r>
                        <a:rPr sz="1200">
                          <a:solidFill>
                            <a:srgbClr val="52514E"/>
                          </a:solidFill>
                          <a:latin typeface="Calibri"/>
                        </a:rPr>
                        <a:t>14</a:t>
                      </a:r>
                    </a:p>
                  </a:txBody>
                  <a:tcPr marL="73152" marR="73152" marT="27432" marB="27432" anchor="ctr">
                    <a:solidFill>
                      <a:srgbClr val="F7F7F5"/>
                    </a:solidFill>
                  </a:tcPr>
                </a:tc>
                <a:tc>
                  <a:txBody>
                    <a:bodyPr/>
                    <a:lstStyle/>
                    <a:p>
                      <a:pPr algn="r"/>
                      <a:r>
                        <a:rPr sz="1200">
                          <a:solidFill>
                            <a:srgbClr val="52514E"/>
                          </a:solidFill>
                          <a:latin typeface="Calibri"/>
                        </a:rPr>
                        <a:t>1</a:t>
                      </a:r>
                    </a:p>
                  </a:txBody>
                  <a:tcPr marL="73152" marR="73152" marT="27432" marB="27432" anchor="ctr">
                    <a:solidFill>
                      <a:srgbClr val="F7F7F5"/>
                    </a:solidFill>
                  </a:tcPr>
                </a:tc>
              </a:tr>
              <a:tr h="310896">
                <a:tc>
                  <a:txBody>
                    <a:bodyPr/>
                    <a:lstStyle/>
                    <a:p>
                      <a:pPr algn="l"/>
                      <a:r>
                        <a:rPr sz="1200">
                          <a:solidFill>
                            <a:srgbClr val="52514E"/>
                          </a:solidFill>
                          <a:latin typeface="Calibri"/>
                        </a:rPr>
                        <a:t>Tweets</a:t>
                      </a:r>
                    </a:p>
                  </a:txBody>
                  <a:tcPr marL="73152" marR="73152" marT="27432" marB="27432" anchor="ctr">
                    <a:solidFill>
                      <a:srgbClr val="FFFFFF"/>
                    </a:solidFill>
                  </a:tcPr>
                </a:tc>
                <a:tc>
                  <a:txBody>
                    <a:bodyPr/>
                    <a:lstStyle/>
                    <a:p>
                      <a:pPr algn="r"/>
                      <a:r>
                        <a:rPr sz="1200">
                          <a:solidFill>
                            <a:srgbClr val="52514E"/>
                          </a:solidFill>
                          <a:latin typeface="Calibri"/>
                        </a:rPr>
                        <a:t>10</a:t>
                      </a:r>
                    </a:p>
                  </a:txBody>
                  <a:tcPr marL="73152" marR="73152" marT="27432" marB="27432" anchor="ctr">
                    <a:solidFill>
                      <a:srgbClr val="FFFFFF"/>
                    </a:solidFill>
                  </a:tcPr>
                </a:tc>
                <a:tc>
                  <a:txBody>
                    <a:bodyPr/>
                    <a:lstStyle/>
                    <a:p>
                      <a:pPr algn="r"/>
                      <a:r>
                        <a:rPr sz="1200">
                          <a:solidFill>
                            <a:srgbClr val="52514E"/>
                          </a:solidFill>
                          <a:latin typeface="Calibri"/>
                        </a:rPr>
                        <a:t>158,631</a:t>
                      </a:r>
                    </a:p>
                  </a:txBody>
                  <a:tcPr marL="73152" marR="73152" marT="27432" marB="27432" anchor="ctr">
                    <a:solidFill>
                      <a:srgbClr val="FFFFFF"/>
                    </a:solidFill>
                  </a:tcPr>
                </a:tc>
                <a:tc>
                  <a:txBody>
                    <a:bodyPr/>
                    <a:lstStyle/>
                    <a:p>
                      <a:pPr algn="r"/>
                      <a:r>
                        <a:rPr sz="1200">
                          <a:solidFill>
                            <a:srgbClr val="52514E"/>
                          </a:solidFill>
                          <a:latin typeface="Calibri"/>
                        </a:rPr>
                        <a:t>33</a:t>
                      </a:r>
                    </a:p>
                  </a:txBody>
                  <a:tcPr marL="73152" marR="73152" marT="27432" marB="27432" anchor="ctr">
                    <a:solidFill>
                      <a:srgbClr val="FFFFFF"/>
                    </a:solidFill>
                  </a:tcPr>
                </a:tc>
                <a:tc>
                  <a:txBody>
                    <a:bodyPr/>
                    <a:lstStyle/>
                    <a:p>
                      <a:pPr algn="r"/>
                      <a:r>
                        <a:rPr sz="1200">
                          <a:solidFill>
                            <a:srgbClr val="52514E"/>
                          </a:solidFill>
                          <a:latin typeface="Calibri"/>
                        </a:rPr>
                        <a:t>1</a:t>
                      </a:r>
                    </a:p>
                  </a:txBody>
                  <a:tcPr marL="73152" marR="73152" marT="27432" marB="27432" anchor="ctr">
                    <a:solidFill>
                      <a:srgbClr val="FFFFFF"/>
                    </a:solidFill>
                  </a:tcPr>
                </a:tc>
              </a:tr>
              <a:tr h="310896">
                <a:tc>
                  <a:txBody>
                    <a:bodyPr/>
                    <a:lstStyle/>
                    <a:p>
                      <a:pPr algn="l"/>
                      <a:r>
                        <a:rPr sz="1200" b="1">
                          <a:solidFill>
                            <a:srgbClr val="0B0B0B"/>
                          </a:solidFill>
                          <a:latin typeface="Calibri"/>
                        </a:rPr>
                        <a:t>Total</a:t>
                      </a:r>
                    </a:p>
                  </a:txBody>
                  <a:tcPr marL="73152" marR="73152" marT="27432" marB="27432" anchor="ctr">
                    <a:solidFill>
                      <a:srgbClr val="EEF4FC"/>
                    </a:solidFill>
                  </a:tcPr>
                </a:tc>
                <a:tc>
                  <a:txBody>
                    <a:bodyPr/>
                    <a:lstStyle/>
                    <a:p>
                      <a:pPr algn="r"/>
                      <a:r>
                        <a:rPr sz="1200" b="1">
                          <a:solidFill>
                            <a:srgbClr val="0B0B0B"/>
                          </a:solidFill>
                          <a:latin typeface="Calibri"/>
                        </a:rPr>
                        <a:t>58</a:t>
                      </a:r>
                    </a:p>
                  </a:txBody>
                  <a:tcPr marL="73152" marR="73152" marT="27432" marB="27432" anchor="ctr">
                    <a:solidFill>
                      <a:srgbClr val="EEF4FC"/>
                    </a:solidFill>
                  </a:tcPr>
                </a:tc>
                <a:tc>
                  <a:txBody>
                    <a:bodyPr/>
                    <a:lstStyle/>
                    <a:p>
                      <a:pPr algn="r"/>
                      <a:r>
                        <a:rPr sz="1200" b="1">
                          <a:solidFill>
                            <a:srgbClr val="0B0B0B"/>
                          </a:solidFill>
                          <a:latin typeface="Calibri"/>
                        </a:rPr>
                        <a:t>365,558</a:t>
                      </a:r>
                    </a:p>
                  </a:txBody>
                  <a:tcPr marL="73152" marR="73152" marT="27432" marB="27432" anchor="ctr">
                    <a:solidFill>
                      <a:srgbClr val="EEF4FC"/>
                    </a:solidFill>
                  </a:tcPr>
                </a:tc>
                <a:tc>
                  <a:txBody>
                    <a:bodyPr/>
                    <a:lstStyle/>
                    <a:p>
                      <a:pPr algn="r"/>
                      <a:r>
                        <a:rPr sz="1200" b="1">
                          <a:solidFill>
                            <a:srgbClr val="0B0B0B"/>
                          </a:solidFill>
                          <a:latin typeface="Calibri"/>
                        </a:rPr>
                        <a:t>116</a:t>
                      </a:r>
                    </a:p>
                  </a:txBody>
                  <a:tcPr marL="73152" marR="73152" marT="27432" marB="27432" anchor="ctr">
                    <a:solidFill>
                      <a:srgbClr val="EEF4FC"/>
                    </a:solidFill>
                  </a:tcPr>
                </a:tc>
                <a:tc>
                  <a:txBody>
                    <a:bodyPr/>
                    <a:lstStyle/>
                    <a:p>
                      <a:pPr algn="r"/>
                      <a:r>
                        <a:rPr sz="1200" b="1">
                          <a:solidFill>
                            <a:srgbClr val="0B0B0B"/>
                          </a:solidFill>
                          <a:latin typeface="Calibri"/>
                        </a:rPr>
                        <a:t>21</a:t>
                      </a:r>
                    </a:p>
                  </a:txBody>
                  <a:tcPr marL="73152" marR="73152" marT="27432" marB="27432" anchor="ctr">
                    <a:solidFill>
                      <a:srgbClr val="EEF4FC"/>
                    </a:solidFill>
                  </a:tcPr>
                </a:tc>
              </a:tr>
            </a:tbl>
          </a:graphicData>
        </a:graphic>
      </p:graphicFrame>
      <p:sp>
        <p:nvSpPr>
          <p:cNvPr id="5" name="Rounded Rectangle 4"/>
          <p:cNvSpPr/>
          <p:nvPr/>
        </p:nvSpPr>
        <p:spPr>
          <a:xfrm>
            <a:off x="548640" y="4617720"/>
            <a:ext cx="2651760" cy="749808"/>
          </a:xfrm>
          <a:prstGeom prst="roundRect">
            <a:avLst>
              <a:gd name="adj" fmla="val 8000"/>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r>
              <a:rPr sz="1300" b="1" i="0">
                <a:solidFill>
                  <a:srgbClr val="0B0B0B"/>
                </a:solidFill>
                <a:latin typeface="Calibri"/>
              </a:rPr>
              <a:t>Rows kept as given</a:t>
            </a:r>
          </a:p>
          <a:p>
            <a:pPr algn="l"/>
            <a:r>
              <a:rPr sz="1100" b="0" i="0">
                <a:solidFill>
                  <a:srgbClr val="52514E"/>
                </a:solidFill>
                <a:latin typeface="Calibri"/>
              </a:rPr>
              <a:t>49 duplicate timestamps; a stream cannot drop rows</a:t>
            </a:r>
          </a:p>
        </p:txBody>
      </p:sp>
      <p:sp>
        <p:nvSpPr>
          <p:cNvPr id="6" name="Rounded Rectangle 5"/>
          <p:cNvSpPr/>
          <p:nvPr/>
        </p:nvSpPr>
        <p:spPr>
          <a:xfrm>
            <a:off x="3337560" y="4617720"/>
            <a:ext cx="2651760" cy="749808"/>
          </a:xfrm>
          <a:prstGeom prst="roundRect">
            <a:avLst>
              <a:gd name="adj" fmla="val 8000"/>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r>
              <a:rPr sz="1300" b="1" i="0">
                <a:solidFill>
                  <a:srgbClr val="0B0B0B"/>
                </a:solidFill>
                <a:latin typeface="Calibri"/>
              </a:rPr>
              <a:t>Probation = min(15% of N, 750)</a:t>
            </a:r>
          </a:p>
          <a:p>
            <a:pPr algn="l"/>
            <a:r>
              <a:rPr sz="1100" b="0" i="0">
                <a:solidFill>
                  <a:srgbClr val="52514E"/>
                </a:solidFill>
                <a:latin typeface="Calibri"/>
              </a:rPr>
              <a:t>learn only, no alerts (NAB rule)</a:t>
            </a:r>
          </a:p>
        </p:txBody>
      </p:sp>
      <p:sp>
        <p:nvSpPr>
          <p:cNvPr id="7" name="Rounded Rectangle 6"/>
          <p:cNvSpPr/>
          <p:nvPr/>
        </p:nvSpPr>
        <p:spPr>
          <a:xfrm>
            <a:off x="548640" y="5486400"/>
            <a:ext cx="2651760" cy="749808"/>
          </a:xfrm>
          <a:prstGeom prst="roundRect">
            <a:avLst>
              <a:gd name="adj" fmla="val 8000"/>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r>
              <a:rPr sz="1300" b="1" i="0">
                <a:solidFill>
                  <a:srgbClr val="0B0B0B"/>
                </a:solidFill>
                <a:latin typeface="Calibri"/>
              </a:rPr>
              <a:t>Season: day / week / none</a:t>
            </a:r>
          </a:p>
          <a:p>
            <a:pPr algn="l"/>
            <a:r>
              <a:rPr sz="1100" b="0" i="0">
                <a:solidFill>
                  <a:srgbClr val="52514E"/>
                </a:solidFill>
                <a:latin typeface="Calibri"/>
              </a:rPr>
              <a:t>ACF at the period lag after a linear detrend</a:t>
            </a:r>
          </a:p>
        </p:txBody>
      </p:sp>
      <p:sp>
        <p:nvSpPr>
          <p:cNvPr id="8" name="Rounded Rectangle 7"/>
          <p:cNvSpPr/>
          <p:nvPr/>
        </p:nvSpPr>
        <p:spPr>
          <a:xfrm>
            <a:off x="3337560" y="5486400"/>
            <a:ext cx="2651760" cy="749808"/>
          </a:xfrm>
          <a:prstGeom prst="roundRect">
            <a:avLst>
              <a:gd name="adj" fmla="val 8000"/>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r>
              <a:rPr sz="1300" b="1" i="0">
                <a:solidFill>
                  <a:srgbClr val="0B0B0B"/>
                </a:solidFill>
                <a:latin typeface="Calibri"/>
              </a:rPr>
              <a:t>No global scaling</a:t>
            </a:r>
          </a:p>
          <a:p>
            <a:pPr algn="l"/>
            <a:r>
              <a:rPr sz="1100" b="0" i="0">
                <a:solidFill>
                  <a:srgbClr val="52514E"/>
                </a:solidFill>
                <a:latin typeface="Calibri"/>
              </a:rPr>
              <a:t>every statistic is online and robust</a:t>
            </a:r>
          </a:p>
        </p:txBody>
      </p:sp>
      <p:pic>
        <p:nvPicPr>
          <p:cNvPr id="9" name="Picture 8" descr="category_samples.png"/>
          <p:cNvPicPr>
            <a:picLocks noChangeAspect="1"/>
          </p:cNvPicPr>
          <p:nvPr/>
        </p:nvPicPr>
        <p:blipFill>
          <a:blip r:embed="rId2"/>
          <a:stretch>
            <a:fillRect/>
          </a:stretch>
        </p:blipFill>
        <p:spPr>
          <a:xfrm>
            <a:off x="6400800" y="1554480"/>
            <a:ext cx="4846404" cy="4800600"/>
          </a:xfrm>
          <a:prstGeom prst="rect">
            <a:avLst/>
          </a:prstGeom>
        </p:spPr>
      </p:pic>
      <p:sp>
        <p:nvSpPr>
          <p:cNvPr id="10" name="TextBox 9"/>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98781"/>
                </a:solidFill>
                <a:latin typeface="Calibri"/>
              </a:rPr>
              <a:t>Sentinel  ·  Utkrishta 2026  ·  Challenge 2</a:t>
            </a:r>
          </a:p>
        </p:txBody>
      </p:sp>
      <p:sp>
        <p:nvSpPr>
          <p:cNvPr id="11" name="TextBox 10"/>
          <p:cNvSpPr txBox="1"/>
          <p:nvPr/>
        </p:nvSpPr>
        <p:spPr>
          <a:xfrm>
            <a:off x="10725912" y="6446520"/>
            <a:ext cx="914400" cy="274320"/>
          </a:xfrm>
          <a:prstGeom prst="rect">
            <a:avLst/>
          </a:prstGeom>
          <a:noFill/>
        </p:spPr>
        <p:txBody>
          <a:bodyPr wrap="square" anchor="t" lIns="0" rIns="0" tIns="0" bIns="0">
            <a:spAutoFit/>
          </a:bodyPr>
          <a:lstStyle/>
          <a:p>
            <a:pPr algn="r"/>
            <a:r>
              <a:rPr sz="1000" b="0" i="0">
                <a:solidFill>
                  <a:srgbClr val="898781"/>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r>
              <a:rPr sz="3200" b="1" i="0">
                <a:solidFill>
                  <a:srgbClr val="0B0B0B"/>
                </a:solidFill>
                <a:latin typeface="Calibri"/>
              </a:rPr>
              <a:t>One pass per point: detect, calibrate, fuse, decide, explain</a:t>
            </a:r>
          </a:p>
        </p:txBody>
      </p:sp>
      <p:sp>
        <p:nvSpPr>
          <p:cNvPr id="3" name="TextBox 2"/>
          <p:cNvSpPr txBox="1"/>
          <p:nvPr/>
        </p:nvSpPr>
        <p:spPr>
          <a:xfrm>
            <a:off x="548640" y="987552"/>
            <a:ext cx="11064240" cy="411480"/>
          </a:xfrm>
          <a:prstGeom prst="rect">
            <a:avLst/>
          </a:prstGeom>
          <a:noFill/>
        </p:spPr>
        <p:txBody>
          <a:bodyPr wrap="square" anchor="t" lIns="0" rIns="0" tIns="0" bIns="0">
            <a:spAutoFit/>
          </a:bodyPr>
          <a:lstStyle/>
          <a:p>
            <a:pPr algn="l"/>
            <a:r>
              <a:rPr sz="1500" b="0" i="0">
                <a:solidFill>
                  <a:srgbClr val="52514E"/>
                </a:solidFill>
                <a:latin typeface="Calibri"/>
              </a:rPr>
              <a:t>StreamingSentinel.update(timestamp, value) → score, label, evidence</a:t>
            </a:r>
          </a:p>
        </p:txBody>
      </p:sp>
      <p:sp>
        <p:nvSpPr>
          <p:cNvPr id="4" name="Rounded Rectangle 3"/>
          <p:cNvSpPr/>
          <p:nvPr/>
        </p:nvSpPr>
        <p:spPr>
          <a:xfrm>
            <a:off x="548640" y="2057400"/>
            <a:ext cx="1572768" cy="2103120"/>
          </a:xfrm>
          <a:prstGeom prst="roundRect">
            <a:avLst>
              <a:gd name="adj" fmla="val 8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r>
              <a:rPr sz="1400" b="1" i="0">
                <a:solidFill>
                  <a:srgbClr val="0B0B0B"/>
                </a:solidFill>
                <a:latin typeface="Calibri"/>
              </a:rPr>
              <a:t>Stream</a:t>
            </a:r>
          </a:p>
          <a:p>
            <a:pPr algn="l"/>
            <a:r>
              <a:rPr sz="1100" b="0" i="0">
                <a:solidFill>
                  <a:srgbClr val="52514E"/>
                </a:solidFill>
                <a:latin typeface="Calibri"/>
              </a:rPr>
              <a:t>timestamp, value
one point at a time</a:t>
            </a:r>
          </a:p>
        </p:txBody>
      </p:sp>
      <p:sp>
        <p:nvSpPr>
          <p:cNvPr id="5" name="Rounded Rectangle 4"/>
          <p:cNvSpPr/>
          <p:nvPr/>
        </p:nvSpPr>
        <p:spPr>
          <a:xfrm>
            <a:off x="2450592" y="2057400"/>
            <a:ext cx="1572768" cy="2103120"/>
          </a:xfrm>
          <a:prstGeom prst="roundRect">
            <a:avLst>
              <a:gd name="adj" fmla="val 8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r>
              <a:rPr sz="1400" b="1" i="0">
                <a:solidFill>
                  <a:srgbClr val="0B0B0B"/>
                </a:solidFill>
                <a:latin typeface="Calibri"/>
              </a:rPr>
              <a:t>Probation</a:t>
            </a:r>
          </a:p>
          <a:p>
            <a:pPr algn="l"/>
            <a:r>
              <a:rPr sz="1100" b="0" i="0">
                <a:solidFill>
                  <a:srgbClr val="52514E"/>
                </a:solidFill>
                <a:latin typeface="Calibri"/>
              </a:rPr>
              <a:t>season mode, scale floor;
replay the first P points once</a:t>
            </a:r>
          </a:p>
        </p:txBody>
      </p:sp>
      <p:sp>
        <p:nvSpPr>
          <p:cNvPr id="6" name="Rounded Rectangle 5"/>
          <p:cNvSpPr/>
          <p:nvPr/>
        </p:nvSpPr>
        <p:spPr>
          <a:xfrm>
            <a:off x="4352544" y="2057400"/>
            <a:ext cx="1572768" cy="452627"/>
          </a:xfrm>
          <a:prstGeom prst="roundRect">
            <a:avLst>
              <a:gd name="adj" fmla="val 8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l"/>
            <a:r>
              <a:rPr sz="1200" b="1" i="0">
                <a:solidFill>
                  <a:srgbClr val="FFFFFF"/>
                </a:solidFill>
                <a:latin typeface="Calibri"/>
              </a:rPr>
              <a:t>D1 Residual</a:t>
            </a:r>
          </a:p>
          <a:p>
            <a:pPr algn="l"/>
            <a:r>
              <a:rPr sz="900" b="0" i="0">
                <a:solidFill>
                  <a:srgbClr val="DCE8F8"/>
                </a:solidFill>
                <a:latin typeface="Calibri"/>
              </a:rPr>
              <a:t>spikes · dips · seasonal breaks</a:t>
            </a:r>
          </a:p>
        </p:txBody>
      </p:sp>
      <p:sp>
        <p:nvSpPr>
          <p:cNvPr id="7" name="Rounded Rectangle 6"/>
          <p:cNvSpPr/>
          <p:nvPr/>
        </p:nvSpPr>
        <p:spPr>
          <a:xfrm>
            <a:off x="4352544" y="2583180"/>
            <a:ext cx="1572768" cy="452627"/>
          </a:xfrm>
          <a:prstGeom prst="roundRect">
            <a:avLst>
              <a:gd name="adj" fmla="val 8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l"/>
            <a:r>
              <a:rPr sz="1200" b="1" i="0">
                <a:solidFill>
                  <a:srgbClr val="FFFFFF"/>
                </a:solidFill>
                <a:latin typeface="Calibri"/>
              </a:rPr>
              <a:t>D2 Change</a:t>
            </a:r>
          </a:p>
          <a:p>
            <a:pPr algn="l"/>
            <a:r>
              <a:rPr sz="900" b="0" i="0">
                <a:solidFill>
                  <a:srgbClr val="DCE8F8"/>
                </a:solidFill>
                <a:latin typeface="Calibri"/>
              </a:rPr>
              <a:t>level / variance shifts</a:t>
            </a:r>
          </a:p>
        </p:txBody>
      </p:sp>
      <p:sp>
        <p:nvSpPr>
          <p:cNvPr id="8" name="Rounded Rectangle 7"/>
          <p:cNvSpPr/>
          <p:nvPr/>
        </p:nvSpPr>
        <p:spPr>
          <a:xfrm>
            <a:off x="4352544" y="3108960"/>
            <a:ext cx="1572768" cy="452627"/>
          </a:xfrm>
          <a:prstGeom prst="roundRect">
            <a:avLst>
              <a:gd name="adj" fmla="val 8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l"/>
            <a:r>
              <a:rPr sz="1200" b="1" i="0">
                <a:solidFill>
                  <a:srgbClr val="FFFFFF"/>
                </a:solidFill>
                <a:latin typeface="Calibri"/>
              </a:rPr>
              <a:t>D4 LOF</a:t>
            </a:r>
          </a:p>
          <a:p>
            <a:pPr algn="l"/>
            <a:r>
              <a:rPr sz="900" b="0" i="0">
                <a:solidFill>
                  <a:srgbClr val="DCE8F8"/>
                </a:solidFill>
                <a:latin typeface="Calibri"/>
              </a:rPr>
              <a:t>unusual recent window</a:t>
            </a:r>
          </a:p>
        </p:txBody>
      </p:sp>
      <p:sp>
        <p:nvSpPr>
          <p:cNvPr id="9" name="Rounded Rectangle 8"/>
          <p:cNvSpPr/>
          <p:nvPr/>
        </p:nvSpPr>
        <p:spPr>
          <a:xfrm>
            <a:off x="4352544" y="3634739"/>
            <a:ext cx="1572768" cy="452627"/>
          </a:xfrm>
          <a:prstGeom prst="roundRect">
            <a:avLst>
              <a:gd name="adj" fmla="val 8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l"/>
            <a:r>
              <a:rPr sz="1200" b="1" i="0">
                <a:solidFill>
                  <a:srgbClr val="FFFFFF"/>
                </a:solidFill>
                <a:latin typeface="Calibri"/>
              </a:rPr>
              <a:t>D7 Subspace</a:t>
            </a:r>
          </a:p>
          <a:p>
            <a:pPr algn="l"/>
            <a:r>
              <a:rPr sz="900" b="0" i="0">
                <a:solidFill>
                  <a:srgbClr val="DCE8F8"/>
                </a:solidFill>
                <a:latin typeface="Calibri"/>
              </a:rPr>
              <a:t>pattern breaks (SSA)</a:t>
            </a:r>
          </a:p>
        </p:txBody>
      </p:sp>
      <p:sp>
        <p:nvSpPr>
          <p:cNvPr id="10" name="Rounded Rectangle 9"/>
          <p:cNvSpPr/>
          <p:nvPr/>
        </p:nvSpPr>
        <p:spPr>
          <a:xfrm>
            <a:off x="6254496" y="2057400"/>
            <a:ext cx="1572768" cy="2103120"/>
          </a:xfrm>
          <a:prstGeom prst="roundRect">
            <a:avLst>
              <a:gd name="adj" fmla="val 8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r>
              <a:rPr sz="1400" b="1" i="0">
                <a:solidFill>
                  <a:srgbClr val="0B0B0B"/>
                </a:solidFill>
                <a:latin typeface="Calibri"/>
              </a:rPr>
              <a:t>Calibration</a:t>
            </a:r>
          </a:p>
          <a:p>
            <a:pPr algn="l"/>
            <a:r>
              <a:rPr sz="1100" b="0" i="0">
                <a:solidFill>
                  <a:srgbClr val="52514E"/>
                </a:solidFill>
                <a:latin typeface="Calibri"/>
              </a:rPr>
              <a:t>per detector: tail p-value vs its recent NORMAL scores
U = −log10 p</a:t>
            </a:r>
          </a:p>
        </p:txBody>
      </p:sp>
      <p:sp>
        <p:nvSpPr>
          <p:cNvPr id="11" name="Rounded Rectangle 10"/>
          <p:cNvSpPr/>
          <p:nvPr/>
        </p:nvSpPr>
        <p:spPr>
          <a:xfrm>
            <a:off x="8156448" y="2057400"/>
            <a:ext cx="1572768" cy="2103120"/>
          </a:xfrm>
          <a:prstGeom prst="roundRect">
            <a:avLst>
              <a:gd name="adj" fmla="val 8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r>
              <a:rPr sz="1400" b="1" i="0">
                <a:solidFill>
                  <a:srgbClr val="0B0B0B"/>
                </a:solidFill>
                <a:latin typeface="Calibri"/>
              </a:rPr>
              <a:t>Fusion</a:t>
            </a:r>
          </a:p>
          <a:p>
            <a:pPr algn="l"/>
            <a:r>
              <a:rPr sz="1100" b="0" i="0">
                <a:solidFill>
                  <a:srgbClr val="52514E"/>
                </a:solidFill>
                <a:latin typeface="Calibri"/>
              </a:rPr>
              <a:t>U = max U_k − log10 K
Ū = smoothed U</a:t>
            </a:r>
          </a:p>
        </p:txBody>
      </p:sp>
      <p:sp>
        <p:nvSpPr>
          <p:cNvPr id="12" name="Rounded Rectangle 11"/>
          <p:cNvSpPr/>
          <p:nvPr/>
        </p:nvSpPr>
        <p:spPr>
          <a:xfrm>
            <a:off x="10058400" y="2057400"/>
            <a:ext cx="1572768" cy="2103120"/>
          </a:xfrm>
          <a:prstGeom prst="roundRect">
            <a:avLst>
              <a:gd name="adj" fmla="val 8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r>
              <a:rPr sz="1400" b="1" i="0">
                <a:solidFill>
                  <a:srgbClr val="FFFFFF"/>
                </a:solidFill>
                <a:latin typeface="Calibri"/>
              </a:rPr>
              <a:t>Event state machine</a:t>
            </a:r>
          </a:p>
          <a:p>
            <a:pPr algn="l"/>
            <a:r>
              <a:rPr sz="1100" b="0" i="0">
                <a:solidFill>
                  <a:srgbClr val="C9D1DE"/>
                </a:solidFill>
                <a:latin typeface="Calibri"/>
              </a:rPr>
              <a:t>hysteresis · cooldown · max length · pause · re-baseline</a:t>
            </a:r>
          </a:p>
        </p:txBody>
      </p:sp>
      <p:cxnSp>
        <p:nvCxnSpPr>
          <p:cNvPr id="13" name="Connector 12"/>
          <p:cNvCxnSpPr/>
          <p:nvPr/>
        </p:nvCxnSpPr>
        <p:spPr>
          <a:xfrm>
            <a:off x="2157984" y="3108960"/>
            <a:ext cx="256032" cy="0"/>
          </a:xfrm>
          <a:prstGeom prst="line">
            <a:avLst/>
          </a:prstGeom>
          <a:ln w="19050">
            <a:solidFill>
              <a:srgbClr val="89878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059936" y="3108960"/>
            <a:ext cx="256032" cy="0"/>
          </a:xfrm>
          <a:prstGeom prst="line">
            <a:avLst/>
          </a:prstGeom>
          <a:ln w="19050">
            <a:solidFill>
              <a:srgbClr val="89878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961888" y="3108960"/>
            <a:ext cx="256032" cy="0"/>
          </a:xfrm>
          <a:prstGeom prst="line">
            <a:avLst/>
          </a:prstGeom>
          <a:ln w="19050">
            <a:solidFill>
              <a:srgbClr val="89878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863840" y="3108960"/>
            <a:ext cx="256032" cy="0"/>
          </a:xfrm>
          <a:prstGeom prst="line">
            <a:avLst/>
          </a:prstGeom>
          <a:ln w="19050">
            <a:solidFill>
              <a:srgbClr val="89878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765792" y="3108960"/>
            <a:ext cx="256032" cy="0"/>
          </a:xfrm>
          <a:prstGeom prst="line">
            <a:avLst/>
          </a:prstGeom>
          <a:ln w="19050">
            <a:solidFill>
              <a:srgbClr val="8987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10058400" y="4572000"/>
            <a:ext cx="1572768" cy="1097280"/>
          </a:xfrm>
          <a:prstGeom prst="roundRect">
            <a:avLst>
              <a:gd name="adj" fmla="val 8000"/>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l"/>
            <a:r>
              <a:rPr sz="1300" b="1" i="0">
                <a:solidFill>
                  <a:srgbClr val="0B0B0B"/>
                </a:solidFill>
                <a:latin typeface="Calibri"/>
              </a:rPr>
              <a:t>Outputs</a:t>
            </a:r>
          </a:p>
          <a:p>
            <a:pPr algn="l"/>
            <a:r>
              <a:rPr sz="1000" b="0" i="0">
                <a:solidFill>
                  <a:srgbClr val="52514E"/>
                </a:solidFill>
                <a:latin typeface="Calibri"/>
              </a:rPr>
              <a:t>score ∈ [0,1] · label · top detector · event id · evidence JSON + sentence</a:t>
            </a:r>
          </a:p>
        </p:txBody>
      </p:sp>
      <p:cxnSp>
        <p:nvCxnSpPr>
          <p:cNvPr id="19" name="Connector 18"/>
          <p:cNvCxnSpPr/>
          <p:nvPr/>
        </p:nvCxnSpPr>
        <p:spPr>
          <a:xfrm>
            <a:off x="10844784" y="4187952"/>
            <a:ext cx="0" cy="356616"/>
          </a:xfrm>
          <a:prstGeom prst="line">
            <a:avLst/>
          </a:prstGeom>
          <a:ln w="19050">
            <a:solidFill>
              <a:srgbClr val="8987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48640" y="5074920"/>
            <a:ext cx="2194560" cy="457200"/>
          </a:xfrm>
          <a:prstGeom prst="rect">
            <a:avLst/>
          </a:prstGeom>
          <a:noFill/>
        </p:spPr>
        <p:txBody>
          <a:bodyPr wrap="square" anchor="t" lIns="0" rIns="0" tIns="0" bIns="0">
            <a:spAutoFit/>
          </a:bodyPr>
          <a:lstStyle/>
          <a:p>
            <a:pPr algn="l"/>
            <a:r>
              <a:rPr sz="2400" b="1" i="0">
                <a:solidFill>
                  <a:srgbClr val="2A78D6"/>
                </a:solidFill>
                <a:latin typeface="Calibri"/>
              </a:rPr>
              <a:t>O(1)</a:t>
            </a:r>
          </a:p>
        </p:txBody>
      </p:sp>
      <p:sp>
        <p:nvSpPr>
          <p:cNvPr id="21" name="TextBox 20"/>
          <p:cNvSpPr txBox="1"/>
          <p:nvPr/>
        </p:nvSpPr>
        <p:spPr>
          <a:xfrm>
            <a:off x="548640" y="5532120"/>
            <a:ext cx="2194560" cy="731520"/>
          </a:xfrm>
          <a:prstGeom prst="rect">
            <a:avLst/>
          </a:prstGeom>
          <a:noFill/>
        </p:spPr>
        <p:txBody>
          <a:bodyPr wrap="square" anchor="t" lIns="0" rIns="0" tIns="0" bIns="0">
            <a:spAutoFit/>
          </a:bodyPr>
          <a:lstStyle/>
          <a:p>
            <a:pPr algn="l"/>
            <a:r>
              <a:rPr sz="1200" b="0" i="0">
                <a:solidFill>
                  <a:srgbClr val="52514E"/>
                </a:solidFill>
                <a:latin typeface="Calibri"/>
              </a:rPr>
              <a:t>D1 rolling median and D2 CUSUM per point; D7 one L×r projection</a:t>
            </a:r>
          </a:p>
        </p:txBody>
      </p:sp>
      <p:sp>
        <p:nvSpPr>
          <p:cNvPr id="22" name="TextBox 21"/>
          <p:cNvSpPr txBox="1"/>
          <p:nvPr/>
        </p:nvSpPr>
        <p:spPr>
          <a:xfrm>
            <a:off x="2926080" y="5074920"/>
            <a:ext cx="2194560" cy="457200"/>
          </a:xfrm>
          <a:prstGeom prst="rect">
            <a:avLst/>
          </a:prstGeom>
          <a:noFill/>
        </p:spPr>
        <p:txBody>
          <a:bodyPr wrap="square" anchor="t" lIns="0" rIns="0" tIns="0" bIns="0">
            <a:spAutoFit/>
          </a:bodyPr>
          <a:lstStyle/>
          <a:p>
            <a:pPr algn="l"/>
            <a:r>
              <a:rPr sz="2400" b="1" i="0">
                <a:solidFill>
                  <a:srgbClr val="2A78D6"/>
                </a:solidFill>
                <a:latin typeface="Calibri"/>
              </a:rPr>
              <a:t>181 µs</a:t>
            </a:r>
          </a:p>
        </p:txBody>
      </p:sp>
      <p:sp>
        <p:nvSpPr>
          <p:cNvPr id="23" name="TextBox 22"/>
          <p:cNvSpPr txBox="1"/>
          <p:nvPr/>
        </p:nvSpPr>
        <p:spPr>
          <a:xfrm>
            <a:off x="2926080" y="5532120"/>
            <a:ext cx="2194560" cy="731520"/>
          </a:xfrm>
          <a:prstGeom prst="rect">
            <a:avLst/>
          </a:prstGeom>
          <a:noFill/>
        </p:spPr>
        <p:txBody>
          <a:bodyPr wrap="square" anchor="t" lIns="0" rIns="0" tIns="0" bIns="0">
            <a:spAutoFit/>
          </a:bodyPr>
          <a:lstStyle/>
          <a:p>
            <a:pPr algn="l"/>
            <a:r>
              <a:rPr sz="1200" b="0" i="0">
                <a:solidFill>
                  <a:srgbClr val="52514E"/>
                </a:solidFill>
                <a:latin typeface="Calibri"/>
              </a:rPr>
              <a:t>per point, streaming API (Python), p99 662 µs</a:t>
            </a:r>
          </a:p>
        </p:txBody>
      </p:sp>
      <p:sp>
        <p:nvSpPr>
          <p:cNvPr id="24" name="TextBox 23"/>
          <p:cNvSpPr txBox="1"/>
          <p:nvPr/>
        </p:nvSpPr>
        <p:spPr>
          <a:xfrm>
            <a:off x="5303520" y="5074920"/>
            <a:ext cx="2194560" cy="457200"/>
          </a:xfrm>
          <a:prstGeom prst="rect">
            <a:avLst/>
          </a:prstGeom>
          <a:noFill/>
        </p:spPr>
        <p:txBody>
          <a:bodyPr wrap="square" anchor="t" lIns="0" rIns="0" tIns="0" bIns="0">
            <a:spAutoFit/>
          </a:bodyPr>
          <a:lstStyle/>
          <a:p>
            <a:pPr algn="l"/>
            <a:r>
              <a:rPr sz="2400" b="1" i="0">
                <a:solidFill>
                  <a:srgbClr val="2A78D6"/>
                </a:solidFill>
                <a:latin typeface="Calibri"/>
              </a:rPr>
              <a:t>20.9 µs</a:t>
            </a:r>
          </a:p>
        </p:txBody>
      </p:sp>
      <p:sp>
        <p:nvSpPr>
          <p:cNvPr id="25" name="TextBox 24"/>
          <p:cNvSpPr txBox="1"/>
          <p:nvPr/>
        </p:nvSpPr>
        <p:spPr>
          <a:xfrm>
            <a:off x="5303520" y="5532120"/>
            <a:ext cx="2194560" cy="731520"/>
          </a:xfrm>
          <a:prstGeom prst="rect">
            <a:avLst/>
          </a:prstGeom>
          <a:noFill/>
        </p:spPr>
        <p:txBody>
          <a:bodyPr wrap="square" anchor="t" lIns="0" rIns="0" tIns="0" bIns="0">
            <a:spAutoFit/>
          </a:bodyPr>
          <a:lstStyle/>
          <a:p>
            <a:pPr algn="l"/>
            <a:r>
              <a:rPr sz="1200" b="0" i="0">
                <a:solidFill>
                  <a:srgbClr val="52514E"/>
                </a:solidFill>
                <a:latin typeface="Calibri"/>
              </a:rPr>
              <a:t>per point, compiled engine (Numba), identical output</a:t>
            </a:r>
          </a:p>
        </p:txBody>
      </p:sp>
      <p:sp>
        <p:nvSpPr>
          <p:cNvPr id="26" name="TextBox 25"/>
          <p:cNvSpPr txBox="1"/>
          <p:nvPr/>
        </p:nvSpPr>
        <p:spPr>
          <a:xfrm>
            <a:off x="7680960" y="5074920"/>
            <a:ext cx="2194560" cy="457200"/>
          </a:xfrm>
          <a:prstGeom prst="rect">
            <a:avLst/>
          </a:prstGeom>
          <a:noFill/>
        </p:spPr>
        <p:txBody>
          <a:bodyPr wrap="square" anchor="t" lIns="0" rIns="0" tIns="0" bIns="0">
            <a:spAutoFit/>
          </a:bodyPr>
          <a:lstStyle/>
          <a:p>
            <a:pPr algn="l"/>
            <a:r>
              <a:rPr sz="2400" b="1" i="0">
                <a:solidFill>
                  <a:srgbClr val="2A78D6"/>
                </a:solidFill>
                <a:latin typeface="Calibri"/>
              </a:rPr>
              <a:t>0</a:t>
            </a:r>
          </a:p>
        </p:txBody>
      </p:sp>
      <p:sp>
        <p:nvSpPr>
          <p:cNvPr id="27" name="TextBox 26"/>
          <p:cNvSpPr txBox="1"/>
          <p:nvPr/>
        </p:nvSpPr>
        <p:spPr>
          <a:xfrm>
            <a:off x="7680960" y="5532120"/>
            <a:ext cx="2194560" cy="731520"/>
          </a:xfrm>
          <a:prstGeom prst="rect">
            <a:avLst/>
          </a:prstGeom>
          <a:noFill/>
        </p:spPr>
        <p:txBody>
          <a:bodyPr wrap="square" anchor="t" lIns="0" rIns="0" tIns="0" bIns="0">
            <a:spAutoFit/>
          </a:bodyPr>
          <a:lstStyle/>
          <a:p>
            <a:pPr algn="l"/>
            <a:r>
              <a:rPr sz="1200" b="0" i="0">
                <a:solidFill>
                  <a:srgbClr val="52514E"/>
                </a:solidFill>
                <a:latin typeface="Calibri"/>
              </a:rPr>
              <a:t>random numbers, labels or future points used at run time</a:t>
            </a:r>
          </a:p>
        </p:txBody>
      </p:sp>
      <p:sp>
        <p:nvSpPr>
          <p:cNvPr id="28" name="TextBox 27"/>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98781"/>
                </a:solidFill>
                <a:latin typeface="Calibri"/>
              </a:rPr>
              <a:t>Sentinel  ·  Utkrishta 2026  ·  Challenge 2</a:t>
            </a:r>
          </a:p>
        </p:txBody>
      </p:sp>
      <p:sp>
        <p:nvSpPr>
          <p:cNvPr id="29" name="TextBox 28"/>
          <p:cNvSpPr txBox="1"/>
          <p:nvPr/>
        </p:nvSpPr>
        <p:spPr>
          <a:xfrm>
            <a:off x="10725912" y="6446520"/>
            <a:ext cx="914400" cy="274320"/>
          </a:xfrm>
          <a:prstGeom prst="rect">
            <a:avLst/>
          </a:prstGeom>
          <a:noFill/>
        </p:spPr>
        <p:txBody>
          <a:bodyPr wrap="square" anchor="t" lIns="0" rIns="0" tIns="0" bIns="0">
            <a:spAutoFit/>
          </a:bodyPr>
          <a:lstStyle/>
          <a:p>
            <a:pPr algn="r"/>
            <a:r>
              <a:rPr sz="1000" b="0" i="0">
                <a:solidFill>
                  <a:srgbClr val="898781"/>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r>
              <a:rPr sz="3200" b="1" i="0">
                <a:solidFill>
                  <a:srgbClr val="0B0B0B"/>
                </a:solidFill>
                <a:latin typeface="Calibri"/>
              </a:rPr>
              <a:t>Cheap detectors, one calibrated scale, one state machine</a:t>
            </a:r>
          </a:p>
        </p:txBody>
      </p:sp>
      <p:sp>
        <p:nvSpPr>
          <p:cNvPr id="3" name="Rounded Rectangle 2"/>
          <p:cNvSpPr/>
          <p:nvPr/>
        </p:nvSpPr>
        <p:spPr>
          <a:xfrm>
            <a:off x="548640" y="1188720"/>
            <a:ext cx="3566160" cy="1783080"/>
          </a:xfrm>
          <a:prstGeom prst="roundRect">
            <a:avLst>
              <a:gd name="adj" fmla="val 8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280160"/>
            <a:ext cx="3200400" cy="411480"/>
          </a:xfrm>
          <a:prstGeom prst="rect">
            <a:avLst/>
          </a:prstGeom>
          <a:noFill/>
        </p:spPr>
        <p:txBody>
          <a:bodyPr wrap="square" anchor="t" lIns="0" rIns="0" tIns="0" bIns="0">
            <a:spAutoFit/>
          </a:bodyPr>
          <a:lstStyle/>
          <a:p>
            <a:pPr algn="l"/>
            <a:r>
              <a:rPr sz="1800" b="1" i="0">
                <a:solidFill>
                  <a:srgbClr val="2A78D6"/>
                </a:solidFill>
                <a:latin typeface="Calibri"/>
              </a:rPr>
              <a:t>D1  Residual</a:t>
            </a:r>
          </a:p>
        </p:txBody>
      </p:sp>
      <p:sp>
        <p:nvSpPr>
          <p:cNvPr id="5" name="TextBox 4"/>
          <p:cNvSpPr txBox="1"/>
          <p:nvPr/>
        </p:nvSpPr>
        <p:spPr>
          <a:xfrm>
            <a:off x="731520" y="1691640"/>
            <a:ext cx="3200400" cy="411480"/>
          </a:xfrm>
          <a:prstGeom prst="rect">
            <a:avLst/>
          </a:prstGeom>
          <a:noFill/>
        </p:spPr>
        <p:txBody>
          <a:bodyPr wrap="square" anchor="t" lIns="0" rIns="0" tIns="0" bIns="0">
            <a:spAutoFit/>
          </a:bodyPr>
          <a:lstStyle/>
          <a:p>
            <a:pPr algn="l"/>
            <a:r>
              <a:rPr sz="1300" b="0" i="0">
                <a:solidFill>
                  <a:srgbClr val="52514E"/>
                </a:solidFill>
                <a:latin typeface="Calibri"/>
              </a:rPr>
              <a:t>Spikes, dips, broken daily/weekly pattern</a:t>
            </a:r>
          </a:p>
        </p:txBody>
      </p:sp>
      <p:sp>
        <p:nvSpPr>
          <p:cNvPr id="6" name="TextBox 5"/>
          <p:cNvSpPr txBox="1"/>
          <p:nvPr/>
        </p:nvSpPr>
        <p:spPr>
          <a:xfrm>
            <a:off x="731520" y="2148840"/>
            <a:ext cx="3291840" cy="777240"/>
          </a:xfrm>
          <a:prstGeom prst="rect">
            <a:avLst/>
          </a:prstGeom>
          <a:noFill/>
        </p:spPr>
        <p:txBody>
          <a:bodyPr wrap="square" anchor="t" lIns="0" rIns="0" tIns="0" bIns="0">
            <a:spAutoFit/>
          </a:bodyPr>
          <a:lstStyle/>
          <a:p>
            <a:pPr algn="l"/>
            <a:r>
              <a:rPr sz="1200" b="0" i="1">
                <a:solidFill>
                  <a:srgbClr val="0B0B0B"/>
                </a:solidFill>
                <a:latin typeface="Calibri"/>
              </a:rPr>
              <a:t>r = x − (median of last W deseasonalized x + hour offset)
S1 = |r| / σ_EW</a:t>
            </a:r>
          </a:p>
        </p:txBody>
      </p:sp>
      <p:sp>
        <p:nvSpPr>
          <p:cNvPr id="7" name="Rounded Rectangle 6"/>
          <p:cNvSpPr/>
          <p:nvPr/>
        </p:nvSpPr>
        <p:spPr>
          <a:xfrm>
            <a:off x="4297679" y="1188720"/>
            <a:ext cx="3566160" cy="1783080"/>
          </a:xfrm>
          <a:prstGeom prst="roundRect">
            <a:avLst>
              <a:gd name="adj" fmla="val 8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59" y="1280160"/>
            <a:ext cx="3200400" cy="411480"/>
          </a:xfrm>
          <a:prstGeom prst="rect">
            <a:avLst/>
          </a:prstGeom>
          <a:noFill/>
        </p:spPr>
        <p:txBody>
          <a:bodyPr wrap="square" anchor="t" lIns="0" rIns="0" tIns="0" bIns="0">
            <a:spAutoFit/>
          </a:bodyPr>
          <a:lstStyle/>
          <a:p>
            <a:pPr algn="l"/>
            <a:r>
              <a:rPr sz="1800" b="1" i="0">
                <a:solidFill>
                  <a:srgbClr val="2A78D6"/>
                </a:solidFill>
                <a:latin typeface="Calibri"/>
              </a:rPr>
              <a:t>D2  Change</a:t>
            </a:r>
          </a:p>
        </p:txBody>
      </p:sp>
      <p:sp>
        <p:nvSpPr>
          <p:cNvPr id="9" name="TextBox 8"/>
          <p:cNvSpPr txBox="1"/>
          <p:nvPr/>
        </p:nvSpPr>
        <p:spPr>
          <a:xfrm>
            <a:off x="4480559" y="1691640"/>
            <a:ext cx="3200400" cy="411480"/>
          </a:xfrm>
          <a:prstGeom prst="rect">
            <a:avLst/>
          </a:prstGeom>
          <a:noFill/>
        </p:spPr>
        <p:txBody>
          <a:bodyPr wrap="square" anchor="t" lIns="0" rIns="0" tIns="0" bIns="0">
            <a:spAutoFit/>
          </a:bodyPr>
          <a:lstStyle/>
          <a:p>
            <a:pPr algn="l"/>
            <a:r>
              <a:rPr sz="1300" b="0" i="0">
                <a:solidFill>
                  <a:srgbClr val="52514E"/>
                </a:solidFill>
                <a:latin typeface="Calibri"/>
              </a:rPr>
              <a:t>Level shifts, slow drift, variance change</a:t>
            </a:r>
          </a:p>
        </p:txBody>
      </p:sp>
      <p:sp>
        <p:nvSpPr>
          <p:cNvPr id="10" name="TextBox 9"/>
          <p:cNvSpPr txBox="1"/>
          <p:nvPr/>
        </p:nvSpPr>
        <p:spPr>
          <a:xfrm>
            <a:off x="4480559" y="2148840"/>
            <a:ext cx="3291840" cy="777240"/>
          </a:xfrm>
          <a:prstGeom prst="rect">
            <a:avLst/>
          </a:prstGeom>
          <a:noFill/>
        </p:spPr>
        <p:txBody>
          <a:bodyPr wrap="square" anchor="t" lIns="0" rIns="0" tIns="0" bIns="0">
            <a:spAutoFit/>
          </a:bodyPr>
          <a:lstStyle/>
          <a:p>
            <a:pPr algn="l"/>
            <a:r>
              <a:rPr sz="1200" b="0" i="1">
                <a:solidFill>
                  <a:srgbClr val="0B0B0B"/>
                </a:solidFill>
                <a:latin typeface="Calibri"/>
              </a:rPr>
              <a:t>z = (x − slow mean) / slow scale
C± = max(0, C± ± z − k),  S2 = max(C+, C−, V+) / h</a:t>
            </a:r>
          </a:p>
        </p:txBody>
      </p:sp>
      <p:sp>
        <p:nvSpPr>
          <p:cNvPr id="11" name="Rounded Rectangle 10"/>
          <p:cNvSpPr/>
          <p:nvPr/>
        </p:nvSpPr>
        <p:spPr>
          <a:xfrm>
            <a:off x="8046719" y="1188720"/>
            <a:ext cx="3566160" cy="1783080"/>
          </a:xfrm>
          <a:prstGeom prst="roundRect">
            <a:avLst>
              <a:gd name="adj" fmla="val 8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9" y="1280160"/>
            <a:ext cx="3200400" cy="411480"/>
          </a:xfrm>
          <a:prstGeom prst="rect">
            <a:avLst/>
          </a:prstGeom>
          <a:noFill/>
        </p:spPr>
        <p:txBody>
          <a:bodyPr wrap="square" anchor="t" lIns="0" rIns="0" tIns="0" bIns="0">
            <a:spAutoFit/>
          </a:bodyPr>
          <a:lstStyle/>
          <a:p>
            <a:pPr algn="l"/>
            <a:r>
              <a:rPr sz="1800" b="1" i="0">
                <a:solidFill>
                  <a:srgbClr val="2A78D6"/>
                </a:solidFill>
                <a:latin typeface="Calibri"/>
              </a:rPr>
              <a:t>D7  Subspace</a:t>
            </a:r>
          </a:p>
        </p:txBody>
      </p:sp>
      <p:sp>
        <p:nvSpPr>
          <p:cNvPr id="13" name="TextBox 12"/>
          <p:cNvSpPr txBox="1"/>
          <p:nvPr/>
        </p:nvSpPr>
        <p:spPr>
          <a:xfrm>
            <a:off x="8229599" y="1691640"/>
            <a:ext cx="3200400" cy="411480"/>
          </a:xfrm>
          <a:prstGeom prst="rect">
            <a:avLst/>
          </a:prstGeom>
          <a:noFill/>
        </p:spPr>
        <p:txBody>
          <a:bodyPr wrap="square" anchor="t" lIns="0" rIns="0" tIns="0" bIns="0">
            <a:spAutoFit/>
          </a:bodyPr>
          <a:lstStyle/>
          <a:p>
            <a:pPr algn="l"/>
            <a:r>
              <a:rPr sz="1300" b="0" i="0">
                <a:solidFill>
                  <a:srgbClr val="52514E"/>
                </a:solidFill>
                <a:latin typeface="Calibri"/>
              </a:rPr>
              <a:t>Pattern breaks the learning period never showed</a:t>
            </a:r>
          </a:p>
        </p:txBody>
      </p:sp>
      <p:sp>
        <p:nvSpPr>
          <p:cNvPr id="14" name="TextBox 13"/>
          <p:cNvSpPr txBox="1"/>
          <p:nvPr/>
        </p:nvSpPr>
        <p:spPr>
          <a:xfrm>
            <a:off x="8229599" y="2148840"/>
            <a:ext cx="3291840" cy="777240"/>
          </a:xfrm>
          <a:prstGeom prst="rect">
            <a:avLst/>
          </a:prstGeom>
          <a:noFill/>
        </p:spPr>
        <p:txBody>
          <a:bodyPr wrap="square" anchor="t" lIns="0" rIns="0" tIns="0" bIns="0">
            <a:spAutoFit/>
          </a:bodyPr>
          <a:lstStyle/>
          <a:p>
            <a:pPr algn="l"/>
            <a:r>
              <a:rPr sz="1200" b="0" i="1">
                <a:solidFill>
                  <a:srgbClr val="0B0B0B"/>
                </a:solidFill>
                <a:latin typeface="Calibri"/>
              </a:rPr>
              <a:t>newest 32-point window, minus its mean, outside the
principal subspace of probation windows (90% variance): S7 = SPE / L</a:t>
            </a:r>
          </a:p>
        </p:txBody>
      </p:sp>
      <p:sp>
        <p:nvSpPr>
          <p:cNvPr id="15" name="Rounded Rectangle 14"/>
          <p:cNvSpPr/>
          <p:nvPr/>
        </p:nvSpPr>
        <p:spPr>
          <a:xfrm>
            <a:off x="548640" y="3200400"/>
            <a:ext cx="4754880" cy="2606040"/>
          </a:xfrm>
          <a:prstGeom prst="roundRect">
            <a:avLst>
              <a:gd name="adj" fmla="val 8000"/>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310128"/>
            <a:ext cx="4389120" cy="411480"/>
          </a:xfrm>
          <a:prstGeom prst="rect">
            <a:avLst/>
          </a:prstGeom>
          <a:noFill/>
        </p:spPr>
        <p:txBody>
          <a:bodyPr wrap="square" anchor="t" lIns="0" rIns="0" tIns="0" bIns="0">
            <a:spAutoFit/>
          </a:bodyPr>
          <a:lstStyle/>
          <a:p>
            <a:pPr algn="l"/>
            <a:r>
              <a:rPr sz="1800" b="1" i="0">
                <a:solidFill>
                  <a:srgbClr val="0B0B0B"/>
                </a:solidFill>
                <a:latin typeface="Calibri"/>
              </a:rPr>
              <a:t>Calibration → surprise</a:t>
            </a:r>
          </a:p>
        </p:txBody>
      </p:sp>
      <p:sp>
        <p:nvSpPr>
          <p:cNvPr id="17" name="TextBox 16"/>
          <p:cNvSpPr txBox="1"/>
          <p:nvPr/>
        </p:nvSpPr>
        <p:spPr>
          <a:xfrm>
            <a:off x="731520" y="3794760"/>
            <a:ext cx="4480560" cy="2286000"/>
          </a:xfrm>
          <a:prstGeom prst="rect">
            <a:avLst/>
          </a:prstGeom>
          <a:noFill/>
        </p:spPr>
        <p:txBody>
          <a:bodyPr wrap="square" anchor="t" lIns="0" rIns="0" tIns="0" bIns="0">
            <a:spAutoFit/>
          </a:bodyPr>
          <a:lstStyle/>
          <a:p>
            <a:pPr algn="l">
              <a:spcAft>
                <a:spcPts val="600"/>
              </a:spcAft>
            </a:pPr>
            <a:r>
              <a:rPr sz="1300" b="0" i="1">
                <a:solidFill>
                  <a:srgbClr val="0B0B0B"/>
                </a:solidFill>
                <a:latin typeface="Calibri"/>
              </a:rPr>
              <a:t>p = (1 + #{buffer ≥ s}) / (1 + n)</a:t>
            </a:r>
          </a:p>
          <a:p>
            <a:pPr algn="l">
              <a:spcAft>
                <a:spcPts val="600"/>
              </a:spcAft>
            </a:pPr>
            <a:r>
              <a:rPr sz="1300" b="0" i="1">
                <a:solidFill>
                  <a:srgbClr val="0B0B0B"/>
                </a:solidFill>
                <a:latin typeface="Calibri"/>
              </a:rPr>
              <a:t>far tail: p = 0.05 · exp(−(s − q95) / mean excess)</a:t>
            </a:r>
          </a:p>
          <a:p>
            <a:pPr algn="l">
              <a:spcAft>
                <a:spcPts val="600"/>
              </a:spcAft>
            </a:pPr>
            <a:r>
              <a:rPr sz="1300" b="0" i="1">
                <a:solidFill>
                  <a:srgbClr val="0B0B0B"/>
                </a:solidFill>
                <a:latin typeface="Calibri"/>
              </a:rPr>
              <a:t>U = −log10 p   (U = 4 ≈ 1 in 10,000)</a:t>
            </a:r>
          </a:p>
          <a:p>
            <a:pPr algn="l">
              <a:spcAft>
                <a:spcPts val="600"/>
              </a:spcAft>
            </a:pPr>
            <a:r>
              <a:rPr sz="1200" b="0" i="0">
                <a:solidFill>
                  <a:srgbClr val="52514E"/>
                </a:solidFill>
                <a:latin typeface="Calibri"/>
              </a:rPr>
              <a:t>Buffer = recent scores in NORMAL state only, so an anomaly never teaches itself. The tail fit lets U pass the 1/(n+1) floor of an empirical p-value.</a:t>
            </a:r>
          </a:p>
        </p:txBody>
      </p:sp>
      <p:sp>
        <p:nvSpPr>
          <p:cNvPr id="18" name="Rounded Rectangle 17"/>
          <p:cNvSpPr/>
          <p:nvPr/>
        </p:nvSpPr>
        <p:spPr>
          <a:xfrm>
            <a:off x="5669280" y="3931920"/>
            <a:ext cx="1600200" cy="640080"/>
          </a:xfrm>
          <a:prstGeom prst="roundRect">
            <a:avLst>
              <a:gd name="adj" fmla="val 30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ctr"/>
            <a:r>
              <a:rPr sz="1300" b="1" i="0">
                <a:solidFill>
                  <a:srgbClr val="0B0B0B"/>
                </a:solidFill>
                <a:latin typeface="Calibri"/>
              </a:rPr>
              <a:t>NORMAL</a:t>
            </a:r>
          </a:p>
        </p:txBody>
      </p:sp>
      <p:sp>
        <p:nvSpPr>
          <p:cNvPr id="19" name="Rounded Rectangle 18"/>
          <p:cNvSpPr/>
          <p:nvPr/>
        </p:nvSpPr>
        <p:spPr>
          <a:xfrm>
            <a:off x="7818120" y="3931920"/>
            <a:ext cx="1600200" cy="640080"/>
          </a:xfrm>
          <a:prstGeom prst="roundRect">
            <a:avLst>
              <a:gd name="adj" fmla="val 30000"/>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ctr"/>
            <a:r>
              <a:rPr sz="1300" b="1" i="0">
                <a:solidFill>
                  <a:srgbClr val="FFFFFF"/>
                </a:solidFill>
                <a:latin typeface="Calibri"/>
              </a:rPr>
              <a:t>EVENT</a:t>
            </a:r>
          </a:p>
        </p:txBody>
      </p:sp>
      <p:sp>
        <p:nvSpPr>
          <p:cNvPr id="20" name="Rounded Rectangle 19"/>
          <p:cNvSpPr/>
          <p:nvPr/>
        </p:nvSpPr>
        <p:spPr>
          <a:xfrm>
            <a:off x="9966960" y="3931920"/>
            <a:ext cx="1600200" cy="640080"/>
          </a:xfrm>
          <a:prstGeom prst="roundRect">
            <a:avLst>
              <a:gd name="adj" fmla="val 30000"/>
            </a:avLst>
          </a:prstGeom>
          <a:solidFill>
            <a:srgbClr val="D9DE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ctr"/>
            <a:r>
              <a:rPr sz="1300" b="1" i="0">
                <a:solidFill>
                  <a:srgbClr val="0B0B0B"/>
                </a:solidFill>
                <a:latin typeface="Calibri"/>
              </a:rPr>
              <a:t>COOLDOWN</a:t>
            </a:r>
          </a:p>
        </p:txBody>
      </p:sp>
      <p:cxnSp>
        <p:nvCxnSpPr>
          <p:cNvPr id="21" name="Connector 20"/>
          <p:cNvCxnSpPr/>
          <p:nvPr/>
        </p:nvCxnSpPr>
        <p:spPr>
          <a:xfrm>
            <a:off x="7306056" y="4251959"/>
            <a:ext cx="475488" cy="0"/>
          </a:xfrm>
          <a:prstGeom prst="line">
            <a:avLst/>
          </a:prstGeom>
          <a:ln w="19050">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454896" y="4251959"/>
            <a:ext cx="475488" cy="0"/>
          </a:xfrm>
          <a:prstGeom prst="line">
            <a:avLst/>
          </a:prstGeom>
          <a:ln w="19050">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086600" y="3364991"/>
            <a:ext cx="1280160" cy="502920"/>
          </a:xfrm>
          <a:prstGeom prst="rect">
            <a:avLst/>
          </a:prstGeom>
          <a:noFill/>
        </p:spPr>
        <p:txBody>
          <a:bodyPr wrap="square" anchor="t" lIns="0" rIns="0" tIns="0" bIns="0">
            <a:spAutoFit/>
          </a:bodyPr>
          <a:lstStyle/>
          <a:p>
            <a:pPr algn="ctr"/>
            <a:r>
              <a:rPr sz="1100" b="0" i="0">
                <a:solidFill>
                  <a:srgbClr val="52514E"/>
                </a:solidFill>
                <a:latin typeface="Calibri"/>
              </a:rPr>
              <a:t>Ū ≥ θ_enter
= 5.0</a:t>
            </a:r>
          </a:p>
        </p:txBody>
      </p:sp>
      <p:sp>
        <p:nvSpPr>
          <p:cNvPr id="24" name="TextBox 23"/>
          <p:cNvSpPr txBox="1"/>
          <p:nvPr/>
        </p:nvSpPr>
        <p:spPr>
          <a:xfrm>
            <a:off x="9189720" y="3364991"/>
            <a:ext cx="1371600" cy="502920"/>
          </a:xfrm>
          <a:prstGeom prst="rect">
            <a:avLst/>
          </a:prstGeom>
          <a:noFill/>
        </p:spPr>
        <p:txBody>
          <a:bodyPr wrap="square" anchor="t" lIns="0" rIns="0" tIns="0" bIns="0">
            <a:spAutoFit/>
          </a:bodyPr>
          <a:lstStyle/>
          <a:p>
            <a:pPr algn="ctr"/>
            <a:r>
              <a:rPr sz="1100" b="0" i="0">
                <a:solidFill>
                  <a:srgbClr val="52514E"/>
                </a:solidFill>
                <a:latin typeface="Calibri"/>
              </a:rPr>
              <a:t>Ū &lt; 4.5 or
length ≥ 200</a:t>
            </a:r>
          </a:p>
        </p:txBody>
      </p:sp>
      <p:cxnSp>
        <p:nvCxnSpPr>
          <p:cNvPr id="25" name="Connector 24"/>
          <p:cNvCxnSpPr/>
          <p:nvPr/>
        </p:nvCxnSpPr>
        <p:spPr>
          <a:xfrm>
            <a:off x="10767060" y="4590288"/>
            <a:ext cx="0" cy="256032"/>
          </a:xfrm>
          <a:prstGeom prst="line">
            <a:avLst/>
          </a:prstGeom>
          <a:ln w="15875">
            <a:solidFill>
              <a:srgbClr val="52514E"/>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6469380" y="4846320"/>
            <a:ext cx="4297680" cy="0"/>
          </a:xfrm>
          <a:prstGeom prst="line">
            <a:avLst/>
          </a:prstGeom>
          <a:ln w="15875">
            <a:solidFill>
              <a:srgbClr val="52514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469380" y="4608576"/>
            <a:ext cx="0" cy="237744"/>
          </a:xfrm>
          <a:prstGeom prst="line">
            <a:avLst/>
          </a:prstGeom>
          <a:ln w="15875">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949440" y="4892040"/>
            <a:ext cx="3657600" cy="365760"/>
          </a:xfrm>
          <a:prstGeom prst="rect">
            <a:avLst/>
          </a:prstGeom>
          <a:noFill/>
        </p:spPr>
        <p:txBody>
          <a:bodyPr wrap="square" anchor="t" lIns="0" rIns="0" tIns="0" bIns="0">
            <a:spAutoFit/>
          </a:bodyPr>
          <a:lstStyle/>
          <a:p>
            <a:pPr algn="ctr"/>
            <a:r>
              <a:rPr sz="1100" b="0" i="0">
                <a:solidFill>
                  <a:srgbClr val="52514E"/>
                </a:solidFill>
                <a:latin typeface="Calibri"/>
              </a:rPr>
              <a:t>after 400 quiet points</a:t>
            </a:r>
          </a:p>
        </p:txBody>
      </p:sp>
      <p:sp>
        <p:nvSpPr>
          <p:cNvPr id="29" name="TextBox 28"/>
          <p:cNvSpPr txBox="1"/>
          <p:nvPr/>
        </p:nvSpPr>
        <p:spPr>
          <a:xfrm>
            <a:off x="5669280" y="5349240"/>
            <a:ext cx="5943600" cy="914400"/>
          </a:xfrm>
          <a:prstGeom prst="rect">
            <a:avLst/>
          </a:prstGeom>
          <a:noFill/>
        </p:spPr>
        <p:txBody>
          <a:bodyPr wrap="square" anchor="t" lIns="0" rIns="0" tIns="0" bIns="0">
            <a:spAutoFit/>
          </a:bodyPr>
          <a:lstStyle/>
          <a:p>
            <a:pPr algn="l">
              <a:spcAft>
                <a:spcPts val="400"/>
              </a:spcAft>
            </a:pPr>
            <a:r>
              <a:rPr sz="1200" b="1" i="0">
                <a:solidFill>
                  <a:srgbClr val="52514E"/>
                </a:solidFill>
                <a:latin typeface="Calibri"/>
              </a:rPr>
              <a:t>Fusion: </a:t>
            </a:r>
            <a:r>
              <a:rPr sz="1200" b="0" i="0">
                <a:solidFill>
                  <a:srgbClr val="52514E"/>
                </a:solidFill>
                <a:latin typeface="Calibri"/>
              </a:rPr>
              <a:t>U = max_k U_k − log10 K (Bonferroni, K = 4 detectors on); Ū = mean over 5 points</a:t>
            </a:r>
          </a:p>
          <a:p>
            <a:pPr algn="l">
              <a:spcAft>
                <a:spcPts val="400"/>
              </a:spcAft>
            </a:pPr>
            <a:r>
              <a:rPr sz="1200" b="1" i="0">
                <a:solidFill>
                  <a:srgbClr val="52514E"/>
                </a:solidFill>
                <a:latin typeface="Calibri"/>
              </a:rPr>
              <a:t>Label: </a:t>
            </a:r>
            <a:r>
              <a:rPr sz="1200" b="0" i="0">
                <a:solidFill>
                  <a:srgbClr val="52514E"/>
                </a:solidFill>
                <a:latin typeface="Calibri"/>
              </a:rPr>
              <a:t>ANOMALOUS on the first 1 row(s) of an event (the trigger); the span is in state/event_id and events.jsonl.</a:t>
            </a:r>
          </a:p>
          <a:p>
            <a:pPr algn="l">
              <a:spcAft>
                <a:spcPts val="400"/>
              </a:spcAft>
            </a:pPr>
            <a:r>
              <a:rPr sz="1200" b="1" i="0">
                <a:solidFill>
                  <a:srgbClr val="52514E"/>
                </a:solidFill>
                <a:latin typeface="Calibri"/>
              </a:rPr>
              <a:t>While EVENT: </a:t>
            </a:r>
            <a:r>
              <a:rPr sz="1200" b="0" i="0">
                <a:solidFill>
                  <a:srgbClr val="52514E"/>
                </a:solidFill>
                <a:latin typeface="Calibri"/>
              </a:rPr>
              <a:t>learning paused. At the end: re-baseline if the level moved &gt; 3σ or D2 fired.</a:t>
            </a:r>
          </a:p>
        </p:txBody>
      </p:sp>
      <p:sp>
        <p:nvSpPr>
          <p:cNvPr id="30" name="TextBox 29"/>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98781"/>
                </a:solidFill>
                <a:latin typeface="Calibri"/>
              </a:rPr>
              <a:t>Sentinel  ·  Utkrishta 2026  ·  Challenge 2</a:t>
            </a:r>
          </a:p>
        </p:txBody>
      </p:sp>
      <p:sp>
        <p:nvSpPr>
          <p:cNvPr id="31" name="TextBox 30"/>
          <p:cNvSpPr txBox="1"/>
          <p:nvPr/>
        </p:nvSpPr>
        <p:spPr>
          <a:xfrm>
            <a:off x="10725912" y="6446520"/>
            <a:ext cx="914400" cy="274320"/>
          </a:xfrm>
          <a:prstGeom prst="rect">
            <a:avLst/>
          </a:prstGeom>
          <a:noFill/>
        </p:spPr>
        <p:txBody>
          <a:bodyPr wrap="square" anchor="t" lIns="0" rIns="0" tIns="0" bIns="0">
            <a:spAutoFit/>
          </a:bodyPr>
          <a:lstStyle/>
          <a:p>
            <a:pPr algn="r"/>
            <a:r>
              <a:rPr sz="1000" b="0" i="0">
                <a:solidFill>
                  <a:srgbClr val="898781"/>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r>
              <a:rPr sz="3200" b="1" i="0">
                <a:solidFill>
                  <a:srgbClr val="0B0B0B"/>
                </a:solidFill>
                <a:latin typeface="Calibri"/>
              </a:rPr>
              <a:t>Experiment log: v2 search, then v3 tests under a fixed rule</a:t>
            </a:r>
          </a:p>
        </p:txBody>
      </p:sp>
      <p:sp>
        <p:nvSpPr>
          <p:cNvPr id="3" name="TextBox 2"/>
          <p:cNvSpPr txBox="1"/>
          <p:nvPr/>
        </p:nvSpPr>
        <p:spPr>
          <a:xfrm>
            <a:off x="548640" y="987552"/>
            <a:ext cx="11064240" cy="411480"/>
          </a:xfrm>
          <a:prstGeom prst="rect">
            <a:avLst/>
          </a:prstGeom>
          <a:noFill/>
        </p:spPr>
        <p:txBody>
          <a:bodyPr wrap="square" anchor="t" lIns="0" rIns="0" tIns="0" bIns="0">
            <a:spAutoFit/>
          </a:bodyPr>
          <a:lstStyle/>
          <a:p>
            <a:pPr algn="l"/>
            <a:r>
              <a:rPr sz="1500" b="0" i="0">
                <a:solidFill>
                  <a:srgbClr val="52514E"/>
                </a:solidFill>
                <a:latin typeface="Calibri"/>
              </a:rPr>
              <a:t>v2: 231 configs, staged grid, every run in experiments/runs.csv  ·  v3: each candidate family vs the current one on held-out categories AND on the late half of every file</a:t>
            </a:r>
          </a:p>
        </p:txBody>
      </p:sp>
      <p:pic>
        <p:nvPicPr>
          <p:cNvPr id="4" name="Picture 3" descr="tuning.png"/>
          <p:cNvPicPr>
            <a:picLocks noChangeAspect="1"/>
          </p:cNvPicPr>
          <p:nvPr/>
        </p:nvPicPr>
        <p:blipFill>
          <a:blip r:embed="rId2"/>
          <a:stretch>
            <a:fillRect/>
          </a:stretch>
        </p:blipFill>
        <p:spPr>
          <a:xfrm>
            <a:off x="548640" y="1508760"/>
            <a:ext cx="4937760" cy="2403909"/>
          </a:xfrm>
          <a:prstGeom prst="rect">
            <a:avLst/>
          </a:prstGeom>
        </p:spPr>
      </p:pic>
      <p:graphicFrame>
        <p:nvGraphicFramePr>
          <p:cNvPr id="5" name="Table 4"/>
          <p:cNvGraphicFramePr>
            <a:graphicFrameLocks noGrp="1"/>
          </p:cNvGraphicFramePr>
          <p:nvPr/>
        </p:nvGraphicFramePr>
        <p:xfrm>
          <a:off x="548640" y="3703320"/>
          <a:ext cx="5394960" cy="2386584"/>
        </p:xfrm>
        <a:graphic>
          <a:graphicData uri="http://schemas.openxmlformats.org/drawingml/2006/table">
            <a:tbl>
              <a:tblPr firstRow="1" bandRow="1">
                <a:tableStyleId>{5C22544A-7EE6-4342-B048-85BDC9FD1C3A}</a:tableStyleId>
              </a:tblPr>
              <a:tblGrid>
                <a:gridCol w="2240280"/>
                <a:gridCol w="777240"/>
                <a:gridCol w="777240"/>
                <a:gridCol w="822960"/>
                <a:gridCol w="777240"/>
              </a:tblGrid>
              <a:tr h="265176">
                <a:tc>
                  <a:txBody>
                    <a:bodyPr/>
                    <a:lstStyle/>
                    <a:p>
                      <a:pPr algn="l"/>
                      <a:r>
                        <a:rPr sz="1000" b="1">
                          <a:solidFill>
                            <a:srgbClr val="FFFFFF"/>
                          </a:solidFill>
                          <a:latin typeface="Calibri"/>
                        </a:rPr>
                        <a:t>v3 candidate (θ 3.5–5.5)</a:t>
                      </a:r>
                    </a:p>
                  </a:txBody>
                  <a:tcPr marL="73152" marR="73152" marT="27432" marB="27432" anchor="ctr">
                    <a:solidFill>
                      <a:srgbClr val="0F1B2D"/>
                    </a:solidFill>
                  </a:tcPr>
                </a:tc>
                <a:tc>
                  <a:txBody>
                    <a:bodyPr/>
                    <a:lstStyle/>
                    <a:p>
                      <a:pPr algn="r"/>
                      <a:r>
                        <a:rPr sz="1000" b="1">
                          <a:solidFill>
                            <a:srgbClr val="FFFFFF"/>
                          </a:solidFill>
                          <a:latin typeface="Calibri"/>
                        </a:rPr>
                        <a:t>In-sample</a:t>
                      </a:r>
                    </a:p>
                  </a:txBody>
                  <a:tcPr marL="73152" marR="73152" marT="27432" marB="27432" anchor="ctr">
                    <a:solidFill>
                      <a:srgbClr val="0F1B2D"/>
                    </a:solidFill>
                  </a:tcPr>
                </a:tc>
                <a:tc>
                  <a:txBody>
                    <a:bodyPr/>
                    <a:lstStyle/>
                    <a:p>
                      <a:pPr algn="r"/>
                      <a:r>
                        <a:rPr sz="1000" b="1">
                          <a:solidFill>
                            <a:srgbClr val="FFFFFF"/>
                          </a:solidFill>
                          <a:latin typeface="Calibri"/>
                        </a:rPr>
                        <a:t>θ-LOCO</a:t>
                      </a:r>
                    </a:p>
                  </a:txBody>
                  <a:tcPr marL="73152" marR="73152" marT="27432" marB="27432" anchor="ctr">
                    <a:solidFill>
                      <a:srgbClr val="0F1B2D"/>
                    </a:solidFill>
                  </a:tcPr>
                </a:tc>
                <a:tc>
                  <a:txBody>
                    <a:bodyPr/>
                    <a:lstStyle/>
                    <a:p>
                      <a:pPr algn="r"/>
                      <a:r>
                        <a:rPr sz="1000" b="1">
                          <a:solidFill>
                            <a:srgbClr val="FFFFFF"/>
                          </a:solidFill>
                          <a:latin typeface="Calibri"/>
                        </a:rPr>
                        <a:t>Late half</a:t>
                      </a:r>
                    </a:p>
                  </a:txBody>
                  <a:tcPr marL="73152" marR="73152" marT="27432" marB="27432" anchor="ctr">
                    <a:solidFill>
                      <a:srgbClr val="0F1B2D"/>
                    </a:solidFill>
                  </a:tcPr>
                </a:tc>
                <a:tc>
                  <a:txBody>
                    <a:bodyPr/>
                    <a:lstStyle/>
                    <a:p>
                      <a:pPr algn="r"/>
                      <a:r>
                        <a:rPr sz="1000" b="1">
                          <a:solidFill>
                            <a:srgbClr val="FFFFFF"/>
                          </a:solidFill>
                          <a:latin typeface="Calibri"/>
                        </a:rPr>
                        <a:t/>
                      </a:r>
                    </a:p>
                  </a:txBody>
                  <a:tcPr marL="73152" marR="73152" marT="27432" marB="27432" anchor="ctr">
                    <a:solidFill>
                      <a:srgbClr val="0F1B2D"/>
                    </a:solidFill>
                  </a:tcPr>
                </a:tc>
              </a:tr>
              <a:tr h="265176">
                <a:tc>
                  <a:txBody>
                    <a:bodyPr/>
                    <a:lstStyle/>
                    <a:p>
                      <a:pPr algn="l"/>
                      <a:r>
                        <a:rPr sz="1000">
                          <a:solidFill>
                            <a:srgbClr val="52514E"/>
                          </a:solidFill>
                          <a:latin typeface="Calibri"/>
                        </a:rPr>
                        <a:t>current (D1 + D2)</a:t>
                      </a:r>
                    </a:p>
                  </a:txBody>
                  <a:tcPr marL="73152" marR="73152" marT="27432" marB="27432" anchor="ctr">
                    <a:solidFill>
                      <a:srgbClr val="FFFFFF"/>
                    </a:solidFill>
                  </a:tcPr>
                </a:tc>
                <a:tc>
                  <a:txBody>
                    <a:bodyPr/>
                    <a:lstStyle/>
                    <a:p>
                      <a:pPr algn="r"/>
                      <a:r>
                        <a:rPr sz="1000">
                          <a:solidFill>
                            <a:srgbClr val="52514E"/>
                          </a:solidFill>
                          <a:latin typeface="Calibri"/>
                        </a:rPr>
                        <a:t>0.479</a:t>
                      </a:r>
                    </a:p>
                  </a:txBody>
                  <a:tcPr marL="73152" marR="73152" marT="27432" marB="27432" anchor="ctr">
                    <a:solidFill>
                      <a:srgbClr val="FFFFFF"/>
                    </a:solidFill>
                  </a:tcPr>
                </a:tc>
                <a:tc>
                  <a:txBody>
                    <a:bodyPr/>
                    <a:lstStyle/>
                    <a:p>
                      <a:pPr algn="r"/>
                      <a:r>
                        <a:rPr sz="1000">
                          <a:solidFill>
                            <a:srgbClr val="52514E"/>
                          </a:solidFill>
                          <a:latin typeface="Calibri"/>
                        </a:rPr>
                        <a:t>0.479</a:t>
                      </a:r>
                    </a:p>
                  </a:txBody>
                  <a:tcPr marL="73152" marR="73152" marT="27432" marB="27432" anchor="ctr">
                    <a:solidFill>
                      <a:srgbClr val="FFFFFF"/>
                    </a:solidFill>
                  </a:tcPr>
                </a:tc>
                <a:tc>
                  <a:txBody>
                    <a:bodyPr/>
                    <a:lstStyle/>
                    <a:p>
                      <a:pPr algn="r"/>
                      <a:r>
                        <a:rPr sz="1000">
                          <a:solidFill>
                            <a:srgbClr val="52514E"/>
                          </a:solidFill>
                          <a:latin typeface="Calibri"/>
                        </a:rPr>
                        <a:t>0.527</a:t>
                      </a:r>
                    </a:p>
                  </a:txBody>
                  <a:tcPr marL="73152" marR="73152" marT="27432" marB="27432" anchor="ctr">
                    <a:solidFill>
                      <a:srgbClr val="FFFFFF"/>
                    </a:solidFill>
                  </a:tcPr>
                </a:tc>
                <a:tc>
                  <a:txBody>
                    <a:bodyPr/>
                    <a:lstStyle/>
                    <a:p>
                      <a:pPr algn="r"/>
                      <a:r>
                        <a:rPr sz="1000">
                          <a:solidFill>
                            <a:srgbClr val="52514E"/>
                          </a:solidFill>
                          <a:latin typeface="Calibri"/>
                        </a:rPr>
                        <a:t/>
                      </a:r>
                    </a:p>
                  </a:txBody>
                  <a:tcPr marL="73152" marR="73152" marT="27432" marB="27432" anchor="ctr">
                    <a:solidFill>
                      <a:srgbClr val="FFFFFF"/>
                    </a:solidFill>
                  </a:tcPr>
                </a:tc>
              </a:tr>
              <a:tr h="265176">
                <a:tc>
                  <a:txBody>
                    <a:bodyPr/>
                    <a:lstStyle/>
                    <a:p>
                      <a:pPr algn="l"/>
                      <a:r>
                        <a:rPr sz="1000" b="1">
                          <a:solidFill>
                            <a:srgbClr val="0B0B0B"/>
                          </a:solidFill>
                          <a:latin typeface="Calibri"/>
                        </a:rPr>
                        <a:t>D7 + D4 LOF</a:t>
                      </a:r>
                    </a:p>
                  </a:txBody>
                  <a:tcPr marL="73152" marR="73152" marT="27432" marB="27432" anchor="ctr">
                    <a:solidFill>
                      <a:srgbClr val="EEF4FC"/>
                    </a:solidFill>
                  </a:tcPr>
                </a:tc>
                <a:tc>
                  <a:txBody>
                    <a:bodyPr/>
                    <a:lstStyle/>
                    <a:p>
                      <a:pPr algn="r"/>
                      <a:r>
                        <a:rPr sz="1000" b="1">
                          <a:solidFill>
                            <a:srgbClr val="0B0B0B"/>
                          </a:solidFill>
                          <a:latin typeface="Calibri"/>
                        </a:rPr>
                        <a:t>0.541</a:t>
                      </a:r>
                    </a:p>
                  </a:txBody>
                  <a:tcPr marL="73152" marR="73152" marT="27432" marB="27432" anchor="ctr">
                    <a:solidFill>
                      <a:srgbClr val="EEF4FC"/>
                    </a:solidFill>
                  </a:tcPr>
                </a:tc>
                <a:tc>
                  <a:txBody>
                    <a:bodyPr/>
                    <a:lstStyle/>
                    <a:p>
                      <a:pPr algn="r"/>
                      <a:r>
                        <a:rPr sz="1000" b="1">
                          <a:solidFill>
                            <a:srgbClr val="0B0B0B"/>
                          </a:solidFill>
                          <a:latin typeface="Calibri"/>
                        </a:rPr>
                        <a:t>0.482</a:t>
                      </a:r>
                    </a:p>
                  </a:txBody>
                  <a:tcPr marL="73152" marR="73152" marT="27432" marB="27432" anchor="ctr">
                    <a:solidFill>
                      <a:srgbClr val="EEF4FC"/>
                    </a:solidFill>
                  </a:tcPr>
                </a:tc>
                <a:tc>
                  <a:txBody>
                    <a:bodyPr/>
                    <a:lstStyle/>
                    <a:p>
                      <a:pPr algn="r"/>
                      <a:r>
                        <a:rPr sz="1000" b="1">
                          <a:solidFill>
                            <a:srgbClr val="0B0B0B"/>
                          </a:solidFill>
                          <a:latin typeface="Calibri"/>
                        </a:rPr>
                        <a:t>0.571</a:t>
                      </a:r>
                    </a:p>
                  </a:txBody>
                  <a:tcPr marL="73152" marR="73152" marT="27432" marB="27432" anchor="ctr">
                    <a:solidFill>
                      <a:srgbClr val="EEF4FC"/>
                    </a:solidFill>
                  </a:tcPr>
                </a:tc>
                <a:tc>
                  <a:txBody>
                    <a:bodyPr/>
                    <a:lstStyle/>
                    <a:p>
                      <a:pPr algn="r"/>
                      <a:r>
                        <a:rPr sz="1000" b="1">
                          <a:solidFill>
                            <a:srgbClr val="0B0B0B"/>
                          </a:solidFill>
                          <a:latin typeface="Calibri"/>
                        </a:rPr>
                        <a:t>adopted</a:t>
                      </a:r>
                    </a:p>
                  </a:txBody>
                  <a:tcPr marL="73152" marR="73152" marT="27432" marB="27432" anchor="ctr">
                    <a:solidFill>
                      <a:srgbClr val="EEF4FC"/>
                    </a:solidFill>
                  </a:tcPr>
                </a:tc>
              </a:tr>
              <a:tr h="265176">
                <a:tc>
                  <a:txBody>
                    <a:bodyPr/>
                    <a:lstStyle/>
                    <a:p>
                      <a:pPr algn="l"/>
                      <a:r>
                        <a:rPr sz="1000">
                          <a:solidFill>
                            <a:srgbClr val="52514E"/>
                          </a:solidFill>
                          <a:latin typeface="Calibri"/>
                        </a:rPr>
                        <a:t>D8 AR forecast</a:t>
                      </a:r>
                    </a:p>
                  </a:txBody>
                  <a:tcPr marL="73152" marR="73152" marT="27432" marB="27432" anchor="ctr">
                    <a:solidFill>
                      <a:srgbClr val="FFFFFF"/>
                    </a:solidFill>
                  </a:tcPr>
                </a:tc>
                <a:tc>
                  <a:txBody>
                    <a:bodyPr/>
                    <a:lstStyle/>
                    <a:p>
                      <a:pPr algn="r"/>
                      <a:r>
                        <a:rPr sz="1000">
                          <a:solidFill>
                            <a:srgbClr val="52514E"/>
                          </a:solidFill>
                          <a:latin typeface="Calibri"/>
                        </a:rPr>
                        <a:t>0.482</a:t>
                      </a:r>
                    </a:p>
                  </a:txBody>
                  <a:tcPr marL="73152" marR="73152" marT="27432" marB="27432" anchor="ctr">
                    <a:solidFill>
                      <a:srgbClr val="FFFFFF"/>
                    </a:solidFill>
                  </a:tcPr>
                </a:tc>
                <a:tc>
                  <a:txBody>
                    <a:bodyPr/>
                    <a:lstStyle/>
                    <a:p>
                      <a:pPr algn="r"/>
                      <a:r>
                        <a:rPr sz="1000">
                          <a:solidFill>
                            <a:srgbClr val="52514E"/>
                          </a:solidFill>
                          <a:latin typeface="Calibri"/>
                        </a:rPr>
                        <a:t>0.464</a:t>
                      </a:r>
                    </a:p>
                  </a:txBody>
                  <a:tcPr marL="73152" marR="73152" marT="27432" marB="27432" anchor="ctr">
                    <a:solidFill>
                      <a:srgbClr val="FFFFFF"/>
                    </a:solidFill>
                  </a:tcPr>
                </a:tc>
                <a:tc>
                  <a:txBody>
                    <a:bodyPr/>
                    <a:lstStyle/>
                    <a:p>
                      <a:pPr algn="r"/>
                      <a:r>
                        <a:rPr sz="1000">
                          <a:solidFill>
                            <a:srgbClr val="52514E"/>
                          </a:solidFill>
                          <a:latin typeface="Calibri"/>
                        </a:rPr>
                        <a:t>0.541</a:t>
                      </a:r>
                    </a:p>
                  </a:txBody>
                  <a:tcPr marL="73152" marR="73152" marT="27432" marB="27432" anchor="ctr">
                    <a:solidFill>
                      <a:srgbClr val="FFFFFF"/>
                    </a:solidFill>
                  </a:tcPr>
                </a:tc>
                <a:tc>
                  <a:txBody>
                    <a:bodyPr/>
                    <a:lstStyle/>
                    <a:p>
                      <a:pPr algn="r"/>
                      <a:r>
                        <a:rPr sz="1000">
                          <a:solidFill>
                            <a:srgbClr val="52514E"/>
                          </a:solidFill>
                          <a:latin typeface="Calibri"/>
                        </a:rPr>
                        <a:t>–</a:t>
                      </a:r>
                    </a:p>
                  </a:txBody>
                  <a:tcPr marL="73152" marR="73152" marT="27432" marB="27432" anchor="ctr">
                    <a:solidFill>
                      <a:srgbClr val="FFFFFF"/>
                    </a:solidFill>
                  </a:tcPr>
                </a:tc>
              </a:tr>
              <a:tr h="265176">
                <a:tc>
                  <a:txBody>
                    <a:bodyPr/>
                    <a:lstStyle/>
                    <a:p>
                      <a:pPr algn="l"/>
                      <a:r>
                        <a:rPr sz="1000">
                          <a:solidFill>
                            <a:srgbClr val="52514E"/>
                          </a:solidFill>
                          <a:latin typeface="Calibri"/>
                        </a:rPr>
                        <a:t>D7 subspace (lag 32)</a:t>
                      </a:r>
                    </a:p>
                  </a:txBody>
                  <a:tcPr marL="73152" marR="73152" marT="27432" marB="27432" anchor="ctr">
                    <a:solidFill>
                      <a:srgbClr val="F7F7F5"/>
                    </a:solidFill>
                  </a:tcPr>
                </a:tc>
                <a:tc>
                  <a:txBody>
                    <a:bodyPr/>
                    <a:lstStyle/>
                    <a:p>
                      <a:pPr algn="r"/>
                      <a:r>
                        <a:rPr sz="1000">
                          <a:solidFill>
                            <a:srgbClr val="52514E"/>
                          </a:solidFill>
                          <a:latin typeface="Calibri"/>
                        </a:rPr>
                        <a:t>0.532</a:t>
                      </a:r>
                    </a:p>
                  </a:txBody>
                  <a:tcPr marL="73152" marR="73152" marT="27432" marB="27432" anchor="ctr">
                    <a:solidFill>
                      <a:srgbClr val="F7F7F5"/>
                    </a:solidFill>
                  </a:tcPr>
                </a:tc>
                <a:tc>
                  <a:txBody>
                    <a:bodyPr/>
                    <a:lstStyle/>
                    <a:p>
                      <a:pPr algn="r"/>
                      <a:r>
                        <a:rPr sz="1000">
                          <a:solidFill>
                            <a:srgbClr val="52514E"/>
                          </a:solidFill>
                          <a:latin typeface="Calibri"/>
                        </a:rPr>
                        <a:t>0.509</a:t>
                      </a:r>
                    </a:p>
                  </a:txBody>
                  <a:tcPr marL="73152" marR="73152" marT="27432" marB="27432" anchor="ctr">
                    <a:solidFill>
                      <a:srgbClr val="F7F7F5"/>
                    </a:solidFill>
                  </a:tcPr>
                </a:tc>
                <a:tc>
                  <a:txBody>
                    <a:bodyPr/>
                    <a:lstStyle/>
                    <a:p>
                      <a:pPr algn="r"/>
                      <a:r>
                        <a:rPr sz="1000">
                          <a:solidFill>
                            <a:srgbClr val="52514E"/>
                          </a:solidFill>
                          <a:latin typeface="Calibri"/>
                        </a:rPr>
                        <a:t>0.538</a:t>
                      </a:r>
                    </a:p>
                  </a:txBody>
                  <a:tcPr marL="73152" marR="73152" marT="27432" marB="27432" anchor="ctr">
                    <a:solidFill>
                      <a:srgbClr val="F7F7F5"/>
                    </a:solidFill>
                  </a:tcPr>
                </a:tc>
                <a:tc>
                  <a:txBody>
                    <a:bodyPr/>
                    <a:lstStyle/>
                    <a:p>
                      <a:pPr algn="r"/>
                      <a:r>
                        <a:rPr sz="1000">
                          <a:solidFill>
                            <a:srgbClr val="52514E"/>
                          </a:solidFill>
                          <a:latin typeface="Calibri"/>
                        </a:rPr>
                        <a:t>adopted</a:t>
                      </a:r>
                    </a:p>
                  </a:txBody>
                  <a:tcPr marL="73152" marR="73152" marT="27432" marB="27432" anchor="ctr">
                    <a:solidFill>
                      <a:srgbClr val="F7F7F5"/>
                    </a:solidFill>
                  </a:tcPr>
                </a:tc>
              </a:tr>
              <a:tr h="265176">
                <a:tc>
                  <a:txBody>
                    <a:bodyPr/>
                    <a:lstStyle/>
                    <a:p>
                      <a:pPr algn="l"/>
                      <a:r>
                        <a:rPr sz="1000">
                          <a:solidFill>
                            <a:srgbClr val="52514E"/>
                          </a:solidFill>
                          <a:latin typeface="Calibri"/>
                        </a:rPr>
                        <a:t>D7 subspace, lag tuned</a:t>
                      </a:r>
                    </a:p>
                  </a:txBody>
                  <a:tcPr marL="73152" marR="73152" marT="27432" marB="27432" anchor="ctr">
                    <a:solidFill>
                      <a:srgbClr val="FFFFFF"/>
                    </a:solidFill>
                  </a:tcPr>
                </a:tc>
                <a:tc>
                  <a:txBody>
                    <a:bodyPr/>
                    <a:lstStyle/>
                    <a:p>
                      <a:pPr algn="r"/>
                      <a:r>
                        <a:rPr sz="1000">
                          <a:solidFill>
                            <a:srgbClr val="52514E"/>
                          </a:solidFill>
                          <a:latin typeface="Calibri"/>
                        </a:rPr>
                        <a:t>0.533</a:t>
                      </a:r>
                    </a:p>
                  </a:txBody>
                  <a:tcPr marL="73152" marR="73152" marT="27432" marB="27432" anchor="ctr">
                    <a:solidFill>
                      <a:srgbClr val="FFFFFF"/>
                    </a:solidFill>
                  </a:tcPr>
                </a:tc>
                <a:tc>
                  <a:txBody>
                    <a:bodyPr/>
                    <a:lstStyle/>
                    <a:p>
                      <a:pPr algn="r"/>
                      <a:r>
                        <a:rPr sz="1000">
                          <a:solidFill>
                            <a:srgbClr val="52514E"/>
                          </a:solidFill>
                          <a:latin typeface="Calibri"/>
                        </a:rPr>
                        <a:t>0.476</a:t>
                      </a:r>
                    </a:p>
                  </a:txBody>
                  <a:tcPr marL="73152" marR="73152" marT="27432" marB="27432" anchor="ctr">
                    <a:solidFill>
                      <a:srgbClr val="FFFFFF"/>
                    </a:solidFill>
                  </a:tcPr>
                </a:tc>
                <a:tc>
                  <a:txBody>
                    <a:bodyPr/>
                    <a:lstStyle/>
                    <a:p>
                      <a:pPr algn="r"/>
                      <a:r>
                        <a:rPr sz="1000">
                          <a:solidFill>
                            <a:srgbClr val="52514E"/>
                          </a:solidFill>
                          <a:latin typeface="Calibri"/>
                        </a:rPr>
                        <a:t>0.538</a:t>
                      </a:r>
                    </a:p>
                  </a:txBody>
                  <a:tcPr marL="73152" marR="73152" marT="27432" marB="27432" anchor="ctr">
                    <a:solidFill>
                      <a:srgbClr val="FFFFFF"/>
                    </a:solidFill>
                  </a:tcPr>
                </a:tc>
                <a:tc>
                  <a:txBody>
                    <a:bodyPr/>
                    <a:lstStyle/>
                    <a:p>
                      <a:pPr algn="r"/>
                      <a:r>
                        <a:rPr sz="1000">
                          <a:solidFill>
                            <a:srgbClr val="52514E"/>
                          </a:solidFill>
                          <a:latin typeface="Calibri"/>
                        </a:rPr>
                        <a:t>–</a:t>
                      </a:r>
                    </a:p>
                  </a:txBody>
                  <a:tcPr marL="73152" marR="73152" marT="27432" marB="27432" anchor="ctr">
                    <a:solidFill>
                      <a:srgbClr val="FFFFFF"/>
                    </a:solidFill>
                  </a:tcPr>
                </a:tc>
              </a:tr>
              <a:tr h="265176">
                <a:tc>
                  <a:txBody>
                    <a:bodyPr/>
                    <a:lstStyle/>
                    <a:p>
                      <a:pPr algn="l"/>
                      <a:r>
                        <a:rPr sz="1000">
                          <a:solidFill>
                            <a:srgbClr val="52514E"/>
                          </a:solidFill>
                          <a:latin typeface="Calibri"/>
                        </a:rPr>
                        <a:t>D7 + D6 T²</a:t>
                      </a:r>
                    </a:p>
                  </a:txBody>
                  <a:tcPr marL="73152" marR="73152" marT="27432" marB="27432" anchor="ctr">
                    <a:solidFill>
                      <a:srgbClr val="F7F7F5"/>
                    </a:solidFill>
                  </a:tcPr>
                </a:tc>
                <a:tc>
                  <a:txBody>
                    <a:bodyPr/>
                    <a:lstStyle/>
                    <a:p>
                      <a:pPr algn="r"/>
                      <a:r>
                        <a:rPr sz="1000">
                          <a:solidFill>
                            <a:srgbClr val="52514E"/>
                          </a:solidFill>
                          <a:latin typeface="Calibri"/>
                        </a:rPr>
                        <a:t>0.523</a:t>
                      </a:r>
                    </a:p>
                  </a:txBody>
                  <a:tcPr marL="73152" marR="73152" marT="27432" marB="27432" anchor="ctr">
                    <a:solidFill>
                      <a:srgbClr val="F7F7F5"/>
                    </a:solidFill>
                  </a:tcPr>
                </a:tc>
                <a:tc>
                  <a:txBody>
                    <a:bodyPr/>
                    <a:lstStyle/>
                    <a:p>
                      <a:pPr algn="r"/>
                      <a:r>
                        <a:rPr sz="1000">
                          <a:solidFill>
                            <a:srgbClr val="52514E"/>
                          </a:solidFill>
                          <a:latin typeface="Calibri"/>
                        </a:rPr>
                        <a:t>0.496</a:t>
                      </a:r>
                    </a:p>
                  </a:txBody>
                  <a:tcPr marL="73152" marR="73152" marT="27432" marB="27432" anchor="ctr">
                    <a:solidFill>
                      <a:srgbClr val="F7F7F5"/>
                    </a:solidFill>
                  </a:tcPr>
                </a:tc>
                <a:tc>
                  <a:txBody>
                    <a:bodyPr/>
                    <a:lstStyle/>
                    <a:p>
                      <a:pPr algn="r"/>
                      <a:r>
                        <a:rPr sz="1000">
                          <a:solidFill>
                            <a:srgbClr val="52514E"/>
                          </a:solidFill>
                          <a:latin typeface="Calibri"/>
                        </a:rPr>
                        <a:t>0.531</a:t>
                      </a:r>
                    </a:p>
                  </a:txBody>
                  <a:tcPr marL="73152" marR="73152" marT="27432" marB="27432" anchor="ctr">
                    <a:solidFill>
                      <a:srgbClr val="F7F7F5"/>
                    </a:solidFill>
                  </a:tcPr>
                </a:tc>
                <a:tc>
                  <a:txBody>
                    <a:bodyPr/>
                    <a:lstStyle/>
                    <a:p>
                      <a:pPr algn="r"/>
                      <a:r>
                        <a:rPr sz="1000">
                          <a:solidFill>
                            <a:srgbClr val="52514E"/>
                          </a:solidFill>
                          <a:latin typeface="Calibri"/>
                        </a:rPr>
                        <a:t>adopted</a:t>
                      </a:r>
                    </a:p>
                  </a:txBody>
                  <a:tcPr marL="73152" marR="73152" marT="27432" marB="27432" anchor="ctr">
                    <a:solidFill>
                      <a:srgbClr val="F7F7F5"/>
                    </a:solidFill>
                  </a:tcPr>
                </a:tc>
              </a:tr>
              <a:tr h="265176">
                <a:tc>
                  <a:txBody>
                    <a:bodyPr/>
                    <a:lstStyle/>
                    <a:p>
                      <a:pPr algn="l"/>
                      <a:r>
                        <a:rPr sz="1000">
                          <a:solidFill>
                            <a:srgbClr val="52514E"/>
                          </a:solidFill>
                          <a:latin typeface="Calibri"/>
                        </a:rPr>
                        <a:t>D7 + D9 neural</a:t>
                      </a:r>
                    </a:p>
                  </a:txBody>
                  <a:tcPr marL="73152" marR="73152" marT="27432" marB="27432" anchor="ctr">
                    <a:solidFill>
                      <a:srgbClr val="FFFFFF"/>
                    </a:solidFill>
                  </a:tcPr>
                </a:tc>
                <a:tc>
                  <a:txBody>
                    <a:bodyPr/>
                    <a:lstStyle/>
                    <a:p>
                      <a:pPr algn="r"/>
                      <a:r>
                        <a:rPr sz="1000">
                          <a:solidFill>
                            <a:srgbClr val="52514E"/>
                          </a:solidFill>
                          <a:latin typeface="Calibri"/>
                        </a:rPr>
                        <a:t>0.530</a:t>
                      </a:r>
                    </a:p>
                  </a:txBody>
                  <a:tcPr marL="73152" marR="73152" marT="27432" marB="27432" anchor="ctr">
                    <a:solidFill>
                      <a:srgbClr val="FFFFFF"/>
                    </a:solidFill>
                  </a:tcPr>
                </a:tc>
                <a:tc>
                  <a:txBody>
                    <a:bodyPr/>
                    <a:lstStyle/>
                    <a:p>
                      <a:pPr algn="r"/>
                      <a:r>
                        <a:rPr sz="1000">
                          <a:solidFill>
                            <a:srgbClr val="52514E"/>
                          </a:solidFill>
                          <a:latin typeface="Calibri"/>
                        </a:rPr>
                        <a:t>0.504</a:t>
                      </a:r>
                    </a:p>
                  </a:txBody>
                  <a:tcPr marL="73152" marR="73152" marT="27432" marB="27432" anchor="ctr">
                    <a:solidFill>
                      <a:srgbClr val="FFFFFF"/>
                    </a:solidFill>
                  </a:tcPr>
                </a:tc>
                <a:tc>
                  <a:txBody>
                    <a:bodyPr/>
                    <a:lstStyle/>
                    <a:p>
                      <a:pPr algn="r"/>
                      <a:r>
                        <a:rPr sz="1000">
                          <a:solidFill>
                            <a:srgbClr val="52514E"/>
                          </a:solidFill>
                          <a:latin typeface="Calibri"/>
                        </a:rPr>
                        <a:t>0.528</a:t>
                      </a:r>
                    </a:p>
                  </a:txBody>
                  <a:tcPr marL="73152" marR="73152" marT="27432" marB="27432" anchor="ctr">
                    <a:solidFill>
                      <a:srgbClr val="FFFFFF"/>
                    </a:solidFill>
                  </a:tcPr>
                </a:tc>
                <a:tc>
                  <a:txBody>
                    <a:bodyPr/>
                    <a:lstStyle/>
                    <a:p>
                      <a:pPr algn="r"/>
                      <a:r>
                        <a:rPr sz="1000">
                          <a:solidFill>
                            <a:srgbClr val="52514E"/>
                          </a:solidFill>
                          <a:latin typeface="Calibri"/>
                        </a:rPr>
                        <a:t>adopted</a:t>
                      </a:r>
                    </a:p>
                  </a:txBody>
                  <a:tcPr marL="73152" marR="73152" marT="27432" marB="27432" anchor="ctr">
                    <a:solidFill>
                      <a:srgbClr val="FFFFFF"/>
                    </a:solidFill>
                  </a:tcPr>
                </a:tc>
              </a:tr>
              <a:tr h="265176">
                <a:tc>
                  <a:txBody>
                    <a:bodyPr/>
                    <a:lstStyle/>
                    <a:p>
                      <a:pPr algn="l"/>
                      <a:r>
                        <a:rPr sz="1000">
                          <a:solidFill>
                            <a:srgbClr val="52514E"/>
                          </a:solidFill>
                          <a:latin typeface="Calibri"/>
                        </a:rPr>
                        <a:t>D6 Hotelling T²</a:t>
                      </a:r>
                    </a:p>
                  </a:txBody>
                  <a:tcPr marL="73152" marR="73152" marT="27432" marB="27432" anchor="ctr">
                    <a:solidFill>
                      <a:srgbClr val="F7F7F5"/>
                    </a:solidFill>
                  </a:tcPr>
                </a:tc>
                <a:tc>
                  <a:txBody>
                    <a:bodyPr/>
                    <a:lstStyle/>
                    <a:p>
                      <a:pPr algn="r"/>
                      <a:r>
                        <a:rPr sz="1000">
                          <a:solidFill>
                            <a:srgbClr val="52514E"/>
                          </a:solidFill>
                          <a:latin typeface="Calibri"/>
                        </a:rPr>
                        <a:t>0.541</a:t>
                      </a:r>
                    </a:p>
                  </a:txBody>
                  <a:tcPr marL="73152" marR="73152" marT="27432" marB="27432" anchor="ctr">
                    <a:solidFill>
                      <a:srgbClr val="F7F7F5"/>
                    </a:solidFill>
                  </a:tcPr>
                </a:tc>
                <a:tc>
                  <a:txBody>
                    <a:bodyPr/>
                    <a:lstStyle/>
                    <a:p>
                      <a:pPr algn="r"/>
                      <a:r>
                        <a:rPr sz="1000">
                          <a:solidFill>
                            <a:srgbClr val="52514E"/>
                          </a:solidFill>
                          <a:latin typeface="Calibri"/>
                        </a:rPr>
                        <a:t>0.485</a:t>
                      </a:r>
                    </a:p>
                  </a:txBody>
                  <a:tcPr marL="73152" marR="73152" marT="27432" marB="27432" anchor="ctr">
                    <a:solidFill>
                      <a:srgbClr val="F7F7F5"/>
                    </a:solidFill>
                  </a:tcPr>
                </a:tc>
                <a:tc>
                  <a:txBody>
                    <a:bodyPr/>
                    <a:lstStyle/>
                    <a:p>
                      <a:pPr algn="r"/>
                      <a:r>
                        <a:rPr sz="1000">
                          <a:solidFill>
                            <a:srgbClr val="52514E"/>
                          </a:solidFill>
                          <a:latin typeface="Calibri"/>
                        </a:rPr>
                        <a:t>0.527</a:t>
                      </a:r>
                    </a:p>
                  </a:txBody>
                  <a:tcPr marL="73152" marR="73152" marT="27432" marB="27432" anchor="ctr">
                    <a:solidFill>
                      <a:srgbClr val="F7F7F5"/>
                    </a:solidFill>
                  </a:tcPr>
                </a:tc>
                <a:tc>
                  <a:txBody>
                    <a:bodyPr/>
                    <a:lstStyle/>
                    <a:p>
                      <a:pPr algn="r"/>
                      <a:r>
                        <a:rPr sz="1000">
                          <a:solidFill>
                            <a:srgbClr val="52514E"/>
                          </a:solidFill>
                          <a:latin typeface="Calibri"/>
                        </a:rPr>
                        <a:t>–</a:t>
                      </a:r>
                    </a:p>
                  </a:txBody>
                  <a:tcPr marL="73152" marR="73152" marT="27432" marB="27432" anchor="ctr">
                    <a:solidFill>
                      <a:srgbClr val="F7F7F5"/>
                    </a:solidFill>
                  </a:tcPr>
                </a:tc>
              </a:tr>
            </a:tbl>
          </a:graphicData>
        </a:graphic>
      </p:graphicFrame>
      <p:graphicFrame>
        <p:nvGraphicFramePr>
          <p:cNvPr id="6" name="Chart 5"/>
          <p:cNvGraphicFramePr>
            <a:graphicFrameLocks noGrp="1"/>
          </p:cNvGraphicFramePr>
          <p:nvPr/>
        </p:nvGraphicFramePr>
        <p:xfrm>
          <a:off x="6400800" y="1417320"/>
          <a:ext cx="5257800" cy="3931920"/>
        </p:xfrm>
        <a:graphic>
          <a:graphicData uri="http://schemas.openxmlformats.org/drawingml/2006/chart">
            <c:chart xmlns:c="http://schemas.openxmlformats.org/drawingml/2006/chart" r:id="rId3"/>
          </a:graphicData>
        </a:graphic>
      </p:graphicFrame>
      <p:sp>
        <p:nvSpPr>
          <p:cNvPr id="7" name="TextBox 6"/>
          <p:cNvSpPr txBox="1"/>
          <p:nvPr/>
        </p:nvSpPr>
        <p:spPr>
          <a:xfrm>
            <a:off x="6400800" y="5349240"/>
            <a:ext cx="5257800" cy="548640"/>
          </a:xfrm>
          <a:prstGeom prst="rect">
            <a:avLst/>
          </a:prstGeom>
          <a:noFill/>
        </p:spPr>
        <p:txBody>
          <a:bodyPr wrap="square" anchor="t" lIns="0" rIns="0" tIns="0" bIns="0">
            <a:spAutoFit/>
          </a:bodyPr>
          <a:lstStyle/>
          <a:p>
            <a:pPr algn="l"/>
            <a:r>
              <a:rPr sz="1100" b="0" i="0">
                <a:solidFill>
                  <a:srgbClr val="898781"/>
                </a:solidFill>
                <a:latin typeface="Calibri"/>
              </a:rPr>
              <a:t>Ablation of the final system: trigger-based event F1 (ET), each variant with its own best θ_enter (results/ablation.csv)</a:t>
            </a:r>
          </a:p>
        </p:txBody>
      </p:sp>
      <p:sp>
        <p:nvSpPr>
          <p:cNvPr id="8" name="TextBox 7"/>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98781"/>
                </a:solidFill>
                <a:latin typeface="Calibri"/>
              </a:rPr>
              <a:t>Sentinel  ·  Utkrishta 2026  ·  Challenge 2</a:t>
            </a:r>
          </a:p>
        </p:txBody>
      </p:sp>
      <p:sp>
        <p:nvSpPr>
          <p:cNvPr id="9" name="TextBox 8"/>
          <p:cNvSpPr txBox="1"/>
          <p:nvPr/>
        </p:nvSpPr>
        <p:spPr>
          <a:xfrm>
            <a:off x="10725912" y="6446520"/>
            <a:ext cx="914400" cy="274320"/>
          </a:xfrm>
          <a:prstGeom prst="rect">
            <a:avLst/>
          </a:prstGeom>
          <a:noFill/>
        </p:spPr>
        <p:txBody>
          <a:bodyPr wrap="square" anchor="t" lIns="0" rIns="0" tIns="0" bIns="0">
            <a:spAutoFit/>
          </a:bodyPr>
          <a:lstStyle/>
          <a:p>
            <a:pPr algn="r"/>
            <a:r>
              <a:rPr sz="1000" b="0" i="0">
                <a:solidFill>
                  <a:srgbClr val="898781"/>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r>
              <a:rPr sz="3200" b="1" i="0">
                <a:solidFill>
                  <a:srgbClr val="0B0B0B"/>
                </a:solidFill>
                <a:latin typeface="Calibri"/>
              </a:rPr>
              <a:t>Event F1 counted at the alert trigger, on held-out categories</a:t>
            </a:r>
          </a:p>
        </p:txBody>
      </p:sp>
      <p:sp>
        <p:nvSpPr>
          <p:cNvPr id="3" name="TextBox 2"/>
          <p:cNvSpPr txBox="1"/>
          <p:nvPr/>
        </p:nvSpPr>
        <p:spPr>
          <a:xfrm>
            <a:off x="548640" y="987552"/>
            <a:ext cx="11064240" cy="411480"/>
          </a:xfrm>
          <a:prstGeom prst="rect">
            <a:avLst/>
          </a:prstGeom>
          <a:noFill/>
        </p:spPr>
        <p:txBody>
          <a:bodyPr wrap="square" anchor="t" lIns="0" rIns="0" tIns="0" bIns="0">
            <a:spAutoFit/>
          </a:bodyPr>
          <a:lstStyle/>
          <a:p>
            <a:pPr algn="l"/>
            <a:r>
              <a:rPr sz="1500" b="0" i="0">
                <a:solidFill>
                  <a:srgbClr val="52514E"/>
                </a:solidFill>
                <a:latin typeface="Calibri"/>
              </a:rPr>
              <a:t>No official evaluator was given, so we defined the metric and audited it against degenerate strategies</a:t>
            </a:r>
          </a:p>
        </p:txBody>
      </p:sp>
      <p:sp>
        <p:nvSpPr>
          <p:cNvPr id="4" name="Rectangle 3"/>
          <p:cNvSpPr/>
          <p:nvPr/>
        </p:nvSpPr>
        <p:spPr>
          <a:xfrm>
            <a:off x="548640" y="2011680"/>
            <a:ext cx="5212080" cy="54864"/>
          </a:xfrm>
          <a:prstGeom prst="rect">
            <a:avLst/>
          </a:prstGeom>
          <a:solidFill>
            <a:srgbClr val="C3C2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1508760"/>
            <a:ext cx="1463040" cy="457200"/>
          </a:xfrm>
          <a:prstGeom prst="rect">
            <a:avLst/>
          </a:prstGeom>
          <a:solidFill>
            <a:srgbClr val="FBD9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840480" y="1508760"/>
            <a:ext cx="1280160" cy="457200"/>
          </a:xfrm>
          <a:prstGeom prst="rect">
            <a:avLst/>
          </a:prstGeom>
          <a:solidFill>
            <a:srgbClr val="FBD9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554480" y="2121408"/>
            <a:ext cx="45720" cy="36576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063240" y="2121408"/>
            <a:ext cx="45720" cy="36576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2121408"/>
            <a:ext cx="45720" cy="36576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17319" y="2468880"/>
            <a:ext cx="1188720" cy="365760"/>
          </a:xfrm>
          <a:prstGeom prst="rect">
            <a:avLst/>
          </a:prstGeom>
          <a:noFill/>
        </p:spPr>
        <p:txBody>
          <a:bodyPr wrap="square" anchor="t" lIns="0" rIns="0" tIns="0" bIns="0">
            <a:spAutoFit/>
          </a:bodyPr>
          <a:lstStyle/>
          <a:p>
            <a:pPr algn="l"/>
            <a:r>
              <a:rPr sz="1100" b="0" i="0">
                <a:solidFill>
                  <a:srgbClr val="52514E"/>
                </a:solidFill>
                <a:latin typeface="Calibri"/>
              </a:rPr>
              <a:t>true alert</a:t>
            </a:r>
          </a:p>
        </p:txBody>
      </p:sp>
      <p:sp>
        <p:nvSpPr>
          <p:cNvPr id="11" name="TextBox 10"/>
          <p:cNvSpPr txBox="1"/>
          <p:nvPr/>
        </p:nvSpPr>
        <p:spPr>
          <a:xfrm>
            <a:off x="2788920" y="2468880"/>
            <a:ext cx="1097280" cy="365760"/>
          </a:xfrm>
          <a:prstGeom prst="rect">
            <a:avLst/>
          </a:prstGeom>
          <a:noFill/>
        </p:spPr>
        <p:txBody>
          <a:bodyPr wrap="square" anchor="t" lIns="0" rIns="0" tIns="0" bIns="0">
            <a:spAutoFit/>
          </a:bodyPr>
          <a:lstStyle/>
          <a:p>
            <a:pPr algn="l"/>
            <a:r>
              <a:rPr sz="1100" b="0" i="0">
                <a:solidFill>
                  <a:srgbClr val="52514E"/>
                </a:solidFill>
                <a:latin typeface="Calibri"/>
              </a:rPr>
              <a:t>false alert</a:t>
            </a:r>
          </a:p>
        </p:txBody>
      </p:sp>
      <p:sp>
        <p:nvSpPr>
          <p:cNvPr id="12" name="TextBox 11"/>
          <p:cNvSpPr txBox="1"/>
          <p:nvPr/>
        </p:nvSpPr>
        <p:spPr>
          <a:xfrm>
            <a:off x="502919" y="2468880"/>
            <a:ext cx="914400" cy="365760"/>
          </a:xfrm>
          <a:prstGeom prst="rect">
            <a:avLst/>
          </a:prstGeom>
          <a:noFill/>
        </p:spPr>
        <p:txBody>
          <a:bodyPr wrap="square" anchor="t" lIns="0" rIns="0" tIns="0" bIns="0">
            <a:spAutoFit/>
          </a:bodyPr>
          <a:lstStyle/>
          <a:p>
            <a:pPr algn="l"/>
            <a:r>
              <a:rPr sz="1100" b="0" i="0">
                <a:solidFill>
                  <a:srgbClr val="52514E"/>
                </a:solidFill>
                <a:latin typeface="Calibri"/>
              </a:rPr>
              <a:t>false</a:t>
            </a:r>
          </a:p>
        </p:txBody>
      </p:sp>
      <p:sp>
        <p:nvSpPr>
          <p:cNvPr id="13" name="TextBox 12"/>
          <p:cNvSpPr txBox="1"/>
          <p:nvPr/>
        </p:nvSpPr>
        <p:spPr>
          <a:xfrm>
            <a:off x="3840480" y="2468880"/>
            <a:ext cx="1463040" cy="365760"/>
          </a:xfrm>
          <a:prstGeom prst="rect">
            <a:avLst/>
          </a:prstGeom>
          <a:noFill/>
        </p:spPr>
        <p:txBody>
          <a:bodyPr wrap="square" anchor="t" lIns="0" rIns="0" tIns="0" bIns="0">
            <a:spAutoFit/>
          </a:bodyPr>
          <a:lstStyle/>
          <a:p>
            <a:pPr algn="l"/>
            <a:r>
              <a:rPr sz="1100" b="0" i="0">
                <a:solidFill>
                  <a:srgbClr val="52514E"/>
                </a:solidFill>
                <a:latin typeface="Calibri"/>
              </a:rPr>
              <a:t>missed window</a:t>
            </a:r>
          </a:p>
        </p:txBody>
      </p:sp>
      <p:sp>
        <p:nvSpPr>
          <p:cNvPr id="14" name="TextBox 13"/>
          <p:cNvSpPr txBox="1"/>
          <p:nvPr/>
        </p:nvSpPr>
        <p:spPr>
          <a:xfrm>
            <a:off x="548640" y="2834640"/>
            <a:ext cx="5212080" cy="1280160"/>
          </a:xfrm>
          <a:prstGeom prst="rect">
            <a:avLst/>
          </a:prstGeom>
          <a:noFill/>
        </p:spPr>
        <p:txBody>
          <a:bodyPr wrap="square" anchor="t" lIns="0" rIns="0" tIns="0" bIns="0">
            <a:spAutoFit/>
          </a:bodyPr>
          <a:lstStyle/>
          <a:p>
            <a:pPr algn="l">
              <a:spcAft>
                <a:spcPts val="400"/>
              </a:spcAft>
            </a:pPr>
            <a:r>
              <a:rPr sz="1300" b="1" i="0">
                <a:solidFill>
                  <a:srgbClr val="0B0B0B"/>
                </a:solidFill>
                <a:latin typeface="Calibri"/>
              </a:rPr>
              <a:t>Precision</a:t>
            </a:r>
            <a:r>
              <a:rPr sz="1300" b="0" i="0">
                <a:solidFill>
                  <a:srgbClr val="0B0B0B"/>
                </a:solidFill>
                <a:latin typeface="Calibri"/>
              </a:rPr>
              <a:t> = alerts triggered inside a window / alerts</a:t>
            </a:r>
          </a:p>
          <a:p>
            <a:pPr algn="l">
              <a:spcAft>
                <a:spcPts val="400"/>
              </a:spcAft>
            </a:pPr>
            <a:r>
              <a:rPr sz="1300" b="1" i="0">
                <a:solidFill>
                  <a:srgbClr val="0B0B0B"/>
                </a:solidFill>
                <a:latin typeface="Calibri"/>
              </a:rPr>
              <a:t>Recall</a:t>
            </a:r>
            <a:r>
              <a:rPr sz="1300" b="0" i="0">
                <a:solidFill>
                  <a:srgbClr val="0B0B0B"/>
                </a:solidFill>
                <a:latin typeface="Calibri"/>
              </a:rPr>
              <a:t> = windows with ≥ 1 alert trigger / windows</a:t>
            </a:r>
          </a:p>
          <a:p>
            <a:pPr algn="l">
              <a:spcAft>
                <a:spcPts val="400"/>
              </a:spcAft>
            </a:pPr>
            <a:r>
              <a:rPr sz="1300" b="1" i="0">
                <a:solidFill>
                  <a:srgbClr val="0B0B0B"/>
                </a:solidFill>
                <a:latin typeface="Calibri"/>
              </a:rPr>
              <a:t>Delay</a:t>
            </a:r>
            <a:r>
              <a:rPr sz="1300" b="0" i="0">
                <a:solidFill>
                  <a:srgbClr val="0B0B0B"/>
                </a:solidFill>
                <a:latin typeface="Calibri"/>
              </a:rPr>
              <a:t> = first trigger in the window − window start</a:t>
            </a:r>
          </a:p>
        </p:txBody>
      </p:sp>
      <p:sp>
        <p:nvSpPr>
          <p:cNvPr id="15" name="TextBox 14"/>
          <p:cNvSpPr txBox="1"/>
          <p:nvPr/>
        </p:nvSpPr>
        <p:spPr>
          <a:xfrm>
            <a:off x="548640" y="3840480"/>
            <a:ext cx="5212080" cy="914400"/>
          </a:xfrm>
          <a:prstGeom prst="rect">
            <a:avLst/>
          </a:prstGeom>
          <a:noFill/>
        </p:spPr>
        <p:txBody>
          <a:bodyPr wrap="square" anchor="t" lIns="0" rIns="0" tIns="0" bIns="0">
            <a:spAutoFit/>
          </a:bodyPr>
          <a:lstStyle/>
          <a:p>
            <a:pPr algn="l"/>
            <a:r>
              <a:rPr sz="1200" b="1" i="0">
                <a:solidFill>
                  <a:srgbClr val="52514E"/>
                </a:solidFill>
                <a:latin typeface="Calibri"/>
              </a:rPr>
              <a:t>Why not overlap F1? </a:t>
            </a:r>
            <a:r>
              <a:rPr sz="1200" b="0" i="0">
                <a:solidFill>
                  <a:srgbClr val="52514E"/>
                </a:solidFill>
                <a:latin typeface="Calibri"/>
              </a:rPr>
              <a:t>flagging every row scores 0.95 under an overlap event F1, 0.00 under ours; random 1% of rows: 0.06. Details: reports/metric_audit.md.</a:t>
            </a:r>
          </a:p>
        </p:txBody>
      </p:sp>
      <p:sp>
        <p:nvSpPr>
          <p:cNvPr id="16" name="TextBox 15"/>
          <p:cNvSpPr txBox="1"/>
          <p:nvPr/>
        </p:nvSpPr>
        <p:spPr>
          <a:xfrm>
            <a:off x="548640" y="4709160"/>
            <a:ext cx="5212080" cy="365760"/>
          </a:xfrm>
          <a:prstGeom prst="rect">
            <a:avLst/>
          </a:prstGeom>
          <a:noFill/>
        </p:spPr>
        <p:txBody>
          <a:bodyPr wrap="square" anchor="t" lIns="0" rIns="0" tIns="0" bIns="0">
            <a:spAutoFit/>
          </a:bodyPr>
          <a:lstStyle/>
          <a:p>
            <a:pPr algn="l"/>
            <a:r>
              <a:rPr sz="1600" b="1" i="0">
                <a:solidFill>
                  <a:srgbClr val="0B0B0B"/>
                </a:solidFill>
                <a:latin typeface="Calibri"/>
              </a:rPr>
              <a:t>Two held-out checks: categories and time</a:t>
            </a:r>
          </a:p>
        </p:txBody>
      </p:sp>
      <p:sp>
        <p:nvSpPr>
          <p:cNvPr id="17" name="Rounded Rectangle 16"/>
          <p:cNvSpPr/>
          <p:nvPr/>
        </p:nvSpPr>
        <p:spPr>
          <a:xfrm>
            <a:off x="548640" y="5120640"/>
            <a:ext cx="685800" cy="457200"/>
          </a:xfrm>
          <a:prstGeom prst="roundRect">
            <a:avLst>
              <a:gd name="adj" fmla="val 8000"/>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0" i="0">
                <a:solidFill>
                  <a:srgbClr val="52514E"/>
                </a:solidFill>
                <a:latin typeface="Calibri"/>
              </a:rPr>
              <a:t>Art. none</a:t>
            </a:r>
          </a:p>
        </p:txBody>
      </p:sp>
      <p:sp>
        <p:nvSpPr>
          <p:cNvPr id="18" name="Rounded Rectangle 17"/>
          <p:cNvSpPr/>
          <p:nvPr/>
        </p:nvSpPr>
        <p:spPr>
          <a:xfrm>
            <a:off x="1289304" y="5120640"/>
            <a:ext cx="685800" cy="457200"/>
          </a:xfrm>
          <a:prstGeom prst="roundRect">
            <a:avLst>
              <a:gd name="adj" fmla="val 8000"/>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0" i="0">
                <a:solidFill>
                  <a:srgbClr val="52514E"/>
                </a:solidFill>
                <a:latin typeface="Calibri"/>
              </a:rPr>
              <a:t>Art. anom.</a:t>
            </a:r>
          </a:p>
        </p:txBody>
      </p:sp>
      <p:sp>
        <p:nvSpPr>
          <p:cNvPr id="19" name="Rounded Rectangle 18"/>
          <p:cNvSpPr/>
          <p:nvPr/>
        </p:nvSpPr>
        <p:spPr>
          <a:xfrm>
            <a:off x="2029968" y="5120640"/>
            <a:ext cx="685800" cy="457200"/>
          </a:xfrm>
          <a:prstGeom prst="roundRect">
            <a:avLst>
              <a:gd name="adj" fmla="val 8000"/>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0" i="0">
                <a:solidFill>
                  <a:srgbClr val="52514E"/>
                </a:solidFill>
                <a:latin typeface="Calibri"/>
              </a:rPr>
              <a:t>AWS</a:t>
            </a:r>
          </a:p>
        </p:txBody>
      </p:sp>
      <p:sp>
        <p:nvSpPr>
          <p:cNvPr id="20" name="Rounded Rectangle 19"/>
          <p:cNvSpPr/>
          <p:nvPr/>
        </p:nvSpPr>
        <p:spPr>
          <a:xfrm>
            <a:off x="2770632" y="5120640"/>
            <a:ext cx="685800" cy="457200"/>
          </a:xfrm>
          <a:prstGeom prst="roundRect">
            <a:avLst>
              <a:gd name="adj" fmla="val 8000"/>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0" i="0">
                <a:solidFill>
                  <a:srgbClr val="52514E"/>
                </a:solidFill>
                <a:latin typeface="Calibri"/>
              </a:rPr>
              <a:t>AdExch.</a:t>
            </a:r>
          </a:p>
        </p:txBody>
      </p:sp>
      <p:sp>
        <p:nvSpPr>
          <p:cNvPr id="21" name="Rounded Rectangle 20"/>
          <p:cNvSpPr/>
          <p:nvPr/>
        </p:nvSpPr>
        <p:spPr>
          <a:xfrm>
            <a:off x="3511296" y="5120640"/>
            <a:ext cx="685800" cy="457200"/>
          </a:xfrm>
          <a:prstGeom prst="roundRect">
            <a:avLst>
              <a:gd name="adj" fmla="val 8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FFFFFF"/>
                </a:solidFill>
                <a:latin typeface="Calibri"/>
              </a:rPr>
              <a:t>Known</a:t>
            </a:r>
          </a:p>
        </p:txBody>
      </p:sp>
      <p:sp>
        <p:nvSpPr>
          <p:cNvPr id="22" name="Rounded Rectangle 21"/>
          <p:cNvSpPr/>
          <p:nvPr/>
        </p:nvSpPr>
        <p:spPr>
          <a:xfrm>
            <a:off x="4251960" y="5120640"/>
            <a:ext cx="685800" cy="457200"/>
          </a:xfrm>
          <a:prstGeom prst="roundRect">
            <a:avLst>
              <a:gd name="adj" fmla="val 8000"/>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0" i="0">
                <a:solidFill>
                  <a:srgbClr val="52514E"/>
                </a:solidFill>
                <a:latin typeface="Calibri"/>
              </a:rPr>
              <a:t>Traffic</a:t>
            </a:r>
          </a:p>
        </p:txBody>
      </p:sp>
      <p:sp>
        <p:nvSpPr>
          <p:cNvPr id="23" name="Rounded Rectangle 22"/>
          <p:cNvSpPr/>
          <p:nvPr/>
        </p:nvSpPr>
        <p:spPr>
          <a:xfrm>
            <a:off x="4992624" y="5120640"/>
            <a:ext cx="685800" cy="457200"/>
          </a:xfrm>
          <a:prstGeom prst="roundRect">
            <a:avLst>
              <a:gd name="adj" fmla="val 8000"/>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0" i="0">
                <a:solidFill>
                  <a:srgbClr val="52514E"/>
                </a:solidFill>
                <a:latin typeface="Calibri"/>
              </a:rPr>
              <a:t>Tweets</a:t>
            </a:r>
          </a:p>
        </p:txBody>
      </p:sp>
      <p:sp>
        <p:nvSpPr>
          <p:cNvPr id="24" name="TextBox 23"/>
          <p:cNvSpPr txBox="1"/>
          <p:nvPr/>
        </p:nvSpPr>
        <p:spPr>
          <a:xfrm>
            <a:off x="548640" y="5623560"/>
            <a:ext cx="5212080" cy="731520"/>
          </a:xfrm>
          <a:prstGeom prst="rect">
            <a:avLst/>
          </a:prstGeom>
          <a:noFill/>
        </p:spPr>
        <p:txBody>
          <a:bodyPr wrap="square" anchor="t" lIns="0" rIns="0" tIns="0" bIns="0">
            <a:spAutoFit/>
          </a:bodyPr>
          <a:lstStyle/>
          <a:p>
            <a:pPr algn="l"/>
            <a:r>
              <a:rPr sz="1200" b="0" i="0">
                <a:solidFill>
                  <a:srgbClr val="52514E"/>
                </a:solidFill>
                <a:latin typeface="Calibri"/>
              </a:rPr>
              <a:t>θ-LOCO: θ chosen on 6 categories, scored on the 7th. Time split: θ chosen on the early half of every file, scored on the late half. One global config.</a:t>
            </a:r>
          </a:p>
        </p:txBody>
      </p:sp>
      <p:graphicFrame>
        <p:nvGraphicFramePr>
          <p:cNvPr id="25" name="Chart 24"/>
          <p:cNvGraphicFramePr>
            <a:graphicFrameLocks noGrp="1"/>
          </p:cNvGraphicFramePr>
          <p:nvPr/>
        </p:nvGraphicFramePr>
        <p:xfrm>
          <a:off x="6309360" y="1371600"/>
          <a:ext cx="5349240" cy="3931920"/>
        </p:xfrm>
        <a:graphic>
          <a:graphicData uri="http://schemas.openxmlformats.org/drawingml/2006/chart">
            <c:chart xmlns:c="http://schemas.openxmlformats.org/drawingml/2006/chart" r:id="rId2"/>
          </a:graphicData>
        </a:graphic>
      </p:graphicFrame>
      <p:sp>
        <p:nvSpPr>
          <p:cNvPr id="26" name="TextBox 25"/>
          <p:cNvSpPr txBox="1"/>
          <p:nvPr/>
        </p:nvSpPr>
        <p:spPr>
          <a:xfrm>
            <a:off x="6309360" y="5303520"/>
            <a:ext cx="5349240" cy="822960"/>
          </a:xfrm>
          <a:prstGeom prst="rect">
            <a:avLst/>
          </a:prstGeom>
          <a:noFill/>
        </p:spPr>
        <p:txBody>
          <a:bodyPr wrap="square" anchor="t" lIns="0" rIns="0" tIns="0" bIns="0">
            <a:spAutoFit/>
          </a:bodyPr>
          <a:lstStyle/>
          <a:p>
            <a:pPr algn="l"/>
            <a:r>
              <a:rPr sz="1200" b="0" i="0">
                <a:solidFill>
                  <a:srgbClr val="52514E"/>
                </a:solidFill>
                <a:latin typeface="Calibri"/>
              </a:rPr>
              <a:t>Sentinel trigger-based event F1 per category (windows found / windows), final config on all files. On the 5 no-anomaly files: 0 false alerts.</a:t>
            </a:r>
          </a:p>
        </p:txBody>
      </p:sp>
      <p:sp>
        <p:nvSpPr>
          <p:cNvPr id="27" name="TextBox 26"/>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98781"/>
                </a:solidFill>
                <a:latin typeface="Calibri"/>
              </a:rPr>
              <a:t>Sentinel  ·  Utkrishta 2026  ·  Challenge 2</a:t>
            </a:r>
          </a:p>
        </p:txBody>
      </p:sp>
      <p:sp>
        <p:nvSpPr>
          <p:cNvPr id="28" name="TextBox 27"/>
          <p:cNvSpPr txBox="1"/>
          <p:nvPr/>
        </p:nvSpPr>
        <p:spPr>
          <a:xfrm>
            <a:off x="10725912" y="6446520"/>
            <a:ext cx="914400" cy="274320"/>
          </a:xfrm>
          <a:prstGeom prst="rect">
            <a:avLst/>
          </a:prstGeom>
          <a:noFill/>
        </p:spPr>
        <p:txBody>
          <a:bodyPr wrap="square" anchor="t" lIns="0" rIns="0" tIns="0" bIns="0">
            <a:spAutoFit/>
          </a:bodyPr>
          <a:lstStyle/>
          <a:p>
            <a:pPr algn="r"/>
            <a:r>
              <a:rPr sz="1000" b="0" i="0">
                <a:solidFill>
                  <a:srgbClr val="898781"/>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r>
              <a:rPr sz="3200" b="1" i="0">
                <a:solidFill>
                  <a:srgbClr val="0B0B0B"/>
                </a:solidFill>
                <a:latin typeface="Calibri"/>
              </a:rPr>
              <a:t>Results: Sentinel vs baselines on the same metric and protocol</a:t>
            </a:r>
          </a:p>
        </p:txBody>
      </p:sp>
      <p:sp>
        <p:nvSpPr>
          <p:cNvPr id="3" name="Rounded Rectangle 2"/>
          <p:cNvSpPr/>
          <p:nvPr/>
        </p:nvSpPr>
        <p:spPr>
          <a:xfrm>
            <a:off x="548640" y="1188720"/>
            <a:ext cx="2606040" cy="1234440"/>
          </a:xfrm>
          <a:prstGeom prst="roundRect">
            <a:avLst>
              <a:gd name="adj" fmla="val 8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298448"/>
            <a:ext cx="2240280" cy="685800"/>
          </a:xfrm>
          <a:prstGeom prst="rect">
            <a:avLst/>
          </a:prstGeom>
          <a:noFill/>
        </p:spPr>
        <p:txBody>
          <a:bodyPr wrap="square" anchor="t" lIns="0" rIns="0" tIns="0" bIns="0">
            <a:spAutoFit/>
          </a:bodyPr>
          <a:lstStyle/>
          <a:p>
            <a:pPr algn="l"/>
            <a:r>
              <a:rPr sz="3400" b="1" i="0">
                <a:solidFill>
                  <a:srgbClr val="2A78D6"/>
                </a:solidFill>
                <a:latin typeface="Calibri"/>
              </a:rPr>
              <a:t>0.54</a:t>
            </a:r>
          </a:p>
        </p:txBody>
      </p:sp>
      <p:sp>
        <p:nvSpPr>
          <p:cNvPr id="5" name="TextBox 4"/>
          <p:cNvSpPr txBox="1"/>
          <p:nvPr/>
        </p:nvSpPr>
        <p:spPr>
          <a:xfrm>
            <a:off x="731520" y="1938528"/>
            <a:ext cx="2240280" cy="411480"/>
          </a:xfrm>
          <a:prstGeom prst="rect">
            <a:avLst/>
          </a:prstGeom>
          <a:noFill/>
        </p:spPr>
        <p:txBody>
          <a:bodyPr wrap="square" anchor="t" lIns="0" rIns="0" tIns="0" bIns="0">
            <a:spAutoFit/>
          </a:bodyPr>
          <a:lstStyle/>
          <a:p>
            <a:pPr algn="l"/>
            <a:r>
              <a:rPr sz="1200" b="0" i="0">
                <a:solidFill>
                  <a:srgbClr val="52514E"/>
                </a:solidFill>
                <a:latin typeface="Calibri"/>
              </a:rPr>
              <a:t>ET F1, all files (95% CI 0.45–0.64)</a:t>
            </a:r>
          </a:p>
        </p:txBody>
      </p:sp>
      <p:sp>
        <p:nvSpPr>
          <p:cNvPr id="6" name="Rounded Rectangle 5"/>
          <p:cNvSpPr/>
          <p:nvPr/>
        </p:nvSpPr>
        <p:spPr>
          <a:xfrm>
            <a:off x="3291840" y="1188720"/>
            <a:ext cx="2606040" cy="1234440"/>
          </a:xfrm>
          <a:prstGeom prst="roundRect">
            <a:avLst>
              <a:gd name="adj" fmla="val 8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0" y="1298448"/>
            <a:ext cx="2240280" cy="685800"/>
          </a:xfrm>
          <a:prstGeom prst="rect">
            <a:avLst/>
          </a:prstGeom>
          <a:noFill/>
        </p:spPr>
        <p:txBody>
          <a:bodyPr wrap="square" anchor="t" lIns="0" rIns="0" tIns="0" bIns="0">
            <a:spAutoFit/>
          </a:bodyPr>
          <a:lstStyle/>
          <a:p>
            <a:pPr algn="l"/>
            <a:r>
              <a:rPr sz="3400" b="1" i="0">
                <a:solidFill>
                  <a:srgbClr val="2A78D6"/>
                </a:solidFill>
                <a:latin typeface="Calibri"/>
              </a:rPr>
              <a:t>0.48</a:t>
            </a:r>
          </a:p>
        </p:txBody>
      </p:sp>
      <p:sp>
        <p:nvSpPr>
          <p:cNvPr id="8" name="TextBox 7"/>
          <p:cNvSpPr txBox="1"/>
          <p:nvPr/>
        </p:nvSpPr>
        <p:spPr>
          <a:xfrm>
            <a:off x="3474720" y="1938528"/>
            <a:ext cx="2240280" cy="411480"/>
          </a:xfrm>
          <a:prstGeom prst="rect">
            <a:avLst/>
          </a:prstGeom>
          <a:noFill/>
        </p:spPr>
        <p:txBody>
          <a:bodyPr wrap="square" anchor="t" lIns="0" rIns="0" tIns="0" bIns="0">
            <a:spAutoFit/>
          </a:bodyPr>
          <a:lstStyle/>
          <a:p>
            <a:pPr algn="l"/>
            <a:r>
              <a:rPr sz="1200" b="0" i="0">
                <a:solidFill>
                  <a:srgbClr val="52514E"/>
                </a:solidFill>
                <a:latin typeface="Calibri"/>
              </a:rPr>
              <a:t>held-out categories (θ-LOCO); late halves 0.57</a:t>
            </a:r>
          </a:p>
        </p:txBody>
      </p:sp>
      <p:sp>
        <p:nvSpPr>
          <p:cNvPr id="9" name="Rounded Rectangle 8"/>
          <p:cNvSpPr/>
          <p:nvPr/>
        </p:nvSpPr>
        <p:spPr>
          <a:xfrm>
            <a:off x="6035040" y="1188720"/>
            <a:ext cx="2606040" cy="1234440"/>
          </a:xfrm>
          <a:prstGeom prst="roundRect">
            <a:avLst>
              <a:gd name="adj" fmla="val 8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298448"/>
            <a:ext cx="2240280" cy="685800"/>
          </a:xfrm>
          <a:prstGeom prst="rect">
            <a:avLst/>
          </a:prstGeom>
          <a:noFill/>
        </p:spPr>
        <p:txBody>
          <a:bodyPr wrap="square" anchor="t" lIns="0" rIns="0" tIns="0" bIns="0">
            <a:spAutoFit/>
          </a:bodyPr>
          <a:lstStyle/>
          <a:p>
            <a:pPr algn="l"/>
            <a:r>
              <a:rPr sz="3400" b="1" i="0">
                <a:solidFill>
                  <a:srgbClr val="0B0B0B"/>
                </a:solidFill>
                <a:latin typeface="Calibri"/>
              </a:rPr>
              <a:t>0.62 / 0.48</a:t>
            </a:r>
          </a:p>
        </p:txBody>
      </p:sp>
      <p:sp>
        <p:nvSpPr>
          <p:cNvPr id="11" name="TextBox 10"/>
          <p:cNvSpPr txBox="1"/>
          <p:nvPr/>
        </p:nvSpPr>
        <p:spPr>
          <a:xfrm>
            <a:off x="6217920" y="1938528"/>
            <a:ext cx="2240280" cy="411480"/>
          </a:xfrm>
          <a:prstGeom prst="rect">
            <a:avLst/>
          </a:prstGeom>
          <a:noFill/>
        </p:spPr>
        <p:txBody>
          <a:bodyPr wrap="square" anchor="t" lIns="0" rIns="0" tIns="0" bIns="0">
            <a:spAutoFit/>
          </a:bodyPr>
          <a:lstStyle/>
          <a:p>
            <a:pPr algn="l"/>
            <a:r>
              <a:rPr sz="1200" b="0" i="0">
                <a:solidFill>
                  <a:srgbClr val="52514E"/>
                </a:solidFill>
                <a:latin typeface="Calibri"/>
              </a:rPr>
              <a:t>precision / recall (56/116 windows, 35 false)</a:t>
            </a:r>
          </a:p>
        </p:txBody>
      </p:sp>
      <p:sp>
        <p:nvSpPr>
          <p:cNvPr id="12" name="Rounded Rectangle 11"/>
          <p:cNvSpPr/>
          <p:nvPr/>
        </p:nvSpPr>
        <p:spPr>
          <a:xfrm>
            <a:off x="8778240" y="1188720"/>
            <a:ext cx="2834640" cy="1234440"/>
          </a:xfrm>
          <a:prstGeom prst="roundRect">
            <a:avLst>
              <a:gd name="adj" fmla="val 8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19" y="1298448"/>
            <a:ext cx="2468880" cy="685800"/>
          </a:xfrm>
          <a:prstGeom prst="rect">
            <a:avLst/>
          </a:prstGeom>
          <a:noFill/>
        </p:spPr>
        <p:txBody>
          <a:bodyPr wrap="square" anchor="t" lIns="0" rIns="0" tIns="0" bIns="0">
            <a:spAutoFit/>
          </a:bodyPr>
          <a:lstStyle/>
          <a:p>
            <a:pPr algn="l"/>
            <a:r>
              <a:rPr sz="3400" b="1" i="0">
                <a:solidFill>
                  <a:srgbClr val="0B0B0B"/>
                </a:solidFill>
                <a:latin typeface="Calibri"/>
              </a:rPr>
              <a:t>20.9 µs</a:t>
            </a:r>
          </a:p>
        </p:txBody>
      </p:sp>
      <p:sp>
        <p:nvSpPr>
          <p:cNvPr id="14" name="TextBox 13"/>
          <p:cNvSpPr txBox="1"/>
          <p:nvPr/>
        </p:nvSpPr>
        <p:spPr>
          <a:xfrm>
            <a:off x="8961119" y="1938528"/>
            <a:ext cx="2468880" cy="411480"/>
          </a:xfrm>
          <a:prstGeom prst="rect">
            <a:avLst/>
          </a:prstGeom>
          <a:noFill/>
        </p:spPr>
        <p:txBody>
          <a:bodyPr wrap="square" anchor="t" lIns="0" rIns="0" tIns="0" bIns="0">
            <a:spAutoFit/>
          </a:bodyPr>
          <a:lstStyle/>
          <a:p>
            <a:pPr algn="l"/>
            <a:r>
              <a:rPr sz="1200" b="0" i="0">
                <a:solidFill>
                  <a:srgbClr val="52514E"/>
                </a:solidFill>
                <a:latin typeface="Calibri"/>
              </a:rPr>
              <a:t>per point, compiled engine (181 µs streaming API)</a:t>
            </a:r>
          </a:p>
        </p:txBody>
      </p:sp>
      <p:graphicFrame>
        <p:nvGraphicFramePr>
          <p:cNvPr id="15" name="Table 14"/>
          <p:cNvGraphicFramePr>
            <a:graphicFrameLocks noGrp="1"/>
          </p:cNvGraphicFramePr>
          <p:nvPr/>
        </p:nvGraphicFramePr>
        <p:xfrm>
          <a:off x="548640" y="2697480"/>
          <a:ext cx="11064239" cy="2633472"/>
        </p:xfrm>
        <a:graphic>
          <a:graphicData uri="http://schemas.openxmlformats.org/drawingml/2006/table">
            <a:tbl>
              <a:tblPr firstRow="1" bandRow="1">
                <a:tableStyleId>{5C22544A-7EE6-4342-B048-85BDC9FD1C3A}</a:tableStyleId>
              </a:tblPr>
              <a:tblGrid>
                <a:gridCol w="3749039"/>
                <a:gridCol w="914400"/>
                <a:gridCol w="1005840"/>
                <a:gridCol w="1051560"/>
                <a:gridCol w="914400"/>
                <a:gridCol w="1234440"/>
                <a:gridCol w="914400"/>
                <a:gridCol w="1280160"/>
              </a:tblGrid>
              <a:tr h="329184">
                <a:tc>
                  <a:txBody>
                    <a:bodyPr/>
                    <a:lstStyle/>
                    <a:p>
                      <a:pPr algn="l"/>
                      <a:r>
                        <a:rPr sz="1100" b="1">
                          <a:solidFill>
                            <a:srgbClr val="FFFFFF"/>
                          </a:solidFill>
                          <a:latin typeface="Calibri"/>
                        </a:rPr>
                        <a:t>Method</a:t>
                      </a:r>
                    </a:p>
                  </a:txBody>
                  <a:tcPr marL="73152" marR="73152" marT="27432" marB="27432" anchor="ctr">
                    <a:solidFill>
                      <a:srgbClr val="0F1B2D"/>
                    </a:solidFill>
                  </a:tcPr>
                </a:tc>
                <a:tc>
                  <a:txBody>
                    <a:bodyPr/>
                    <a:lstStyle/>
                    <a:p>
                      <a:pPr algn="r"/>
                      <a:r>
                        <a:rPr sz="1100" b="1">
                          <a:solidFill>
                            <a:srgbClr val="FFFFFF"/>
                          </a:solidFill>
                          <a:latin typeface="Calibri"/>
                        </a:rPr>
                        <a:t>ET F1</a:t>
                      </a:r>
                    </a:p>
                  </a:txBody>
                  <a:tcPr marL="73152" marR="73152" marT="27432" marB="27432" anchor="ctr">
                    <a:solidFill>
                      <a:srgbClr val="0F1B2D"/>
                    </a:solidFill>
                  </a:tcPr>
                </a:tc>
                <a:tc>
                  <a:txBody>
                    <a:bodyPr/>
                    <a:lstStyle/>
                    <a:p>
                      <a:pPr algn="r"/>
                      <a:r>
                        <a:rPr sz="1100" b="1">
                          <a:solidFill>
                            <a:srgbClr val="FFFFFF"/>
                          </a:solidFill>
                          <a:latin typeface="Calibri"/>
                        </a:rPr>
                        <a:t>Held-out</a:t>
                      </a:r>
                    </a:p>
                  </a:txBody>
                  <a:tcPr marL="73152" marR="73152" marT="27432" marB="27432" anchor="ctr">
                    <a:solidFill>
                      <a:srgbClr val="0F1B2D"/>
                    </a:solidFill>
                  </a:tcPr>
                </a:tc>
                <a:tc>
                  <a:txBody>
                    <a:bodyPr/>
                    <a:lstStyle/>
                    <a:p>
                      <a:pPr algn="r"/>
                      <a:r>
                        <a:rPr sz="1100" b="1">
                          <a:solidFill>
                            <a:srgbClr val="FFFFFF"/>
                          </a:solidFill>
                          <a:latin typeface="Calibri"/>
                        </a:rPr>
                        <a:t>Precision</a:t>
                      </a:r>
                    </a:p>
                  </a:txBody>
                  <a:tcPr marL="73152" marR="73152" marT="27432" marB="27432" anchor="ctr">
                    <a:solidFill>
                      <a:srgbClr val="0F1B2D"/>
                    </a:solidFill>
                  </a:tcPr>
                </a:tc>
                <a:tc>
                  <a:txBody>
                    <a:bodyPr/>
                    <a:lstStyle/>
                    <a:p>
                      <a:pPr algn="r"/>
                      <a:r>
                        <a:rPr sz="1100" b="1">
                          <a:solidFill>
                            <a:srgbClr val="FFFFFF"/>
                          </a:solidFill>
                          <a:latin typeface="Calibri"/>
                        </a:rPr>
                        <a:t>Recall</a:t>
                      </a:r>
                    </a:p>
                  </a:txBody>
                  <a:tcPr marL="73152" marR="73152" marT="27432" marB="27432" anchor="ctr">
                    <a:solidFill>
                      <a:srgbClr val="0F1B2D"/>
                    </a:solidFill>
                  </a:tcPr>
                </a:tc>
                <a:tc>
                  <a:txBody>
                    <a:bodyPr/>
                    <a:lstStyle/>
                    <a:p>
                      <a:pPr algn="r"/>
                      <a:r>
                        <a:rPr sz="1100" b="1">
                          <a:solidFill>
                            <a:srgbClr val="FFFFFF"/>
                          </a:solidFill>
                          <a:latin typeface="Calibri"/>
                        </a:rPr>
                        <a:t>False alerts</a:t>
                      </a:r>
                    </a:p>
                  </a:txBody>
                  <a:tcPr marL="73152" marR="73152" marT="27432" marB="27432" anchor="ctr">
                    <a:solidFill>
                      <a:srgbClr val="0F1B2D"/>
                    </a:solidFill>
                  </a:tcPr>
                </a:tc>
                <a:tc>
                  <a:txBody>
                    <a:bodyPr/>
                    <a:lstStyle/>
                    <a:p>
                      <a:pPr algn="r"/>
                      <a:r>
                        <a:rPr sz="1100" b="1">
                          <a:solidFill>
                            <a:srgbClr val="FFFFFF"/>
                          </a:solidFill>
                          <a:latin typeface="Calibri"/>
                        </a:rPr>
                        <a:t>E1 F1</a:t>
                      </a:r>
                    </a:p>
                  </a:txBody>
                  <a:tcPr marL="73152" marR="73152" marT="27432" marB="27432" anchor="ctr">
                    <a:solidFill>
                      <a:srgbClr val="0F1B2D"/>
                    </a:solidFill>
                  </a:tcPr>
                </a:tc>
                <a:tc>
                  <a:txBody>
                    <a:bodyPr/>
                    <a:lstStyle/>
                    <a:p>
                      <a:pPr algn="r"/>
                      <a:r>
                        <a:rPr sz="1100" b="1">
                          <a:solidFill>
                            <a:srgbClr val="FFFFFF"/>
                          </a:solidFill>
                          <a:latin typeface="Calibri"/>
                        </a:rPr>
                        <a:t>NAB</a:t>
                      </a:r>
                    </a:p>
                  </a:txBody>
                  <a:tcPr marL="73152" marR="73152" marT="27432" marB="27432" anchor="ctr">
                    <a:solidFill>
                      <a:srgbClr val="0F1B2D"/>
                    </a:solidFill>
                  </a:tcPr>
                </a:tc>
              </a:tr>
              <a:tr h="329184">
                <a:tc>
                  <a:txBody>
                    <a:bodyPr/>
                    <a:lstStyle/>
                    <a:p>
                      <a:pPr algn="l"/>
                      <a:r>
                        <a:rPr sz="1100" b="1">
                          <a:solidFill>
                            <a:srgbClr val="0B0B0B"/>
                          </a:solidFill>
                          <a:latin typeface="Calibri"/>
                        </a:rPr>
                        <a:t>Sentinel v3 (D1 + D2 + D4 + D7)</a:t>
                      </a:r>
                    </a:p>
                  </a:txBody>
                  <a:tcPr marL="73152" marR="73152" marT="27432" marB="27432" anchor="ctr">
                    <a:solidFill>
                      <a:srgbClr val="EEF4FC"/>
                    </a:solidFill>
                  </a:tcPr>
                </a:tc>
                <a:tc>
                  <a:txBody>
                    <a:bodyPr/>
                    <a:lstStyle/>
                    <a:p>
                      <a:pPr algn="r"/>
                      <a:r>
                        <a:rPr sz="1100" b="1">
                          <a:solidFill>
                            <a:srgbClr val="0B0B0B"/>
                          </a:solidFill>
                          <a:latin typeface="Calibri"/>
                        </a:rPr>
                        <a:t>0.541</a:t>
                      </a:r>
                    </a:p>
                  </a:txBody>
                  <a:tcPr marL="73152" marR="73152" marT="27432" marB="27432" anchor="ctr">
                    <a:solidFill>
                      <a:srgbClr val="EEF4FC"/>
                    </a:solidFill>
                  </a:tcPr>
                </a:tc>
                <a:tc>
                  <a:txBody>
                    <a:bodyPr/>
                    <a:lstStyle/>
                    <a:p>
                      <a:pPr algn="r"/>
                      <a:r>
                        <a:rPr sz="1100" b="1">
                          <a:solidFill>
                            <a:srgbClr val="0B0B0B"/>
                          </a:solidFill>
                          <a:latin typeface="Calibri"/>
                        </a:rPr>
                        <a:t>0.482</a:t>
                      </a:r>
                    </a:p>
                  </a:txBody>
                  <a:tcPr marL="73152" marR="73152" marT="27432" marB="27432" anchor="ctr">
                    <a:solidFill>
                      <a:srgbClr val="EEF4FC"/>
                    </a:solidFill>
                  </a:tcPr>
                </a:tc>
                <a:tc>
                  <a:txBody>
                    <a:bodyPr/>
                    <a:lstStyle/>
                    <a:p>
                      <a:pPr algn="r"/>
                      <a:r>
                        <a:rPr sz="1100" b="1">
                          <a:solidFill>
                            <a:srgbClr val="0B0B0B"/>
                          </a:solidFill>
                          <a:latin typeface="Calibri"/>
                        </a:rPr>
                        <a:t>0.615</a:t>
                      </a:r>
                    </a:p>
                  </a:txBody>
                  <a:tcPr marL="73152" marR="73152" marT="27432" marB="27432" anchor="ctr">
                    <a:solidFill>
                      <a:srgbClr val="EEF4FC"/>
                    </a:solidFill>
                  </a:tcPr>
                </a:tc>
                <a:tc>
                  <a:txBody>
                    <a:bodyPr/>
                    <a:lstStyle/>
                    <a:p>
                      <a:pPr algn="r"/>
                      <a:r>
                        <a:rPr sz="1100" b="1">
                          <a:solidFill>
                            <a:srgbClr val="0B0B0B"/>
                          </a:solidFill>
                          <a:latin typeface="Calibri"/>
                        </a:rPr>
                        <a:t>0.483</a:t>
                      </a:r>
                    </a:p>
                  </a:txBody>
                  <a:tcPr marL="73152" marR="73152" marT="27432" marB="27432" anchor="ctr">
                    <a:solidFill>
                      <a:srgbClr val="EEF4FC"/>
                    </a:solidFill>
                  </a:tcPr>
                </a:tc>
                <a:tc>
                  <a:txBody>
                    <a:bodyPr/>
                    <a:lstStyle/>
                    <a:p>
                      <a:pPr algn="r"/>
                      <a:r>
                        <a:rPr sz="1100" b="1">
                          <a:solidFill>
                            <a:srgbClr val="0B0B0B"/>
                          </a:solidFill>
                          <a:latin typeface="Calibri"/>
                        </a:rPr>
                        <a:t>35</a:t>
                      </a:r>
                    </a:p>
                  </a:txBody>
                  <a:tcPr marL="73152" marR="73152" marT="27432" marB="27432" anchor="ctr">
                    <a:solidFill>
                      <a:srgbClr val="EEF4FC"/>
                    </a:solidFill>
                  </a:tcPr>
                </a:tc>
                <a:tc>
                  <a:txBody>
                    <a:bodyPr/>
                    <a:lstStyle/>
                    <a:p>
                      <a:pPr algn="r"/>
                      <a:r>
                        <a:rPr sz="1100" b="1">
                          <a:solidFill>
                            <a:srgbClr val="0B0B0B"/>
                          </a:solidFill>
                          <a:latin typeface="Calibri"/>
                        </a:rPr>
                        <a:t>0.541</a:t>
                      </a:r>
                    </a:p>
                  </a:txBody>
                  <a:tcPr marL="73152" marR="73152" marT="27432" marB="27432" anchor="ctr">
                    <a:solidFill>
                      <a:srgbClr val="EEF4FC"/>
                    </a:solidFill>
                  </a:tcPr>
                </a:tc>
                <a:tc>
                  <a:txBody>
                    <a:bodyPr/>
                    <a:lstStyle/>
                    <a:p>
                      <a:pPr algn="r"/>
                      <a:r>
                        <a:rPr sz="1100" b="1">
                          <a:solidFill>
                            <a:srgbClr val="0B0B0B"/>
                          </a:solidFill>
                          <a:latin typeface="Calibri"/>
                        </a:rPr>
                        <a:t>42.0</a:t>
                      </a:r>
                    </a:p>
                  </a:txBody>
                  <a:tcPr marL="73152" marR="73152" marT="27432" marB="27432" anchor="ctr">
                    <a:solidFill>
                      <a:srgbClr val="EEF4FC"/>
                    </a:solidFill>
                  </a:tcPr>
                </a:tc>
              </a:tr>
              <a:tr h="329184">
                <a:tc>
                  <a:txBody>
                    <a:bodyPr/>
                    <a:lstStyle/>
                    <a:p>
                      <a:pPr algn="l"/>
                      <a:r>
                        <a:rPr sz="1100">
                          <a:solidFill>
                            <a:srgbClr val="52514E"/>
                          </a:solidFill>
                          <a:latin typeface="Calibri"/>
                        </a:rPr>
                        <a:t>Sentinel v2 (D1 + D2, previous)</a:t>
                      </a:r>
                    </a:p>
                  </a:txBody>
                  <a:tcPr marL="73152" marR="73152" marT="27432" marB="27432" anchor="ctr">
                    <a:solidFill>
                      <a:srgbClr val="F7F7F5"/>
                    </a:solidFill>
                  </a:tcPr>
                </a:tc>
                <a:tc>
                  <a:txBody>
                    <a:bodyPr/>
                    <a:lstStyle/>
                    <a:p>
                      <a:pPr algn="r"/>
                      <a:r>
                        <a:rPr sz="1100">
                          <a:solidFill>
                            <a:srgbClr val="52514E"/>
                          </a:solidFill>
                          <a:latin typeface="Calibri"/>
                        </a:rPr>
                        <a:t>0.479</a:t>
                      </a:r>
                    </a:p>
                  </a:txBody>
                  <a:tcPr marL="73152" marR="73152" marT="27432" marB="27432" anchor="ctr">
                    <a:solidFill>
                      <a:srgbClr val="F7F7F5"/>
                    </a:solidFill>
                  </a:tcPr>
                </a:tc>
                <a:tc>
                  <a:txBody>
                    <a:bodyPr/>
                    <a:lstStyle/>
                    <a:p>
                      <a:pPr algn="r"/>
                      <a:r>
                        <a:rPr sz="1100">
                          <a:solidFill>
                            <a:srgbClr val="52514E"/>
                          </a:solidFill>
                          <a:latin typeface="Calibri"/>
                        </a:rPr>
                        <a:t>0.479</a:t>
                      </a:r>
                    </a:p>
                  </a:txBody>
                  <a:tcPr marL="73152" marR="73152" marT="27432" marB="27432" anchor="ctr">
                    <a:solidFill>
                      <a:srgbClr val="F7F7F5"/>
                    </a:solidFill>
                  </a:tcPr>
                </a:tc>
                <a:tc>
                  <a:txBody>
                    <a:bodyPr/>
                    <a:lstStyle/>
                    <a:p>
                      <a:pPr algn="r"/>
                      <a:r>
                        <a:rPr sz="1100">
                          <a:solidFill>
                            <a:srgbClr val="52514E"/>
                          </a:solidFill>
                          <a:latin typeface="Calibri"/>
                        </a:rPr>
                        <a:t>0.515</a:t>
                      </a:r>
                    </a:p>
                  </a:txBody>
                  <a:tcPr marL="73152" marR="73152" marT="27432" marB="27432" anchor="ctr">
                    <a:solidFill>
                      <a:srgbClr val="F7F7F5"/>
                    </a:solidFill>
                  </a:tcPr>
                </a:tc>
                <a:tc>
                  <a:txBody>
                    <a:bodyPr/>
                    <a:lstStyle/>
                    <a:p>
                      <a:pPr algn="r"/>
                      <a:r>
                        <a:rPr sz="1100">
                          <a:solidFill>
                            <a:srgbClr val="52514E"/>
                          </a:solidFill>
                          <a:latin typeface="Calibri"/>
                        </a:rPr>
                        <a:t>0.448</a:t>
                      </a:r>
                    </a:p>
                  </a:txBody>
                  <a:tcPr marL="73152" marR="73152" marT="27432" marB="27432" anchor="ctr">
                    <a:solidFill>
                      <a:srgbClr val="F7F7F5"/>
                    </a:solidFill>
                  </a:tcPr>
                </a:tc>
                <a:tc>
                  <a:txBody>
                    <a:bodyPr/>
                    <a:lstStyle/>
                    <a:p>
                      <a:pPr algn="r"/>
                      <a:r>
                        <a:rPr sz="1100">
                          <a:solidFill>
                            <a:srgbClr val="52514E"/>
                          </a:solidFill>
                          <a:latin typeface="Calibri"/>
                        </a:rPr>
                        <a:t>49</a:t>
                      </a:r>
                    </a:p>
                  </a:txBody>
                  <a:tcPr marL="73152" marR="73152" marT="27432" marB="27432" anchor="ctr">
                    <a:solidFill>
                      <a:srgbClr val="F7F7F5"/>
                    </a:solidFill>
                  </a:tcPr>
                </a:tc>
                <a:tc>
                  <a:txBody>
                    <a:bodyPr/>
                    <a:lstStyle/>
                    <a:p>
                      <a:pPr algn="r"/>
                      <a:r>
                        <a:rPr sz="1100">
                          <a:solidFill>
                            <a:srgbClr val="52514E"/>
                          </a:solidFill>
                          <a:latin typeface="Calibri"/>
                        </a:rPr>
                        <a:t>0.479</a:t>
                      </a:r>
                    </a:p>
                  </a:txBody>
                  <a:tcPr marL="73152" marR="73152" marT="27432" marB="27432" anchor="ctr">
                    <a:solidFill>
                      <a:srgbClr val="F7F7F5"/>
                    </a:solidFill>
                  </a:tcPr>
                </a:tc>
                <a:tc>
                  <a:txBody>
                    <a:bodyPr/>
                    <a:lstStyle/>
                    <a:p>
                      <a:pPr algn="r"/>
                      <a:r>
                        <a:rPr sz="1100">
                          <a:solidFill>
                            <a:srgbClr val="52514E"/>
                          </a:solidFill>
                          <a:latin typeface="Calibri"/>
                        </a:rPr>
                        <a:t>38.8</a:t>
                      </a:r>
                    </a:p>
                  </a:txBody>
                  <a:tcPr marL="73152" marR="73152" marT="27432" marB="27432" anchor="ctr">
                    <a:solidFill>
                      <a:srgbClr val="F7F7F5"/>
                    </a:solidFill>
                  </a:tcPr>
                </a:tc>
              </a:tr>
              <a:tr h="329184">
                <a:tc>
                  <a:txBody>
                    <a:bodyPr/>
                    <a:lstStyle/>
                    <a:p>
                      <a:pPr algn="l"/>
                      <a:r>
                        <a:rPr sz="1100">
                          <a:solidFill>
                            <a:srgbClr val="52514E"/>
                          </a:solidFill>
                          <a:latin typeface="Calibri"/>
                        </a:rPr>
                        <a:t>LOF (+ our calibration &amp; event logic)</a:t>
                      </a:r>
                    </a:p>
                  </a:txBody>
                  <a:tcPr marL="73152" marR="73152" marT="27432" marB="27432" anchor="ctr">
                    <a:solidFill>
                      <a:srgbClr val="FFFFFF"/>
                    </a:solidFill>
                  </a:tcPr>
                </a:tc>
                <a:tc>
                  <a:txBody>
                    <a:bodyPr/>
                    <a:lstStyle/>
                    <a:p>
                      <a:pPr algn="r"/>
                      <a:r>
                        <a:rPr sz="1100">
                          <a:solidFill>
                            <a:srgbClr val="52514E"/>
                          </a:solidFill>
                          <a:latin typeface="Calibri"/>
                        </a:rPr>
                        <a:t>0.467</a:t>
                      </a:r>
                    </a:p>
                  </a:txBody>
                  <a:tcPr marL="73152" marR="73152" marT="27432" marB="27432" anchor="ctr">
                    <a:solidFill>
                      <a:srgbClr val="FFFFFF"/>
                    </a:solidFill>
                  </a:tcPr>
                </a:tc>
                <a:tc>
                  <a:txBody>
                    <a:bodyPr/>
                    <a:lstStyle/>
                    <a:p>
                      <a:pPr algn="r"/>
                      <a:r>
                        <a:rPr sz="1100">
                          <a:solidFill>
                            <a:srgbClr val="52514E"/>
                          </a:solidFill>
                          <a:latin typeface="Calibri"/>
                        </a:rPr>
                        <a:t>0.467</a:t>
                      </a:r>
                    </a:p>
                  </a:txBody>
                  <a:tcPr marL="73152" marR="73152" marT="27432" marB="27432" anchor="ctr">
                    <a:solidFill>
                      <a:srgbClr val="FFFFFF"/>
                    </a:solidFill>
                  </a:tcPr>
                </a:tc>
                <a:tc>
                  <a:txBody>
                    <a:bodyPr/>
                    <a:lstStyle/>
                    <a:p>
                      <a:pPr algn="r"/>
                      <a:r>
                        <a:rPr sz="1100">
                          <a:solidFill>
                            <a:srgbClr val="52514E"/>
                          </a:solidFill>
                          <a:latin typeface="Calibri"/>
                        </a:rPr>
                        <a:t>0.510</a:t>
                      </a:r>
                    </a:p>
                  </a:txBody>
                  <a:tcPr marL="73152" marR="73152" marT="27432" marB="27432" anchor="ctr">
                    <a:solidFill>
                      <a:srgbClr val="FFFFFF"/>
                    </a:solidFill>
                  </a:tcPr>
                </a:tc>
                <a:tc>
                  <a:txBody>
                    <a:bodyPr/>
                    <a:lstStyle/>
                    <a:p>
                      <a:pPr algn="r"/>
                      <a:r>
                        <a:rPr sz="1100">
                          <a:solidFill>
                            <a:srgbClr val="52514E"/>
                          </a:solidFill>
                          <a:latin typeface="Calibri"/>
                        </a:rPr>
                        <a:t>0.431</a:t>
                      </a:r>
                    </a:p>
                  </a:txBody>
                  <a:tcPr marL="73152" marR="73152" marT="27432" marB="27432" anchor="ctr">
                    <a:solidFill>
                      <a:srgbClr val="FFFFFF"/>
                    </a:solidFill>
                  </a:tcPr>
                </a:tc>
                <a:tc>
                  <a:txBody>
                    <a:bodyPr/>
                    <a:lstStyle/>
                    <a:p>
                      <a:pPr algn="r"/>
                      <a:r>
                        <a:rPr sz="1100">
                          <a:solidFill>
                            <a:srgbClr val="52514E"/>
                          </a:solidFill>
                          <a:latin typeface="Calibri"/>
                        </a:rPr>
                        <a:t>48</a:t>
                      </a:r>
                    </a:p>
                  </a:txBody>
                  <a:tcPr marL="73152" marR="73152" marT="27432" marB="27432" anchor="ctr">
                    <a:solidFill>
                      <a:srgbClr val="FFFFFF"/>
                    </a:solidFill>
                  </a:tcPr>
                </a:tc>
                <a:tc>
                  <a:txBody>
                    <a:bodyPr/>
                    <a:lstStyle/>
                    <a:p>
                      <a:pPr algn="r"/>
                      <a:r>
                        <a:rPr sz="1100">
                          <a:solidFill>
                            <a:srgbClr val="52514E"/>
                          </a:solidFill>
                          <a:latin typeface="Calibri"/>
                        </a:rPr>
                        <a:t>0.467</a:t>
                      </a:r>
                    </a:p>
                  </a:txBody>
                  <a:tcPr marL="73152" marR="73152" marT="27432" marB="27432" anchor="ctr">
                    <a:solidFill>
                      <a:srgbClr val="FFFFFF"/>
                    </a:solidFill>
                  </a:tcPr>
                </a:tc>
                <a:tc>
                  <a:txBody>
                    <a:bodyPr/>
                    <a:lstStyle/>
                    <a:p>
                      <a:pPr algn="r"/>
                      <a:r>
                        <a:rPr sz="1100">
                          <a:solidFill>
                            <a:srgbClr val="52514E"/>
                          </a:solidFill>
                          <a:latin typeface="Calibri"/>
                        </a:rPr>
                        <a:t>36.7</a:t>
                      </a:r>
                    </a:p>
                  </a:txBody>
                  <a:tcPr marL="73152" marR="73152" marT="27432" marB="27432" anchor="ctr">
                    <a:solidFill>
                      <a:srgbClr val="FFFFFF"/>
                    </a:solidFill>
                  </a:tcPr>
                </a:tc>
              </a:tr>
              <a:tr h="329184">
                <a:tc>
                  <a:txBody>
                    <a:bodyPr/>
                    <a:lstStyle/>
                    <a:p>
                      <a:pPr algn="l"/>
                      <a:r>
                        <a:rPr sz="1100">
                          <a:solidFill>
                            <a:srgbClr val="52514E"/>
                          </a:solidFill>
                          <a:latin typeface="Calibri"/>
                        </a:rPr>
                        <a:t>Isolation Forest (+ our calibration &amp; event logic)</a:t>
                      </a:r>
                    </a:p>
                  </a:txBody>
                  <a:tcPr marL="73152" marR="73152" marT="27432" marB="27432" anchor="ctr">
                    <a:solidFill>
                      <a:srgbClr val="F7F7F5"/>
                    </a:solidFill>
                  </a:tcPr>
                </a:tc>
                <a:tc>
                  <a:txBody>
                    <a:bodyPr/>
                    <a:lstStyle/>
                    <a:p>
                      <a:pPr algn="r"/>
                      <a:r>
                        <a:rPr sz="1100">
                          <a:solidFill>
                            <a:srgbClr val="52514E"/>
                          </a:solidFill>
                          <a:latin typeface="Calibri"/>
                        </a:rPr>
                        <a:t>0.383</a:t>
                      </a:r>
                    </a:p>
                  </a:txBody>
                  <a:tcPr marL="73152" marR="73152" marT="27432" marB="27432" anchor="ctr">
                    <a:solidFill>
                      <a:srgbClr val="F7F7F5"/>
                    </a:solidFill>
                  </a:tcPr>
                </a:tc>
                <a:tc>
                  <a:txBody>
                    <a:bodyPr/>
                    <a:lstStyle/>
                    <a:p>
                      <a:pPr algn="r"/>
                      <a:r>
                        <a:rPr sz="1100">
                          <a:solidFill>
                            <a:srgbClr val="52514E"/>
                          </a:solidFill>
                          <a:latin typeface="Calibri"/>
                        </a:rPr>
                        <a:t>0.353</a:t>
                      </a:r>
                    </a:p>
                  </a:txBody>
                  <a:tcPr marL="73152" marR="73152" marT="27432" marB="27432" anchor="ctr">
                    <a:solidFill>
                      <a:srgbClr val="F7F7F5"/>
                    </a:solidFill>
                  </a:tcPr>
                </a:tc>
                <a:tc>
                  <a:txBody>
                    <a:bodyPr/>
                    <a:lstStyle/>
                    <a:p>
                      <a:pPr algn="r"/>
                      <a:r>
                        <a:rPr sz="1100">
                          <a:solidFill>
                            <a:srgbClr val="52514E"/>
                          </a:solidFill>
                          <a:latin typeface="Calibri"/>
                        </a:rPr>
                        <a:t>0.288</a:t>
                      </a:r>
                    </a:p>
                  </a:txBody>
                  <a:tcPr marL="73152" marR="73152" marT="27432" marB="27432" anchor="ctr">
                    <a:solidFill>
                      <a:srgbClr val="F7F7F5"/>
                    </a:solidFill>
                  </a:tcPr>
                </a:tc>
                <a:tc>
                  <a:txBody>
                    <a:bodyPr/>
                    <a:lstStyle/>
                    <a:p>
                      <a:pPr algn="r"/>
                      <a:r>
                        <a:rPr sz="1100">
                          <a:solidFill>
                            <a:srgbClr val="52514E"/>
                          </a:solidFill>
                          <a:latin typeface="Calibri"/>
                        </a:rPr>
                        <a:t>0.569</a:t>
                      </a:r>
                    </a:p>
                  </a:txBody>
                  <a:tcPr marL="73152" marR="73152" marT="27432" marB="27432" anchor="ctr">
                    <a:solidFill>
                      <a:srgbClr val="F7F7F5"/>
                    </a:solidFill>
                  </a:tcPr>
                </a:tc>
                <a:tc>
                  <a:txBody>
                    <a:bodyPr/>
                    <a:lstStyle/>
                    <a:p>
                      <a:pPr algn="r"/>
                      <a:r>
                        <a:rPr sz="1100">
                          <a:solidFill>
                            <a:srgbClr val="52514E"/>
                          </a:solidFill>
                          <a:latin typeface="Calibri"/>
                        </a:rPr>
                        <a:t>163</a:t>
                      </a:r>
                    </a:p>
                  </a:txBody>
                  <a:tcPr marL="73152" marR="73152" marT="27432" marB="27432" anchor="ctr">
                    <a:solidFill>
                      <a:srgbClr val="F7F7F5"/>
                    </a:solidFill>
                  </a:tcPr>
                </a:tc>
                <a:tc>
                  <a:txBody>
                    <a:bodyPr/>
                    <a:lstStyle/>
                    <a:p>
                      <a:pPr algn="r"/>
                      <a:r>
                        <a:rPr sz="1100">
                          <a:solidFill>
                            <a:srgbClr val="52514E"/>
                          </a:solidFill>
                          <a:latin typeface="Calibri"/>
                        </a:rPr>
                        <a:t>0.385</a:t>
                      </a:r>
                    </a:p>
                  </a:txBody>
                  <a:tcPr marL="73152" marR="73152" marT="27432" marB="27432" anchor="ctr">
                    <a:solidFill>
                      <a:srgbClr val="F7F7F5"/>
                    </a:solidFill>
                  </a:tcPr>
                </a:tc>
                <a:tc>
                  <a:txBody>
                    <a:bodyPr/>
                    <a:lstStyle/>
                    <a:p>
                      <a:pPr algn="r"/>
                      <a:r>
                        <a:rPr sz="1100">
                          <a:solidFill>
                            <a:srgbClr val="52514E"/>
                          </a:solidFill>
                          <a:latin typeface="Calibri"/>
                        </a:rPr>
                        <a:t>44.4</a:t>
                      </a:r>
                    </a:p>
                  </a:txBody>
                  <a:tcPr marL="73152" marR="73152" marT="27432" marB="27432" anchor="ctr">
                    <a:solidFill>
                      <a:srgbClr val="F7F7F5"/>
                    </a:solidFill>
                  </a:tcPr>
                </a:tc>
              </a:tr>
              <a:tr h="329184">
                <a:tc>
                  <a:txBody>
                    <a:bodyPr/>
                    <a:lstStyle/>
                    <a:p>
                      <a:pPr algn="l"/>
                      <a:r>
                        <a:rPr sz="1100">
                          <a:solidFill>
                            <a:srgbClr val="52514E"/>
                          </a:solidFill>
                          <a:latin typeface="Calibri"/>
                        </a:rPr>
                        <a:t>Rolling z-score (+ our calibration &amp; event logic)</a:t>
                      </a:r>
                    </a:p>
                  </a:txBody>
                  <a:tcPr marL="73152" marR="73152" marT="27432" marB="27432" anchor="ctr">
                    <a:solidFill>
                      <a:srgbClr val="FFFFFF"/>
                    </a:solidFill>
                  </a:tcPr>
                </a:tc>
                <a:tc>
                  <a:txBody>
                    <a:bodyPr/>
                    <a:lstStyle/>
                    <a:p>
                      <a:pPr algn="r"/>
                      <a:r>
                        <a:rPr sz="1100">
                          <a:solidFill>
                            <a:srgbClr val="52514E"/>
                          </a:solidFill>
                          <a:latin typeface="Calibri"/>
                        </a:rPr>
                        <a:t>0.332</a:t>
                      </a:r>
                    </a:p>
                  </a:txBody>
                  <a:tcPr marL="73152" marR="73152" marT="27432" marB="27432" anchor="ctr">
                    <a:solidFill>
                      <a:srgbClr val="FFFFFF"/>
                    </a:solidFill>
                  </a:tcPr>
                </a:tc>
                <a:tc>
                  <a:txBody>
                    <a:bodyPr/>
                    <a:lstStyle/>
                    <a:p>
                      <a:pPr algn="r"/>
                      <a:r>
                        <a:rPr sz="1100">
                          <a:solidFill>
                            <a:srgbClr val="52514E"/>
                          </a:solidFill>
                          <a:latin typeface="Calibri"/>
                        </a:rPr>
                        <a:t>0.332</a:t>
                      </a:r>
                    </a:p>
                  </a:txBody>
                  <a:tcPr marL="73152" marR="73152" marT="27432" marB="27432" anchor="ctr">
                    <a:solidFill>
                      <a:srgbClr val="FFFFFF"/>
                    </a:solidFill>
                  </a:tcPr>
                </a:tc>
                <a:tc>
                  <a:txBody>
                    <a:bodyPr/>
                    <a:lstStyle/>
                    <a:p>
                      <a:pPr algn="r"/>
                      <a:r>
                        <a:rPr sz="1100">
                          <a:solidFill>
                            <a:srgbClr val="52514E"/>
                          </a:solidFill>
                          <a:latin typeface="Calibri"/>
                        </a:rPr>
                        <a:t>0.295</a:t>
                      </a:r>
                    </a:p>
                  </a:txBody>
                  <a:tcPr marL="73152" marR="73152" marT="27432" marB="27432" anchor="ctr">
                    <a:solidFill>
                      <a:srgbClr val="FFFFFF"/>
                    </a:solidFill>
                  </a:tcPr>
                </a:tc>
                <a:tc>
                  <a:txBody>
                    <a:bodyPr/>
                    <a:lstStyle/>
                    <a:p>
                      <a:pPr algn="r"/>
                      <a:r>
                        <a:rPr sz="1100">
                          <a:solidFill>
                            <a:srgbClr val="52514E"/>
                          </a:solidFill>
                          <a:latin typeface="Calibri"/>
                        </a:rPr>
                        <a:t>0.379</a:t>
                      </a:r>
                    </a:p>
                  </a:txBody>
                  <a:tcPr marL="73152" marR="73152" marT="27432" marB="27432" anchor="ctr">
                    <a:solidFill>
                      <a:srgbClr val="FFFFFF"/>
                    </a:solidFill>
                  </a:tcPr>
                </a:tc>
                <a:tc>
                  <a:txBody>
                    <a:bodyPr/>
                    <a:lstStyle/>
                    <a:p>
                      <a:pPr algn="r"/>
                      <a:r>
                        <a:rPr sz="1100">
                          <a:solidFill>
                            <a:srgbClr val="52514E"/>
                          </a:solidFill>
                          <a:latin typeface="Calibri"/>
                        </a:rPr>
                        <a:t>105</a:t>
                      </a:r>
                    </a:p>
                  </a:txBody>
                  <a:tcPr marL="73152" marR="73152" marT="27432" marB="27432" anchor="ctr">
                    <a:solidFill>
                      <a:srgbClr val="FFFFFF"/>
                    </a:solidFill>
                  </a:tcPr>
                </a:tc>
                <a:tc>
                  <a:txBody>
                    <a:bodyPr/>
                    <a:lstStyle/>
                    <a:p>
                      <a:pPr algn="r"/>
                      <a:r>
                        <a:rPr sz="1100">
                          <a:solidFill>
                            <a:srgbClr val="52514E"/>
                          </a:solidFill>
                          <a:latin typeface="Calibri"/>
                        </a:rPr>
                        <a:t>0.332</a:t>
                      </a:r>
                    </a:p>
                  </a:txBody>
                  <a:tcPr marL="73152" marR="73152" marT="27432" marB="27432" anchor="ctr">
                    <a:solidFill>
                      <a:srgbClr val="FFFFFF"/>
                    </a:solidFill>
                  </a:tcPr>
                </a:tc>
                <a:tc>
                  <a:txBody>
                    <a:bodyPr/>
                    <a:lstStyle/>
                    <a:p>
                      <a:pPr algn="r"/>
                      <a:r>
                        <a:rPr sz="1100">
                          <a:solidFill>
                            <a:srgbClr val="52514E"/>
                          </a:solidFill>
                          <a:latin typeface="Calibri"/>
                        </a:rPr>
                        <a:t>29.6</a:t>
                      </a:r>
                    </a:p>
                  </a:txBody>
                  <a:tcPr marL="73152" marR="73152" marT="27432" marB="27432" anchor="ctr">
                    <a:solidFill>
                      <a:srgbClr val="FFFFFF"/>
                    </a:solidFill>
                  </a:tcPr>
                </a:tc>
              </a:tr>
              <a:tr h="329184">
                <a:tc>
                  <a:txBody>
                    <a:bodyPr/>
                    <a:lstStyle/>
                    <a:p>
                      <a:pPr algn="l"/>
                      <a:r>
                        <a:rPr sz="1100">
                          <a:solidFill>
                            <a:srgbClr val="52514E"/>
                          </a:solidFill>
                          <a:latin typeface="Calibri"/>
                        </a:rPr>
                        <a:t>One-Class SVM (+ our calibration &amp; event logic)</a:t>
                      </a:r>
                    </a:p>
                  </a:txBody>
                  <a:tcPr marL="73152" marR="73152" marT="27432" marB="27432" anchor="ctr">
                    <a:solidFill>
                      <a:srgbClr val="F7F7F5"/>
                    </a:solidFill>
                  </a:tcPr>
                </a:tc>
                <a:tc>
                  <a:txBody>
                    <a:bodyPr/>
                    <a:lstStyle/>
                    <a:p>
                      <a:pPr algn="r"/>
                      <a:r>
                        <a:rPr sz="1100">
                          <a:solidFill>
                            <a:srgbClr val="52514E"/>
                          </a:solidFill>
                          <a:latin typeface="Calibri"/>
                        </a:rPr>
                        <a:t>0.307</a:t>
                      </a:r>
                    </a:p>
                  </a:txBody>
                  <a:tcPr marL="73152" marR="73152" marT="27432" marB="27432" anchor="ctr">
                    <a:solidFill>
                      <a:srgbClr val="F7F7F5"/>
                    </a:solidFill>
                  </a:tcPr>
                </a:tc>
                <a:tc>
                  <a:txBody>
                    <a:bodyPr/>
                    <a:lstStyle/>
                    <a:p>
                      <a:pPr algn="r"/>
                      <a:r>
                        <a:rPr sz="1100">
                          <a:solidFill>
                            <a:srgbClr val="52514E"/>
                          </a:solidFill>
                          <a:latin typeface="Calibri"/>
                        </a:rPr>
                        <a:t>0.307</a:t>
                      </a:r>
                    </a:p>
                  </a:txBody>
                  <a:tcPr marL="73152" marR="73152" marT="27432" marB="27432" anchor="ctr">
                    <a:solidFill>
                      <a:srgbClr val="F7F7F5"/>
                    </a:solidFill>
                  </a:tcPr>
                </a:tc>
                <a:tc>
                  <a:txBody>
                    <a:bodyPr/>
                    <a:lstStyle/>
                    <a:p>
                      <a:pPr algn="r"/>
                      <a:r>
                        <a:rPr sz="1100">
                          <a:solidFill>
                            <a:srgbClr val="52514E"/>
                          </a:solidFill>
                          <a:latin typeface="Calibri"/>
                        </a:rPr>
                        <a:t>0.266</a:t>
                      </a:r>
                    </a:p>
                  </a:txBody>
                  <a:tcPr marL="73152" marR="73152" marT="27432" marB="27432" anchor="ctr">
                    <a:solidFill>
                      <a:srgbClr val="F7F7F5"/>
                    </a:solidFill>
                  </a:tcPr>
                </a:tc>
                <a:tc>
                  <a:txBody>
                    <a:bodyPr/>
                    <a:lstStyle/>
                    <a:p>
                      <a:pPr algn="r"/>
                      <a:r>
                        <a:rPr sz="1100">
                          <a:solidFill>
                            <a:srgbClr val="52514E"/>
                          </a:solidFill>
                          <a:latin typeface="Calibri"/>
                        </a:rPr>
                        <a:t>0.362</a:t>
                      </a:r>
                    </a:p>
                  </a:txBody>
                  <a:tcPr marL="73152" marR="73152" marT="27432" marB="27432" anchor="ctr">
                    <a:solidFill>
                      <a:srgbClr val="F7F7F5"/>
                    </a:solidFill>
                  </a:tcPr>
                </a:tc>
                <a:tc>
                  <a:txBody>
                    <a:bodyPr/>
                    <a:lstStyle/>
                    <a:p>
                      <a:pPr algn="r"/>
                      <a:r>
                        <a:rPr sz="1100">
                          <a:solidFill>
                            <a:srgbClr val="52514E"/>
                          </a:solidFill>
                          <a:latin typeface="Calibri"/>
                        </a:rPr>
                        <a:t>116</a:t>
                      </a:r>
                    </a:p>
                  </a:txBody>
                  <a:tcPr marL="73152" marR="73152" marT="27432" marB="27432" anchor="ctr">
                    <a:solidFill>
                      <a:srgbClr val="F7F7F5"/>
                    </a:solidFill>
                  </a:tcPr>
                </a:tc>
                <a:tc>
                  <a:txBody>
                    <a:bodyPr/>
                    <a:lstStyle/>
                    <a:p>
                      <a:pPr algn="r"/>
                      <a:r>
                        <a:rPr sz="1100">
                          <a:solidFill>
                            <a:srgbClr val="52514E"/>
                          </a:solidFill>
                          <a:latin typeface="Calibri"/>
                        </a:rPr>
                        <a:t>0.307</a:t>
                      </a:r>
                    </a:p>
                  </a:txBody>
                  <a:tcPr marL="73152" marR="73152" marT="27432" marB="27432" anchor="ctr">
                    <a:solidFill>
                      <a:srgbClr val="F7F7F5"/>
                    </a:solidFill>
                  </a:tcPr>
                </a:tc>
                <a:tc>
                  <a:txBody>
                    <a:bodyPr/>
                    <a:lstStyle/>
                    <a:p>
                      <a:pPr algn="r"/>
                      <a:r>
                        <a:rPr sz="1100">
                          <a:solidFill>
                            <a:srgbClr val="52514E"/>
                          </a:solidFill>
                          <a:latin typeface="Calibri"/>
                        </a:rPr>
                        <a:t>27.8</a:t>
                      </a:r>
                    </a:p>
                  </a:txBody>
                  <a:tcPr marL="73152" marR="73152" marT="27432" marB="27432" anchor="ctr">
                    <a:solidFill>
                      <a:srgbClr val="F7F7F5"/>
                    </a:solidFill>
                  </a:tcPr>
                </a:tc>
              </a:tr>
              <a:tr h="329184">
                <a:tc>
                  <a:txBody>
                    <a:bodyPr/>
                    <a:lstStyle/>
                    <a:p>
                      <a:pPr algn="l"/>
                      <a:r>
                        <a:rPr sz="1100">
                          <a:solidFill>
                            <a:srgbClr val="52514E"/>
                          </a:solidFill>
                          <a:latin typeface="Calibri"/>
                        </a:rPr>
                        <a:t>Random (+ event logic)</a:t>
                      </a:r>
                    </a:p>
                  </a:txBody>
                  <a:tcPr marL="73152" marR="73152" marT="27432" marB="27432" anchor="ctr">
                    <a:solidFill>
                      <a:srgbClr val="FFFFFF"/>
                    </a:solidFill>
                  </a:tcPr>
                </a:tc>
                <a:tc>
                  <a:txBody>
                    <a:bodyPr/>
                    <a:lstStyle/>
                    <a:p>
                      <a:pPr algn="r"/>
                      <a:r>
                        <a:rPr sz="1100">
                          <a:solidFill>
                            <a:srgbClr val="52514E"/>
                          </a:solidFill>
                          <a:latin typeface="Calibri"/>
                        </a:rPr>
                        <a:t>0.126</a:t>
                      </a:r>
                    </a:p>
                  </a:txBody>
                  <a:tcPr marL="73152" marR="73152" marT="27432" marB="27432" anchor="ctr">
                    <a:solidFill>
                      <a:srgbClr val="FFFFFF"/>
                    </a:solidFill>
                  </a:tcPr>
                </a:tc>
                <a:tc>
                  <a:txBody>
                    <a:bodyPr/>
                    <a:lstStyle/>
                    <a:p>
                      <a:pPr algn="r"/>
                      <a:r>
                        <a:rPr sz="1100">
                          <a:solidFill>
                            <a:srgbClr val="52514E"/>
                          </a:solidFill>
                          <a:latin typeface="Calibri"/>
                        </a:rPr>
                        <a:t>–</a:t>
                      </a:r>
                    </a:p>
                  </a:txBody>
                  <a:tcPr marL="73152" marR="73152" marT="27432" marB="27432" anchor="ctr">
                    <a:solidFill>
                      <a:srgbClr val="FFFFFF"/>
                    </a:solidFill>
                  </a:tcPr>
                </a:tc>
                <a:tc>
                  <a:txBody>
                    <a:bodyPr/>
                    <a:lstStyle/>
                    <a:p>
                      <a:pPr algn="r"/>
                      <a:r>
                        <a:rPr sz="1100">
                          <a:solidFill>
                            <a:srgbClr val="52514E"/>
                          </a:solidFill>
                          <a:latin typeface="Calibri"/>
                        </a:rPr>
                        <a:t>0.069</a:t>
                      </a:r>
                    </a:p>
                  </a:txBody>
                  <a:tcPr marL="73152" marR="73152" marT="27432" marB="27432" anchor="ctr">
                    <a:solidFill>
                      <a:srgbClr val="FFFFFF"/>
                    </a:solidFill>
                  </a:tcPr>
                </a:tc>
                <a:tc>
                  <a:txBody>
                    <a:bodyPr/>
                    <a:lstStyle/>
                    <a:p>
                      <a:pPr algn="r"/>
                      <a:r>
                        <a:rPr sz="1100">
                          <a:solidFill>
                            <a:srgbClr val="52514E"/>
                          </a:solidFill>
                          <a:latin typeface="Calibri"/>
                        </a:rPr>
                        <a:t>0.724</a:t>
                      </a:r>
                    </a:p>
                  </a:txBody>
                  <a:tcPr marL="73152" marR="73152" marT="27432" marB="27432" anchor="ctr">
                    <a:solidFill>
                      <a:srgbClr val="FFFFFF"/>
                    </a:solidFill>
                  </a:tcPr>
                </a:tc>
                <a:tc>
                  <a:txBody>
                    <a:bodyPr/>
                    <a:lstStyle/>
                    <a:p>
                      <a:pPr algn="r"/>
                      <a:r>
                        <a:rPr sz="1100">
                          <a:solidFill>
                            <a:srgbClr val="52514E"/>
                          </a:solidFill>
                          <a:latin typeface="Calibri"/>
                        </a:rPr>
                        <a:t>1137</a:t>
                      </a:r>
                    </a:p>
                  </a:txBody>
                  <a:tcPr marL="73152" marR="73152" marT="27432" marB="27432" anchor="ctr">
                    <a:solidFill>
                      <a:srgbClr val="FFFFFF"/>
                    </a:solidFill>
                  </a:tcPr>
                </a:tc>
                <a:tc>
                  <a:txBody>
                    <a:bodyPr/>
                    <a:lstStyle/>
                    <a:p>
                      <a:pPr algn="r"/>
                      <a:r>
                        <a:rPr sz="1100">
                          <a:solidFill>
                            <a:srgbClr val="52514E"/>
                          </a:solidFill>
                          <a:latin typeface="Calibri"/>
                        </a:rPr>
                        <a:t>0.178</a:t>
                      </a:r>
                    </a:p>
                  </a:txBody>
                  <a:tcPr marL="73152" marR="73152" marT="27432" marB="27432" anchor="ctr">
                    <a:solidFill>
                      <a:srgbClr val="FFFFFF"/>
                    </a:solidFill>
                  </a:tcPr>
                </a:tc>
                <a:tc>
                  <a:txBody>
                    <a:bodyPr/>
                    <a:lstStyle/>
                    <a:p>
                      <a:pPr algn="r"/>
                      <a:r>
                        <a:rPr sz="1100">
                          <a:solidFill>
                            <a:srgbClr val="52514E"/>
                          </a:solidFill>
                          <a:latin typeface="Calibri"/>
                        </a:rPr>
                        <a:t>14.0</a:t>
                      </a:r>
                    </a:p>
                  </a:txBody>
                  <a:tcPr marL="73152" marR="73152" marT="27432" marB="27432" anchor="ctr">
                    <a:solidFill>
                      <a:srgbClr val="FFFFFF"/>
                    </a:solidFill>
                  </a:tcPr>
                </a:tc>
              </a:tr>
            </a:tbl>
          </a:graphicData>
        </a:graphic>
      </p:graphicFrame>
      <p:sp>
        <p:nvSpPr>
          <p:cNvPr id="16" name="TextBox 15"/>
          <p:cNvSpPr txBox="1"/>
          <p:nvPr/>
        </p:nvSpPr>
        <p:spPr>
          <a:xfrm>
            <a:off x="548640" y="5422392"/>
            <a:ext cx="11064240" cy="822960"/>
          </a:xfrm>
          <a:prstGeom prst="rect">
            <a:avLst/>
          </a:prstGeom>
          <a:noFill/>
        </p:spPr>
        <p:txBody>
          <a:bodyPr wrap="square" anchor="t" lIns="0" rIns="0" tIns="0" bIns="0">
            <a:spAutoFit/>
          </a:bodyPr>
          <a:lstStyle/>
          <a:p>
            <a:pPr algn="l"/>
            <a:r>
              <a:rPr sz="1050" b="0" i="0">
                <a:solidFill>
                  <a:srgbClr val="898781"/>
                </a:solidFill>
                <a:latin typeface="Calibri"/>
              </a:rPr>
              <a:t>Best variant of each baseline (full table: results/baselines_comparison.csv). Held-out column: θ chosen on 6 categories, scored on the 7th, for every method (Sentinel's other settings were tuned on all files). NAB = NAB standard score, every ANOMALOUS row a detection (checked against NAB's own code). Published NAB detectors, ET F1 at their NAB threshold: CAD OSE 0.68, HTM 0.53, ARTime 0.48; not causal (NAB gives each file's min/max in advance) and thresholds tuned on all labels.</a:t>
            </a:r>
          </a:p>
        </p:txBody>
      </p:sp>
      <p:sp>
        <p:nvSpPr>
          <p:cNvPr id="17" name="TextBox 16"/>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98781"/>
                </a:solidFill>
                <a:latin typeface="Calibri"/>
              </a:rPr>
              <a:t>Sentinel  ·  Utkrishta 2026  ·  Challenge 2</a:t>
            </a:r>
          </a:p>
        </p:txBody>
      </p:sp>
      <p:sp>
        <p:nvSpPr>
          <p:cNvPr id="18" name="TextBox 17"/>
          <p:cNvSpPr txBox="1"/>
          <p:nvPr/>
        </p:nvSpPr>
        <p:spPr>
          <a:xfrm>
            <a:off x="10725912" y="6446520"/>
            <a:ext cx="914400" cy="274320"/>
          </a:xfrm>
          <a:prstGeom prst="rect">
            <a:avLst/>
          </a:prstGeom>
          <a:noFill/>
        </p:spPr>
        <p:txBody>
          <a:bodyPr wrap="square" anchor="t" lIns="0" rIns="0" tIns="0" bIns="0">
            <a:spAutoFit/>
          </a:bodyPr>
          <a:lstStyle/>
          <a:p>
            <a:pPr algn="r"/>
            <a:r>
              <a:rPr sz="1000" b="0" i="0">
                <a:solidFill>
                  <a:srgbClr val="898781"/>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r>
              <a:rPr sz="3200" b="1" i="0">
                <a:solidFill>
                  <a:srgbClr val="0B0B0B"/>
                </a:solidFill>
                <a:latin typeface="Calibri"/>
              </a:rPr>
              <a:t>Every alert comes with evidence a person can check</a:t>
            </a:r>
          </a:p>
        </p:txBody>
      </p:sp>
      <p:sp>
        <p:nvSpPr>
          <p:cNvPr id="3" name="TextBox 2"/>
          <p:cNvSpPr txBox="1"/>
          <p:nvPr/>
        </p:nvSpPr>
        <p:spPr>
          <a:xfrm>
            <a:off x="548640" y="987552"/>
            <a:ext cx="11064240" cy="411480"/>
          </a:xfrm>
          <a:prstGeom prst="rect">
            <a:avLst/>
          </a:prstGeom>
          <a:noFill/>
        </p:spPr>
        <p:txBody>
          <a:bodyPr wrap="square" anchor="t" lIns="0" rIns="0" tIns="0" bIns="0">
            <a:spAutoFit/>
          </a:bodyPr>
          <a:lstStyle/>
          <a:p>
            <a:pPr algn="l"/>
            <a:r>
              <a:rPr sz="1500" b="0" i="0">
                <a:solidFill>
                  <a:srgbClr val="52514E"/>
                </a:solidFill>
                <a:latin typeface="Calibri"/>
              </a:rPr>
              <a:t>streamlit run app/streamlit_app.py  ·  python scripts/run_stream.py --input file.csv --output out.csv --events ev.jsonl</a:t>
            </a:r>
          </a:p>
        </p:txBody>
      </p:sp>
      <p:pic>
        <p:nvPicPr>
          <p:cNvPr id="4" name="Picture 3" descr="demo_streamlit.png"/>
          <p:cNvPicPr>
            <a:picLocks noChangeAspect="1"/>
          </p:cNvPicPr>
          <p:nvPr/>
        </p:nvPicPr>
        <p:blipFill>
          <a:blip r:embed="rId2"/>
          <a:stretch>
            <a:fillRect/>
          </a:stretch>
        </p:blipFill>
        <p:spPr>
          <a:xfrm>
            <a:off x="548640" y="1508760"/>
            <a:ext cx="7607808" cy="4754880"/>
          </a:xfrm>
          <a:prstGeom prst="rect">
            <a:avLst/>
          </a:prstGeom>
        </p:spPr>
      </p:pic>
      <p:sp>
        <p:nvSpPr>
          <p:cNvPr id="5" name="Rounded Rectangle 4"/>
          <p:cNvSpPr/>
          <p:nvPr/>
        </p:nvSpPr>
        <p:spPr>
          <a:xfrm>
            <a:off x="6446520" y="1508760"/>
            <a:ext cx="5212080" cy="1234440"/>
          </a:xfrm>
          <a:prstGeom prst="roundRect">
            <a:avLst>
              <a:gd name="adj" fmla="val 8000"/>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0" y="1581912"/>
            <a:ext cx="4937760" cy="320040"/>
          </a:xfrm>
          <a:prstGeom prst="rect">
            <a:avLst/>
          </a:prstGeom>
          <a:noFill/>
        </p:spPr>
        <p:txBody>
          <a:bodyPr wrap="square" anchor="t" lIns="0" rIns="0" tIns="0" bIns="0">
            <a:spAutoFit/>
          </a:bodyPr>
          <a:lstStyle/>
          <a:p>
            <a:pPr algn="l"/>
            <a:r>
              <a:rPr sz="1200" b="1" i="0">
                <a:solidFill>
                  <a:srgbClr val="2A78D6"/>
                </a:solidFill>
                <a:latin typeface="Calibri"/>
              </a:rPr>
              <a:t>Correct alert</a:t>
            </a:r>
            <a:r>
              <a:rPr sz="1100" b="0" i="0">
                <a:solidFill>
                  <a:srgbClr val="52514E"/>
                </a:solidFill>
                <a:latin typeface="Calibri"/>
              </a:rPr>
              <a:t>  ·  machine_temperature_system_failure.csv  ·  2014-02-09 12:10:00</a:t>
            </a:r>
          </a:p>
        </p:txBody>
      </p:sp>
      <p:sp>
        <p:nvSpPr>
          <p:cNvPr id="7" name="TextBox 6"/>
          <p:cNvSpPr txBox="1"/>
          <p:nvPr/>
        </p:nvSpPr>
        <p:spPr>
          <a:xfrm>
            <a:off x="6583680" y="1920240"/>
            <a:ext cx="4937760" cy="1280160"/>
          </a:xfrm>
          <a:prstGeom prst="rect">
            <a:avLst/>
          </a:prstGeom>
          <a:noFill/>
        </p:spPr>
        <p:txBody>
          <a:bodyPr wrap="square" anchor="t" lIns="0" rIns="0" tIns="0" bIns="0">
            <a:spAutoFit/>
          </a:bodyPr>
          <a:lstStyle/>
          <a:p>
            <a:pPr algn="l"/>
            <a:r>
              <a:rPr sz="1200" b="0" i="0">
                <a:solidFill>
                  <a:srgbClr val="0B0B0B"/>
                </a:solidFill>
                <a:latin typeface="Calibri"/>
              </a:rPr>
              <a:t>Value 69.6 is 11.6x the normal spread above the expected 32.08. Also: Pattern break: only 74% of the last 32 values' shape is explained by the 3 usual patterns of the learning period.</a:t>
            </a:r>
          </a:p>
        </p:txBody>
      </p:sp>
      <p:sp>
        <p:nvSpPr>
          <p:cNvPr id="8" name="Rounded Rectangle 7"/>
          <p:cNvSpPr/>
          <p:nvPr/>
        </p:nvSpPr>
        <p:spPr>
          <a:xfrm>
            <a:off x="6446520" y="2880360"/>
            <a:ext cx="5212080" cy="1234440"/>
          </a:xfrm>
          <a:prstGeom prst="roundRect">
            <a:avLst>
              <a:gd name="adj" fmla="val 8000"/>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2953512"/>
            <a:ext cx="4937760" cy="320040"/>
          </a:xfrm>
          <a:prstGeom prst="rect">
            <a:avLst/>
          </a:prstGeom>
          <a:noFill/>
        </p:spPr>
        <p:txBody>
          <a:bodyPr wrap="square" anchor="t" lIns="0" rIns="0" tIns="0" bIns="0">
            <a:spAutoFit/>
          </a:bodyPr>
          <a:lstStyle/>
          <a:p>
            <a:pPr algn="l"/>
            <a:r>
              <a:rPr sz="1200" b="1" i="0">
                <a:solidFill>
                  <a:srgbClr val="2A78D6"/>
                </a:solidFill>
                <a:latin typeface="Calibri"/>
              </a:rPr>
              <a:t>Correct alert</a:t>
            </a:r>
            <a:r>
              <a:rPr sz="1100" b="0" i="0">
                <a:solidFill>
                  <a:srgbClr val="52514E"/>
                </a:solidFill>
                <a:latin typeface="Calibri"/>
              </a:rPr>
              <a:t>  ·  art_daily_flatmiddle.csv  ·  2014-04-11 00:10:00</a:t>
            </a:r>
          </a:p>
        </p:txBody>
      </p:sp>
      <p:sp>
        <p:nvSpPr>
          <p:cNvPr id="10" name="TextBox 9"/>
          <p:cNvSpPr txBox="1"/>
          <p:nvPr/>
        </p:nvSpPr>
        <p:spPr>
          <a:xfrm>
            <a:off x="6583680" y="3291840"/>
            <a:ext cx="4937760" cy="1280160"/>
          </a:xfrm>
          <a:prstGeom prst="rect">
            <a:avLst/>
          </a:prstGeom>
          <a:noFill/>
        </p:spPr>
        <p:txBody>
          <a:bodyPr wrap="square" anchor="t" lIns="0" rIns="0" tIns="0" bIns="0">
            <a:spAutoFit/>
          </a:bodyPr>
          <a:lstStyle/>
          <a:p>
            <a:pPr algn="l"/>
            <a:r>
              <a:rPr sz="1200" b="0" i="0">
                <a:solidFill>
                  <a:srgbClr val="0B0B0B"/>
                </a:solidFill>
                <a:latin typeface="Calibri"/>
              </a:rPr>
              <a:t>Sustained upward shift: level after removing the daily/weekly pattern -11.61 vs baseline -19.19 for 3 points. Also: Value 40 is 10.3x the normal spread above the expected -8.709 (daily pattern, 00:00).</a:t>
            </a:r>
          </a:p>
        </p:txBody>
      </p:sp>
      <p:sp>
        <p:nvSpPr>
          <p:cNvPr id="11" name="Rounded Rectangle 10"/>
          <p:cNvSpPr/>
          <p:nvPr/>
        </p:nvSpPr>
        <p:spPr>
          <a:xfrm>
            <a:off x="6446520" y="4251960"/>
            <a:ext cx="5212080" cy="1691640"/>
          </a:xfrm>
          <a:prstGeom prst="roundRect">
            <a:avLst>
              <a:gd name="adj" fmla="val 8000"/>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4325112"/>
            <a:ext cx="4937760" cy="320040"/>
          </a:xfrm>
          <a:prstGeom prst="rect">
            <a:avLst/>
          </a:prstGeom>
          <a:noFill/>
        </p:spPr>
        <p:txBody>
          <a:bodyPr wrap="square" anchor="t" lIns="0" rIns="0" tIns="0" bIns="0">
            <a:spAutoFit/>
          </a:bodyPr>
          <a:lstStyle/>
          <a:p>
            <a:pPr algn="l"/>
            <a:r>
              <a:rPr sz="1200" b="1" i="0">
                <a:solidFill>
                  <a:srgbClr val="E34948"/>
                </a:solidFill>
                <a:latin typeface="Calibri"/>
              </a:rPr>
              <a:t>False alert: why</a:t>
            </a:r>
            <a:r>
              <a:rPr sz="1100" b="0" i="0">
                <a:solidFill>
                  <a:srgbClr val="52514E"/>
                </a:solidFill>
                <a:latin typeface="Calibri"/>
              </a:rPr>
              <a:t>  ·  ec2_network_in_257a54.csv  ·  2014-04-22 16:14:00</a:t>
            </a:r>
          </a:p>
        </p:txBody>
      </p:sp>
      <p:sp>
        <p:nvSpPr>
          <p:cNvPr id="13" name="TextBox 12"/>
          <p:cNvSpPr txBox="1"/>
          <p:nvPr/>
        </p:nvSpPr>
        <p:spPr>
          <a:xfrm>
            <a:off x="6583680" y="4663440"/>
            <a:ext cx="4937760" cy="1280160"/>
          </a:xfrm>
          <a:prstGeom prst="rect">
            <a:avLst/>
          </a:prstGeom>
          <a:noFill/>
        </p:spPr>
        <p:txBody>
          <a:bodyPr wrap="square" anchor="t" lIns="0" rIns="0" tIns="0" bIns="0">
            <a:spAutoFit/>
          </a:bodyPr>
          <a:lstStyle/>
          <a:p>
            <a:pPr algn="l"/>
            <a:r>
              <a:rPr sz="1200" b="0" i="0">
                <a:solidFill>
                  <a:srgbClr val="0B0B0B"/>
                </a:solidFill>
                <a:latin typeface="Calibri"/>
              </a:rPr>
              <a:t>Sustained upward shift: level after removing the daily/weekly pattern -3.35e+06 vs baseline -3.399e+06 for 3 points.</a:t>
            </a:r>
          </a:p>
          <a:p>
            <a:pPr algn="l"/>
            <a:r>
              <a:rPr sz="1100" b="0" i="1">
                <a:solidFill>
                  <a:srgbClr val="52514E"/>
                </a:solidFill>
                <a:latin typeface="Calibri"/>
              </a:rPr>
              <a:t>Triggered outside every labelled window (see figures/examples_fp.png for context).</a:t>
            </a:r>
          </a:p>
        </p:txBody>
      </p:sp>
      <p:sp>
        <p:nvSpPr>
          <p:cNvPr id="14" name="TextBox 13"/>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98781"/>
                </a:solidFill>
                <a:latin typeface="Calibri"/>
              </a:rPr>
              <a:t>Sentinel  ·  Utkrishta 2026  ·  Challenge 2</a:t>
            </a:r>
          </a:p>
        </p:txBody>
      </p:sp>
      <p:sp>
        <p:nvSpPr>
          <p:cNvPr id="15" name="TextBox 14"/>
          <p:cNvSpPr txBox="1"/>
          <p:nvPr/>
        </p:nvSpPr>
        <p:spPr>
          <a:xfrm>
            <a:off x="10725912" y="6446520"/>
            <a:ext cx="914400" cy="274320"/>
          </a:xfrm>
          <a:prstGeom prst="rect">
            <a:avLst/>
          </a:prstGeom>
          <a:noFill/>
        </p:spPr>
        <p:txBody>
          <a:bodyPr wrap="square" anchor="t" lIns="0" rIns="0" tIns="0" bIns="0">
            <a:spAutoFit/>
          </a:bodyPr>
          <a:lstStyle/>
          <a:p>
            <a:pPr algn="r"/>
            <a:r>
              <a:rPr sz="1000" b="0" i="0">
                <a:solidFill>
                  <a:srgbClr val="898781"/>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r>
              <a:rPr sz="3200" b="1" i="0">
                <a:solidFill>
                  <a:srgbClr val="FFFFFF"/>
                </a:solidFill>
                <a:latin typeface="Calibri"/>
              </a:rPr>
              <a:t>What breaks it, and what comes next</a:t>
            </a:r>
          </a:p>
        </p:txBody>
      </p:sp>
      <p:sp>
        <p:nvSpPr>
          <p:cNvPr id="3" name="Rounded Rectangle 2"/>
          <p:cNvSpPr/>
          <p:nvPr/>
        </p:nvSpPr>
        <p:spPr>
          <a:xfrm>
            <a:off x="548640" y="1325880"/>
            <a:ext cx="5394960" cy="868680"/>
          </a:xfrm>
          <a:prstGeom prst="roundRect">
            <a:avLst>
              <a:gd name="adj" fmla="val 8000"/>
            </a:avLst>
          </a:prstGeom>
          <a:solidFill>
            <a:srgbClr val="1C2B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r>
              <a:rPr sz="1500" b="1" i="0">
                <a:solidFill>
                  <a:srgbClr val="FFFFFF"/>
                </a:solidFill>
                <a:latin typeface="Calibri"/>
              </a:rPr>
              <a:t>Looks like normal</a:t>
            </a:r>
          </a:p>
          <a:p>
            <a:pPr algn="l"/>
            <a:r>
              <a:rPr sz="1200" b="0" i="0">
                <a:solidFill>
                  <a:srgbClr val="C9D1DE"/>
                </a:solidFill>
                <a:latin typeface="Calibri"/>
              </a:rPr>
              <a:t>anomalies that resemble the usual seasonal pattern</a:t>
            </a:r>
          </a:p>
        </p:txBody>
      </p:sp>
      <p:sp>
        <p:nvSpPr>
          <p:cNvPr id="4" name="Rounded Rectangle 3"/>
          <p:cNvSpPr/>
          <p:nvPr/>
        </p:nvSpPr>
        <p:spPr>
          <a:xfrm>
            <a:off x="548640" y="2350008"/>
            <a:ext cx="5394960" cy="868680"/>
          </a:xfrm>
          <a:prstGeom prst="roundRect">
            <a:avLst>
              <a:gd name="adj" fmla="val 8000"/>
            </a:avLst>
          </a:prstGeom>
          <a:solidFill>
            <a:srgbClr val="1C2B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r>
              <a:rPr sz="1500" b="1" i="0">
                <a:solidFill>
                  <a:srgbClr val="FFFFFF"/>
                </a:solidFill>
                <a:latin typeface="Calibri"/>
              </a:rPr>
              <a:t>Bursty series</a:t>
            </a:r>
          </a:p>
          <a:p>
            <a:pPr algn="l"/>
            <a:r>
              <a:rPr sz="1200" b="0" i="0">
                <a:solidFill>
                  <a:srgbClr val="C9D1DE"/>
                </a:solidFill>
                <a:latin typeface="Calibri"/>
              </a:rPr>
              <a:t>Tweets/AWS: many unlabelled spikes look like labelled ones</a:t>
            </a:r>
          </a:p>
        </p:txBody>
      </p:sp>
      <p:sp>
        <p:nvSpPr>
          <p:cNvPr id="5" name="Rounded Rectangle 4"/>
          <p:cNvSpPr/>
          <p:nvPr/>
        </p:nvSpPr>
        <p:spPr>
          <a:xfrm>
            <a:off x="548640" y="3374136"/>
            <a:ext cx="5394960" cy="868680"/>
          </a:xfrm>
          <a:prstGeom prst="roundRect">
            <a:avLst>
              <a:gd name="adj" fmla="val 8000"/>
            </a:avLst>
          </a:prstGeom>
          <a:solidFill>
            <a:srgbClr val="1C2B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r>
              <a:rPr sz="1500" b="1" i="0">
                <a:solidFill>
                  <a:srgbClr val="FFFFFF"/>
                </a:solidFill>
                <a:latin typeface="Calibri"/>
              </a:rPr>
              <a:t>Regime switching</a:t>
            </a:r>
          </a:p>
          <a:p>
            <a:pPr algn="l"/>
            <a:r>
              <a:rPr sz="1200" b="0" i="0">
                <a:solidFill>
                  <a:srgbClr val="C9D1DE"/>
                </a:solidFill>
                <a:latin typeface="Calibri"/>
              </a:rPr>
              <a:t>CUSUM fires on series that change level often</a:t>
            </a:r>
          </a:p>
        </p:txBody>
      </p:sp>
      <p:sp>
        <p:nvSpPr>
          <p:cNvPr id="6" name="Rounded Rectangle 5"/>
          <p:cNvSpPr/>
          <p:nvPr/>
        </p:nvSpPr>
        <p:spPr>
          <a:xfrm>
            <a:off x="548640" y="4398264"/>
            <a:ext cx="5394960" cy="868680"/>
          </a:xfrm>
          <a:prstGeom prst="roundRect">
            <a:avLst>
              <a:gd name="adj" fmla="val 8000"/>
            </a:avLst>
          </a:prstGeom>
          <a:solidFill>
            <a:srgbClr val="1C2B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r>
              <a:rPr sz="1500" b="1" i="0">
                <a:solidFill>
                  <a:srgbClr val="FFFFFF"/>
                </a:solidFill>
                <a:latin typeface="Calibri"/>
              </a:rPr>
              <a:t>Labels</a:t>
            </a:r>
          </a:p>
          <a:p>
            <a:pPr algn="l"/>
            <a:r>
              <a:rPr sz="1200" b="0" i="0">
                <a:solidFill>
                  <a:srgbClr val="C9D1DE"/>
                </a:solidFill>
                <a:latin typeface="Calibri"/>
              </a:rPr>
              <a:t>some windows show no visible change; some clear events are unlabelled</a:t>
            </a:r>
          </a:p>
        </p:txBody>
      </p:sp>
      <p:sp>
        <p:nvSpPr>
          <p:cNvPr id="7" name="TextBox 6"/>
          <p:cNvSpPr txBox="1"/>
          <p:nvPr/>
        </p:nvSpPr>
        <p:spPr>
          <a:xfrm>
            <a:off x="6400800" y="1325880"/>
            <a:ext cx="5212080" cy="411480"/>
          </a:xfrm>
          <a:prstGeom prst="rect">
            <a:avLst/>
          </a:prstGeom>
          <a:noFill/>
        </p:spPr>
        <p:txBody>
          <a:bodyPr wrap="square" anchor="t" lIns="0" rIns="0" tIns="0" bIns="0">
            <a:spAutoFit/>
          </a:bodyPr>
          <a:lstStyle/>
          <a:p>
            <a:pPr algn="l"/>
            <a:r>
              <a:rPr sz="1800" b="1" i="0">
                <a:solidFill>
                  <a:srgbClr val="8FB3E8"/>
                </a:solidFill>
                <a:latin typeface="Calibri"/>
              </a:rPr>
              <a:t>Next</a:t>
            </a:r>
          </a:p>
        </p:txBody>
      </p:sp>
      <p:sp>
        <p:nvSpPr>
          <p:cNvPr id="8" name="TextBox 7"/>
          <p:cNvSpPr txBox="1"/>
          <p:nvPr/>
        </p:nvSpPr>
        <p:spPr>
          <a:xfrm>
            <a:off x="6400800" y="1783080"/>
            <a:ext cx="5212080" cy="1737360"/>
          </a:xfrm>
          <a:prstGeom prst="rect">
            <a:avLst/>
          </a:prstGeom>
          <a:noFill/>
        </p:spPr>
        <p:txBody>
          <a:bodyPr wrap="square" anchor="t" lIns="0" rIns="0" tIns="0" bIns="0">
            <a:spAutoFit/>
          </a:bodyPr>
          <a:lstStyle/>
          <a:p>
            <a:pPr algn="l">
              <a:spcAft>
                <a:spcPts val="600"/>
              </a:spcAft>
            </a:pPr>
            <a:r>
              <a:rPr sz="1400" b="0" i="0">
                <a:solidFill>
                  <a:srgbClr val="D6DBE4"/>
                </a:solidFill>
                <a:latin typeface="Calibri"/>
              </a:rPr>
              <a:t>Multivariate streams (shared context across metrics)</a:t>
            </a:r>
          </a:p>
          <a:p>
            <a:pPr algn="l">
              <a:spcAft>
                <a:spcPts val="600"/>
              </a:spcAft>
            </a:pPr>
            <a:r>
              <a:rPr sz="1400" b="0" i="0">
                <a:solidFill>
                  <a:srgbClr val="D6DBE4"/>
                </a:solidFill>
                <a:latin typeface="Calibri"/>
              </a:rPr>
              <a:t>Learn more seasonal periods online, not only day/week</a:t>
            </a:r>
          </a:p>
          <a:p>
            <a:pPr algn="l">
              <a:spcAft>
                <a:spcPts val="600"/>
              </a:spcAft>
            </a:pPr>
            <a:r>
              <a:rPr sz="1400" b="0" i="0">
                <a:solidFill>
                  <a:srgbClr val="D6DBE4"/>
                </a:solidFill>
                <a:latin typeface="Calibri"/>
              </a:rPr>
              <a:t>Operator feedback to adapt θ per service</a:t>
            </a:r>
          </a:p>
          <a:p>
            <a:pPr algn="l">
              <a:spcAft>
                <a:spcPts val="600"/>
              </a:spcAft>
            </a:pPr>
            <a:r>
              <a:rPr sz="1400" b="0" i="0">
                <a:solidFill>
                  <a:srgbClr val="D6DBE4"/>
                </a:solidFill>
                <a:latin typeface="Calibri"/>
              </a:rPr>
              <a:t>Retrain the neural channel on the GPU with more history (docs/GPU_TRAINING.md)</a:t>
            </a:r>
          </a:p>
        </p:txBody>
      </p:sp>
      <p:sp>
        <p:nvSpPr>
          <p:cNvPr id="9" name="TextBox 8"/>
          <p:cNvSpPr txBox="1"/>
          <p:nvPr/>
        </p:nvSpPr>
        <p:spPr>
          <a:xfrm>
            <a:off x="6400800" y="3794760"/>
            <a:ext cx="5212080" cy="411480"/>
          </a:xfrm>
          <a:prstGeom prst="rect">
            <a:avLst/>
          </a:prstGeom>
          <a:noFill/>
        </p:spPr>
        <p:txBody>
          <a:bodyPr wrap="square" anchor="t" lIns="0" rIns="0" tIns="0" bIns="0">
            <a:spAutoFit/>
          </a:bodyPr>
          <a:lstStyle/>
          <a:p>
            <a:pPr algn="l"/>
            <a:r>
              <a:rPr sz="1800" b="1" i="0">
                <a:solidFill>
                  <a:srgbClr val="8FB3E8"/>
                </a:solidFill>
                <a:latin typeface="Calibri"/>
              </a:rPr>
              <a:t>Conclusion</a:t>
            </a:r>
          </a:p>
        </p:txBody>
      </p:sp>
      <p:sp>
        <p:nvSpPr>
          <p:cNvPr id="10" name="TextBox 9"/>
          <p:cNvSpPr txBox="1"/>
          <p:nvPr/>
        </p:nvSpPr>
        <p:spPr>
          <a:xfrm>
            <a:off x="6400800" y="4251960"/>
            <a:ext cx="5212080" cy="2011680"/>
          </a:xfrm>
          <a:prstGeom prst="rect">
            <a:avLst/>
          </a:prstGeom>
          <a:noFill/>
        </p:spPr>
        <p:txBody>
          <a:bodyPr wrap="square" anchor="t" lIns="0" rIns="0" tIns="0" bIns="0">
            <a:spAutoFit/>
          </a:bodyPr>
          <a:lstStyle/>
          <a:p>
            <a:pPr algn="l">
              <a:spcAft>
                <a:spcPts val="800"/>
              </a:spcAft>
            </a:pPr>
            <a:r>
              <a:rPr sz="1400" b="0" i="0">
                <a:solidFill>
                  <a:srgbClr val="FFFFFF"/>
                </a:solidFill>
                <a:latin typeface="Calibri"/>
              </a:rPr>
              <a:t>4 causal detectors (residual + change + lof + subspace) + calibration + event logic: trigger-based event F1 0.54 on NAB, all files; 0.48 with θ chosen on held-out categories, 0.57 on the late halves.</a:t>
            </a:r>
          </a:p>
          <a:p>
            <a:pPr algn="l">
              <a:spcAft>
                <a:spcPts val="800"/>
              </a:spcAft>
            </a:pPr>
            <a:r>
              <a:rPr sz="1400" b="0" i="0">
                <a:solidFill>
                  <a:srgbClr val="FFFFFF"/>
                </a:solidFill>
                <a:latin typeface="Calibri"/>
              </a:rPr>
              <a:t>One alert per incident, each with a reason; 21 µs per point compiled.</a:t>
            </a:r>
          </a:p>
          <a:p>
            <a:pPr algn="l">
              <a:spcAft>
                <a:spcPts val="800"/>
              </a:spcAft>
            </a:pPr>
            <a:r>
              <a:rPr sz="1400" b="0" i="0">
                <a:solidFill>
                  <a:srgbClr val="FFFFFF"/>
                </a:solidFill>
                <a:latin typeface="Calibri"/>
              </a:rPr>
              <a:t>Metric audited; every change adopted only under a fixed held-out rule.</a:t>
            </a:r>
          </a:p>
        </p:txBody>
      </p:sp>
      <p:sp>
        <p:nvSpPr>
          <p:cNvPr id="11" name="TextBox 10"/>
          <p:cNvSpPr txBox="1"/>
          <p:nvPr/>
        </p:nvSpPr>
        <p:spPr>
          <a:xfrm>
            <a:off x="548640" y="6446520"/>
            <a:ext cx="5486400" cy="274320"/>
          </a:xfrm>
          <a:prstGeom prst="rect">
            <a:avLst/>
          </a:prstGeom>
          <a:noFill/>
        </p:spPr>
        <p:txBody>
          <a:bodyPr wrap="square" anchor="t" lIns="0" rIns="0" tIns="0" bIns="0">
            <a:spAutoFit/>
          </a:bodyPr>
          <a:lstStyle/>
          <a:p>
            <a:pPr algn="l"/>
            <a:r>
              <a:rPr sz="1000" b="0" i="0">
                <a:solidFill>
                  <a:srgbClr val="8A94A6"/>
                </a:solidFill>
                <a:latin typeface="Calibri"/>
              </a:rPr>
              <a:t>Sentinel  ·  Utkrishta 2026  ·  Challenge 2</a:t>
            </a:r>
          </a:p>
        </p:txBody>
      </p:sp>
      <p:sp>
        <p:nvSpPr>
          <p:cNvPr id="12" name="TextBox 11"/>
          <p:cNvSpPr txBox="1"/>
          <p:nvPr/>
        </p:nvSpPr>
        <p:spPr>
          <a:xfrm>
            <a:off x="10725912" y="6446520"/>
            <a:ext cx="914400" cy="274320"/>
          </a:xfrm>
          <a:prstGeom prst="rect">
            <a:avLst/>
          </a:prstGeom>
          <a:noFill/>
        </p:spPr>
        <p:txBody>
          <a:bodyPr wrap="square" anchor="t" lIns="0" rIns="0" tIns="0" bIns="0">
            <a:spAutoFit/>
          </a:bodyPr>
          <a:lstStyle/>
          <a:p>
            <a:pPr algn="r"/>
            <a:r>
              <a:rPr sz="1000" b="0" i="0">
                <a:solidFill>
                  <a:srgbClr val="8A94A6"/>
                </a:solidFill>
                <a:latin typeface="Calibri"/>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 — Utkrishta 2026 Challenge 2</dc:title>
  <dc:subject/>
  <dc:creator>Kommana Srinivasa Rao</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