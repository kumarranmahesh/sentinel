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BF4FECB-25D5-8749-23A5-8413A367C26F}">
          <p14:sldIdLst>
            <p14:sldId id="256"/>
            <p14:sldId id="257"/>
          </p14:sldIdLst>
        </p14:section>
        <p14:section name="Data and design" id="{BFA52532-CC2C-EEB6-7C87-6BD2AA1A7235}">
          <p14:sldIdLst>
            <p14:sldId id="258"/>
            <p14:sldId id="259"/>
          </p14:sldIdLst>
        </p14:section>
        <p14:section name="Approach" id="{B66FA28A-AB2C-FC41-9219-A9CD50C23204}">
          <p14:sldIdLst>
            <p14:sldId id="260"/>
            <p14:sldId id="261"/>
          </p14:sldIdLst>
        </p14:section>
        <p14:section name="Results" id="{3A4EAAAA-72DB-6DB5-BA8C-A6B783811B24}">
          <p14:sldIdLst>
            <p14:sldId id="262"/>
            <p14:sldId id="263"/>
            <p14:sldId id="264"/>
          </p14:sldIdLst>
        </p14:section>
        <p14:section name="Conclusion" id="{60E1A3FF-43D3-8DC5-D18F-EEBD59ECE4E0}">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5" d="100"/>
          <a:sy n="145" d="100"/>
        </p:scale>
        <p:origin x="100"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02E"/>
                </a:solidFill>
                <a:latin typeface="+mn-lt"/>
              </a:defRPr>
            </a:pPr>
            <a:r>
              <a:rPr sz="1200" b="0" i="0" u="none" strike="noStrike">
                <a:solidFill>
                  <a:srgbClr val="16202E"/>
                </a:solidFill>
                <a:latin typeface="+mn-lt"/>
              </a:rPr>
              <a:t>F1 score, all 58 files (higher is better)</a:t>
            </a:r>
          </a:p>
        </c:rich>
      </c:tx>
      <c:overlay val="0"/>
    </c:title>
    <c:autoTitleDeleted val="0"/>
    <c:plotArea>
      <c:layout/>
      <c:barChart>
        <c:barDir val="bar"/>
        <c:grouping val="clustered"/>
        <c:varyColors val="0"/>
        <c:ser>
          <c:idx val="0"/>
          <c:order val="0"/>
          <c:tx>
            <c:strRef>
              <c:f>Sheet1!$B$1</c:f>
              <c:strCache>
                <c:ptCount val="1"/>
                <c:pt idx="0">
                  <c:v>F1 score</c:v>
                </c:pt>
              </c:strCache>
            </c:strRef>
          </c:tx>
          <c:spPr>
            <a:solidFill>
              <a:srgbClr val="E8A33D"/>
            </a:solidFill>
            <a:effectLst/>
          </c:spPr>
          <c:invertIfNegative val="0"/>
          <c:dPt>
            <c:idx val="0"/>
            <c:invertIfNegative val="0"/>
            <c:bubble3D val="0"/>
            <c:extLst>
              <c:ext xmlns:c16="http://schemas.microsoft.com/office/drawing/2014/chart" uri="{C3380CC4-5D6E-409C-BE32-E72D297353CC}">
                <c16:uniqueId val="{00000001-869F-4FE7-BB94-3D9C7B4D476B}"/>
              </c:ext>
            </c:extLst>
          </c:dPt>
          <c:dPt>
            <c:idx val="1"/>
            <c:invertIfNegative val="0"/>
            <c:bubble3D val="0"/>
            <c:spPr>
              <a:solidFill>
                <a:srgbClr val="13233A"/>
              </a:solidFill>
              <a:effectLst/>
            </c:spPr>
            <c:extLst>
              <c:ext xmlns:c16="http://schemas.microsoft.com/office/drawing/2014/chart" uri="{C3380CC4-5D6E-409C-BE32-E72D297353CC}">
                <c16:uniqueId val="{00000003-869F-4FE7-BB94-3D9C7B4D476B}"/>
              </c:ext>
            </c:extLst>
          </c:dPt>
          <c:dPt>
            <c:idx val="2"/>
            <c:invertIfNegative val="0"/>
            <c:bubble3D val="0"/>
            <c:spPr>
              <a:solidFill>
                <a:srgbClr val="5B6B82"/>
              </a:solidFill>
              <a:effectLst/>
            </c:spPr>
            <c:extLst>
              <c:ext xmlns:c16="http://schemas.microsoft.com/office/drawing/2014/chart" uri="{C3380CC4-5D6E-409C-BE32-E72D297353CC}">
                <c16:uniqueId val="{00000005-869F-4FE7-BB94-3D9C7B4D476B}"/>
              </c:ext>
            </c:extLst>
          </c:dPt>
          <c:dPt>
            <c:idx val="3"/>
            <c:invertIfNegative val="0"/>
            <c:bubble3D val="0"/>
            <c:spPr>
              <a:solidFill>
                <a:srgbClr val="5B6B82"/>
              </a:solidFill>
              <a:effectLst/>
            </c:spPr>
            <c:extLst>
              <c:ext xmlns:c16="http://schemas.microsoft.com/office/drawing/2014/chart" uri="{C3380CC4-5D6E-409C-BE32-E72D297353CC}">
                <c16:uniqueId val="{00000007-869F-4FE7-BB94-3D9C7B4D476B}"/>
              </c:ext>
            </c:extLst>
          </c:dPt>
          <c:dPt>
            <c:idx val="4"/>
            <c:invertIfNegative val="0"/>
            <c:bubble3D val="0"/>
            <c:spPr>
              <a:solidFill>
                <a:srgbClr val="5B6B82"/>
              </a:solidFill>
              <a:effectLst/>
            </c:spPr>
            <c:extLst>
              <c:ext xmlns:c16="http://schemas.microsoft.com/office/drawing/2014/chart" uri="{C3380CC4-5D6E-409C-BE32-E72D297353CC}">
                <c16:uniqueId val="{00000009-869F-4FE7-BB94-3D9C7B4D476B}"/>
              </c:ext>
            </c:extLst>
          </c:dPt>
          <c:dPt>
            <c:idx val="5"/>
            <c:invertIfNegative val="0"/>
            <c:bubble3D val="0"/>
            <c:spPr>
              <a:solidFill>
                <a:srgbClr val="5B6B82"/>
              </a:solidFill>
              <a:effectLst/>
            </c:spPr>
            <c:extLst>
              <c:ext xmlns:c16="http://schemas.microsoft.com/office/drawing/2014/chart" uri="{C3380CC4-5D6E-409C-BE32-E72D297353CC}">
                <c16:uniqueId val="{0000000B-869F-4FE7-BB94-3D9C7B4D476B}"/>
              </c:ext>
            </c:extLst>
          </c:dPt>
          <c:dLbls>
            <c:numFmt formatCode="0.00" sourceLinked="0"/>
            <c:spPr>
              <a:noFill/>
              <a:ln>
                <a:noFill/>
              </a:ln>
              <a:effectLst/>
            </c:spPr>
            <c:txPr>
              <a:bodyPr/>
              <a:lstStyle/>
              <a:p>
                <a:pPr>
                  <a:defRPr sz="1100" b="0" i="0" u="none" strike="noStrike">
                    <a:solidFill>
                      <a:srgbClr val="1620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Sentinel v3 (final)</c:v>
                </c:pt>
                <c:pt idx="1">
                  <c:v>Sentinel v2</c:v>
                </c:pt>
                <c:pt idx="2">
                  <c:v>LOF</c:v>
                </c:pt>
                <c:pt idx="3">
                  <c:v>Isolation Forest</c:v>
                </c:pt>
                <c:pt idx="4">
                  <c:v>One-Class SVM</c:v>
                </c:pt>
                <c:pt idx="5">
                  <c:v>Rolling z-score</c:v>
                </c:pt>
              </c:strCache>
            </c:strRef>
          </c:cat>
          <c:val>
            <c:numRef>
              <c:f>Sheet1!$B$2:$B$7</c:f>
              <c:numCache>
                <c:formatCode>General</c:formatCode>
                <c:ptCount val="6"/>
                <c:pt idx="0">
                  <c:v>0.54</c:v>
                </c:pt>
                <c:pt idx="1">
                  <c:v>0.48</c:v>
                </c:pt>
                <c:pt idx="2">
                  <c:v>0.12</c:v>
                </c:pt>
                <c:pt idx="3">
                  <c:v>0.06</c:v>
                </c:pt>
                <c:pt idx="4">
                  <c:v>0.06</c:v>
                </c:pt>
                <c:pt idx="5">
                  <c:v>0.04</c:v>
                </c:pt>
              </c:numCache>
            </c:numRef>
          </c:val>
          <c:extLst>
            <c:ext xmlns:c16="http://schemas.microsoft.com/office/drawing/2014/chart" uri="{C3380CC4-5D6E-409C-BE32-E72D297353CC}">
              <c16:uniqueId val="{0000000C-869F-4FE7-BB94-3D9C7B4D476B}"/>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202E"/>
                </a:solidFill>
                <a:latin typeface="+mn-lt"/>
              </a:defRPr>
            </a:pPr>
            <a:endParaRPr lang="en-US"/>
          </a:p>
        </c:txPr>
        <c:crossAx val="2094734552"/>
        <c:crosses val="autoZero"/>
        <c:auto val="1"/>
        <c:lblAlgn val="ctr"/>
        <c:lblOffset val="100"/>
        <c:noMultiLvlLbl val="1"/>
      </c:catAx>
      <c:valAx>
        <c:axId val="2094734552"/>
        <c:scaling>
          <c:orientation val="minMax"/>
          <c:max val="0.7"/>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7445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reads a stream of numbers one point at a time, like a server's CPU or a machine's temperature. It learns what normal looks like, raises one alert when something goes wrong, and gives a short reason. In the picture: orange bands are the real problems, red lines are our alerts.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use: cloud servers, factory machines, traffic. The real cost is not missing a number; it is drowning people in alarms. On this server a textbook rule fired 34 times for one incident. Sentinel fired once, inside the incident.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NAB is the standard public benchmark for this problem. Each file is one metric over time; experts marked the periods where something went wrong. The detector never sees these marks; we only use them to score ourselves.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value goes through the same pipeline. Four small watchers each look for one kind of trouble. Their scores are turned into one common scale, like 'this happens once in 100,000 normal points'. The alert logic then makes sure one incident gives one alert, not fifty.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permitted approaches were tried as baselines. The biggest lesson: the detector matters less than what you do after it. Calibration and alert logic turn a mediocre detector into a good one. Deep learning added cost without adding accuracy on NAB.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worked in three rounds. In v3 we tested ten ideas, including a neural network. To avoid fooling ourselves we wrote the rule down before running anything: an idea is kept only if it wins on data it was not tuned 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alert counts where it starts. If it starts inside a real problem period, it is a catch; outside, a false alarm. The judges test on hidden data, so we score ourselves on data we did not tune on: a held-out kind of series, and the later half of every file.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scores 0.54, the standard methods score between 0.04 and 0.12 out of the box. Compared with our own previous version, v3 catches 4 more problems and cuts false alarms from 49 to 35. On the fair test with unseen future data it scores 0.57 against 0.53. One point takes about 21 microseconds, so about 50,000 points per second on one core.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replays a series point by point. Orange is the real problem, red marks our alert. Under the chart, each alert has a sentence a person can check: what value, what was expected, which watcher fired.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limits: some problems look normal, and some labels are debatable. The main message: simple, explainable methods with careful alert logic, tested fairly, work well and run fast.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rtlCol="0" anchor="ctr"/>
          <a:lstStyle/>
          <a:p>
            <a:pPr marL="0" indent="0">
              <a:buNone/>
            </a:pPr>
            <a:r>
              <a:rPr lang="en-US" sz="900" dirty="0">
                <a:solidFill>
                  <a:srgbClr val="5B6B82"/>
                </a:solidFill>
              </a:rPr>
              <a:t>Sentinel  ·  Utkrishta 2026  ·  Challenge 2</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33A"/>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C9D3E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411480"/>
            <a:ext cx="8229600" cy="274320"/>
          </a:xfrm>
          <a:prstGeom prst="rect">
            <a:avLst/>
          </a:prstGeom>
          <a:noFill/>
          <a:ln/>
        </p:spPr>
        <p:txBody>
          <a:bodyPr wrap="square" lIns="0" tIns="0" rIns="0" bIns="0" rtlCol="0" anchor="t"/>
          <a:lstStyle/>
          <a:p>
            <a:pPr marL="0" indent="0">
              <a:buNone/>
            </a:pPr>
            <a:r>
              <a:rPr lang="en-US" sz="1100" b="1" kern="0" spc="200" dirty="0">
                <a:solidFill>
                  <a:srgbClr val="E8A33D"/>
                </a:solidFill>
              </a:rPr>
              <a:t>UTKRISHTA 2026  ·  CHALLENGE 2  ·  ANOMALY DETECTION</a:t>
            </a:r>
            <a:endParaRPr lang="en-US" sz="1100" dirty="0"/>
          </a:p>
        </p:txBody>
      </p:sp>
      <p:sp>
        <p:nvSpPr>
          <p:cNvPr id="3" name="Text 1"/>
          <p:cNvSpPr txBox="1"/>
          <p:nvPr/>
        </p:nvSpPr>
        <p:spPr>
          <a:xfrm>
            <a:off x="457200" y="731520"/>
            <a:ext cx="8229600" cy="822960"/>
          </a:xfrm>
          <a:prstGeom prst="rect">
            <a:avLst/>
          </a:prstGeom>
          <a:noFill/>
          <a:ln/>
        </p:spPr>
        <p:txBody>
          <a:bodyPr wrap="square" lIns="0" tIns="0" rIns="0" bIns="0" rtlCol="0" anchor="t"/>
          <a:lstStyle/>
          <a:p>
            <a:pPr marL="0" indent="0">
              <a:buNone/>
            </a:pPr>
            <a:r>
              <a:rPr lang="en-US" sz="5400" b="1" dirty="0">
                <a:solidFill>
                  <a:srgbClr val="FFFFFF"/>
                </a:solidFill>
                <a:latin typeface="Cambria" pitchFamily="34" charset="0"/>
                <a:ea typeface="Cambria" pitchFamily="34" charset="-122"/>
                <a:cs typeface="Cambria" pitchFamily="34" charset="-120"/>
              </a:rPr>
              <a:t>Sentinel</a:t>
            </a:r>
            <a:endParaRPr lang="en-US" sz="5400" dirty="0"/>
          </a:p>
        </p:txBody>
      </p:sp>
      <p:sp>
        <p:nvSpPr>
          <p:cNvPr id="4" name="Text 2"/>
          <p:cNvSpPr txBox="1"/>
          <p:nvPr/>
        </p:nvSpPr>
        <p:spPr>
          <a:xfrm>
            <a:off x="457200" y="1600200"/>
            <a:ext cx="7772400" cy="640080"/>
          </a:xfrm>
          <a:prstGeom prst="rect">
            <a:avLst/>
          </a:prstGeom>
          <a:noFill/>
          <a:ln/>
        </p:spPr>
        <p:txBody>
          <a:bodyPr wrap="square" lIns="0" tIns="0" rIns="0" bIns="0" rtlCol="0" anchor="t"/>
          <a:lstStyle/>
          <a:p>
            <a:pPr marL="0" indent="0">
              <a:buNone/>
            </a:pPr>
            <a:r>
              <a:rPr lang="en-US" sz="1800" dirty="0">
                <a:solidFill>
                  <a:srgbClr val="C9D3E0"/>
                </a:solidFill>
              </a:rPr>
              <a:t>Watches a live stream of numbers, raises one alert per real problem, and explains why.</a:t>
            </a:r>
            <a:endParaRPr lang="en-US" sz="1800" dirty="0"/>
          </a:p>
        </p:txBody>
      </p:sp>
      <p:sp>
        <p:nvSpPr>
          <p:cNvPr id="5" name="Text 3"/>
          <p:cNvSpPr txBox="1"/>
          <p:nvPr/>
        </p:nvSpPr>
        <p:spPr>
          <a:xfrm>
            <a:off x="457200" y="2331720"/>
            <a:ext cx="8229600" cy="320040"/>
          </a:xfrm>
          <a:prstGeom prst="rect">
            <a:avLst/>
          </a:prstGeom>
          <a:noFill/>
          <a:ln/>
        </p:spPr>
        <p:txBody>
          <a:bodyPr wrap="square" lIns="0" tIns="0" rIns="0" bIns="0" rtlCol="0" anchor="t"/>
          <a:lstStyle/>
          <a:p>
            <a:pPr marL="0" indent="0">
              <a:buNone/>
            </a:pPr>
            <a:r>
              <a:rPr lang="en-US" sz="1200" dirty="0">
                <a:solidFill>
                  <a:srgbClr val="C9D3E0"/>
                </a:solidFill>
              </a:rPr>
              <a:t>Team: </a:t>
            </a:r>
            <a:r>
              <a:rPr lang="en-US" sz="1200">
                <a:solidFill>
                  <a:srgbClr val="C9D3E0"/>
                </a:solidFill>
              </a:rPr>
              <a:t>YouPlusMeThreeMama   </a:t>
            </a:r>
            <a:r>
              <a:rPr lang="en-US" sz="1200" dirty="0">
                <a:solidFill>
                  <a:srgbClr val="C9D3E0"/>
                </a:solidFill>
              </a:rPr>
              <a:t>·   Kommana Srinivasa Rao   ·   Panuganti Bhanu   ·   Vishnu Datta   ·   Kumarran Mahesh</a:t>
            </a:r>
            <a:endParaRPr lang="en-US" sz="1200" dirty="0"/>
          </a:p>
        </p:txBody>
      </p:sp>
      <p:pic>
        <p:nvPicPr>
          <p:cNvPr id="6" name="hero" descr="/home/claude/w/repo/figures/hero.png"/>
          <p:cNvPicPr>
            <a:picLocks noChangeAspect="1"/>
          </p:cNvPicPr>
          <p:nvPr/>
        </p:nvPicPr>
        <p:blipFill>
          <a:blip r:embed="rId3"/>
          <a:stretch>
            <a:fillRect/>
          </a:stretch>
        </p:blipFill>
        <p:spPr>
          <a:xfrm>
            <a:off x="457200" y="2926080"/>
            <a:ext cx="8229600" cy="1703851"/>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C9D3E0"/>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13233A"/>
                </a:solidFill>
                <a:latin typeface="Cambria" pitchFamily="34" charset="0"/>
                <a:ea typeface="Cambria" pitchFamily="34" charset="-122"/>
                <a:cs typeface="Cambria" pitchFamily="34" charset="-120"/>
              </a:rPr>
              <a:t>Why this problem matters</a:t>
            </a:r>
            <a:endParaRPr lang="en-US" sz="2800" dirty="0"/>
          </a:p>
        </p:txBody>
      </p:sp>
      <p:sp>
        <p:nvSpPr>
          <p:cNvPr id="3" name="prob0-bg"/>
          <p:cNvSpPr/>
          <p:nvPr/>
        </p:nvSpPr>
        <p:spPr>
          <a:xfrm>
            <a:off x="457200" y="1097280"/>
            <a:ext cx="502920" cy="502920"/>
          </a:xfrm>
          <a:prstGeom prst="ellipse">
            <a:avLst/>
          </a:prstGeom>
          <a:solidFill>
            <a:srgbClr val="E8A33D"/>
          </a:solidFill>
          <a:ln w="12700">
            <a:solidFill>
              <a:srgbClr val="E8A33D"/>
            </a:solidFill>
            <a:prstDash val="solid"/>
          </a:ln>
        </p:spPr>
      </p:sp>
      <p:pic>
        <p:nvPicPr>
          <p:cNvPr id="4" name="prob0" descr="preencoded.png"/>
          <p:cNvPicPr>
            <a:picLocks noChangeAspect="1"/>
          </p:cNvPicPr>
          <p:nvPr/>
        </p:nvPicPr>
        <p:blipFill>
          <a:blip r:embed="rId3"/>
          <a:stretch>
            <a:fillRect/>
          </a:stretch>
        </p:blipFill>
        <p:spPr>
          <a:xfrm>
            <a:off x="582930" y="1223010"/>
            <a:ext cx="251460" cy="251460"/>
          </a:xfrm>
          <a:prstGeom prst="rect">
            <a:avLst/>
          </a:prstGeom>
        </p:spPr>
      </p:pic>
      <p:sp>
        <p:nvSpPr>
          <p:cNvPr id="5" name="Text 2"/>
          <p:cNvSpPr txBox="1"/>
          <p:nvPr/>
        </p:nvSpPr>
        <p:spPr>
          <a:xfrm>
            <a:off x="1143000" y="1078992"/>
            <a:ext cx="3291840" cy="320040"/>
          </a:xfrm>
          <a:prstGeom prst="rect">
            <a:avLst/>
          </a:prstGeom>
          <a:noFill/>
          <a:ln/>
        </p:spPr>
        <p:txBody>
          <a:bodyPr wrap="square" lIns="0" tIns="0" rIns="0" bIns="0" rtlCol="0" anchor="t"/>
          <a:lstStyle/>
          <a:p>
            <a:pPr marL="0" indent="0">
              <a:buNone/>
            </a:pPr>
            <a:r>
              <a:rPr lang="en-US" sz="1600" b="1" dirty="0">
                <a:solidFill>
                  <a:srgbClr val="16202E"/>
                </a:solidFill>
              </a:rPr>
              <a:t>Data arrives every few minutes</a:t>
            </a:r>
            <a:endParaRPr lang="en-US" sz="1600" dirty="0"/>
          </a:p>
        </p:txBody>
      </p:sp>
      <p:sp>
        <p:nvSpPr>
          <p:cNvPr id="6" name="Text 3"/>
          <p:cNvSpPr txBox="1"/>
          <p:nvPr/>
        </p:nvSpPr>
        <p:spPr>
          <a:xfrm>
            <a:off x="1143000" y="1426464"/>
            <a:ext cx="3291840" cy="685800"/>
          </a:xfrm>
          <a:prstGeom prst="rect">
            <a:avLst/>
          </a:prstGeom>
          <a:noFill/>
          <a:ln/>
        </p:spPr>
        <p:txBody>
          <a:bodyPr wrap="square" lIns="0" tIns="0" rIns="0" bIns="0" rtlCol="0" anchor="t"/>
          <a:lstStyle/>
          <a:p>
            <a:pPr marL="0" indent="0">
              <a:buNone/>
            </a:pPr>
            <a:r>
              <a:rPr lang="en-US" sz="1300" dirty="0">
                <a:solidFill>
                  <a:srgbClr val="5B6B82"/>
                </a:solidFill>
              </a:rPr>
              <a:t>Servers, machines and traffic sensors never stop. Someone has to spot trouble as it happens.</a:t>
            </a:r>
            <a:endParaRPr lang="en-US" sz="1300" dirty="0"/>
          </a:p>
        </p:txBody>
      </p:sp>
      <p:sp>
        <p:nvSpPr>
          <p:cNvPr id="7" name="prob1-bg"/>
          <p:cNvSpPr/>
          <p:nvPr/>
        </p:nvSpPr>
        <p:spPr>
          <a:xfrm>
            <a:off x="457200" y="2240280"/>
            <a:ext cx="502920" cy="502920"/>
          </a:xfrm>
          <a:prstGeom prst="ellipse">
            <a:avLst/>
          </a:prstGeom>
          <a:solidFill>
            <a:srgbClr val="E8A33D"/>
          </a:solidFill>
          <a:ln w="12700">
            <a:solidFill>
              <a:srgbClr val="E8A33D"/>
            </a:solidFill>
            <a:prstDash val="solid"/>
          </a:ln>
        </p:spPr>
      </p:sp>
      <p:pic>
        <p:nvPicPr>
          <p:cNvPr id="8" name="prob1" descr="preencoded.png"/>
          <p:cNvPicPr>
            <a:picLocks noChangeAspect="1"/>
          </p:cNvPicPr>
          <p:nvPr/>
        </p:nvPicPr>
        <p:blipFill>
          <a:blip r:embed="rId4"/>
          <a:stretch>
            <a:fillRect/>
          </a:stretch>
        </p:blipFill>
        <p:spPr>
          <a:xfrm>
            <a:off x="582930" y="2366010"/>
            <a:ext cx="251460" cy="251460"/>
          </a:xfrm>
          <a:prstGeom prst="rect">
            <a:avLst/>
          </a:prstGeom>
        </p:spPr>
      </p:pic>
      <p:sp>
        <p:nvSpPr>
          <p:cNvPr id="9" name="Text 5"/>
          <p:cNvSpPr txBox="1"/>
          <p:nvPr/>
        </p:nvSpPr>
        <p:spPr>
          <a:xfrm>
            <a:off x="1143000" y="2221992"/>
            <a:ext cx="3291840" cy="320040"/>
          </a:xfrm>
          <a:prstGeom prst="rect">
            <a:avLst/>
          </a:prstGeom>
          <a:noFill/>
          <a:ln/>
        </p:spPr>
        <p:txBody>
          <a:bodyPr wrap="square" lIns="0" tIns="0" rIns="0" bIns="0" rtlCol="0" anchor="t"/>
          <a:lstStyle/>
          <a:p>
            <a:pPr marL="0" indent="0">
              <a:buNone/>
            </a:pPr>
            <a:r>
              <a:rPr lang="en-US" sz="1600" b="1" dirty="0">
                <a:solidFill>
                  <a:srgbClr val="16202E"/>
                </a:solidFill>
              </a:rPr>
              <a:t>Too many alarms get ignored</a:t>
            </a:r>
            <a:endParaRPr lang="en-US" sz="1600" dirty="0"/>
          </a:p>
        </p:txBody>
      </p:sp>
      <p:sp>
        <p:nvSpPr>
          <p:cNvPr id="10" name="Text 6"/>
          <p:cNvSpPr txBox="1"/>
          <p:nvPr/>
        </p:nvSpPr>
        <p:spPr>
          <a:xfrm>
            <a:off x="1143000" y="2569464"/>
            <a:ext cx="3291840" cy="685800"/>
          </a:xfrm>
          <a:prstGeom prst="rect">
            <a:avLst/>
          </a:prstGeom>
          <a:noFill/>
          <a:ln/>
        </p:spPr>
        <p:txBody>
          <a:bodyPr wrap="square" lIns="0" tIns="0" rIns="0" bIns="0" rtlCol="0" anchor="t"/>
          <a:lstStyle/>
          <a:p>
            <a:pPr marL="0" indent="0">
              <a:buNone/>
            </a:pPr>
            <a:r>
              <a:rPr lang="en-US" sz="1300" dirty="0">
                <a:solidFill>
                  <a:srgbClr val="5B6B82"/>
                </a:solidFill>
              </a:rPr>
              <a:t>A simple rule can fire dozens of times for one problem. People stop trusting it.</a:t>
            </a:r>
            <a:endParaRPr lang="en-US" sz="1300" dirty="0"/>
          </a:p>
        </p:txBody>
      </p:sp>
      <p:sp>
        <p:nvSpPr>
          <p:cNvPr id="11" name="prob2-bg"/>
          <p:cNvSpPr/>
          <p:nvPr/>
        </p:nvSpPr>
        <p:spPr>
          <a:xfrm>
            <a:off x="457200" y="3383280"/>
            <a:ext cx="502920" cy="502920"/>
          </a:xfrm>
          <a:prstGeom prst="ellipse">
            <a:avLst/>
          </a:prstGeom>
          <a:solidFill>
            <a:srgbClr val="E8A33D"/>
          </a:solidFill>
          <a:ln w="12700">
            <a:solidFill>
              <a:srgbClr val="E8A33D"/>
            </a:solidFill>
            <a:prstDash val="solid"/>
          </a:ln>
        </p:spPr>
      </p:sp>
      <p:pic>
        <p:nvPicPr>
          <p:cNvPr id="12" name="prob2" descr="preencoded.png"/>
          <p:cNvPicPr>
            <a:picLocks noChangeAspect="1"/>
          </p:cNvPicPr>
          <p:nvPr/>
        </p:nvPicPr>
        <p:blipFill>
          <a:blip r:embed="rId5"/>
          <a:stretch>
            <a:fillRect/>
          </a:stretch>
        </p:blipFill>
        <p:spPr>
          <a:xfrm>
            <a:off x="582930" y="3509010"/>
            <a:ext cx="251460" cy="251460"/>
          </a:xfrm>
          <a:prstGeom prst="rect">
            <a:avLst/>
          </a:prstGeom>
        </p:spPr>
      </p:pic>
      <p:sp>
        <p:nvSpPr>
          <p:cNvPr id="13" name="Text 8"/>
          <p:cNvSpPr txBox="1"/>
          <p:nvPr/>
        </p:nvSpPr>
        <p:spPr>
          <a:xfrm>
            <a:off x="1143000" y="3364992"/>
            <a:ext cx="3291840" cy="320040"/>
          </a:xfrm>
          <a:prstGeom prst="rect">
            <a:avLst/>
          </a:prstGeom>
          <a:noFill/>
          <a:ln/>
        </p:spPr>
        <p:txBody>
          <a:bodyPr wrap="square" lIns="0" tIns="0" rIns="0" bIns="0" rtlCol="0" anchor="t"/>
          <a:lstStyle/>
          <a:p>
            <a:pPr marL="0" indent="0">
              <a:buNone/>
            </a:pPr>
            <a:r>
              <a:rPr lang="en-US" sz="1600" b="1" dirty="0">
                <a:solidFill>
                  <a:srgbClr val="16202E"/>
                </a:solidFill>
              </a:rPr>
              <a:t>Decide now, using only the past</a:t>
            </a:r>
            <a:endParaRPr lang="en-US" sz="1600" dirty="0"/>
          </a:p>
        </p:txBody>
      </p:sp>
      <p:sp>
        <p:nvSpPr>
          <p:cNvPr id="14" name="Text 9"/>
          <p:cNvSpPr txBox="1"/>
          <p:nvPr/>
        </p:nvSpPr>
        <p:spPr>
          <a:xfrm>
            <a:off x="1143000" y="3712464"/>
            <a:ext cx="3291840" cy="685800"/>
          </a:xfrm>
          <a:prstGeom prst="rect">
            <a:avLst/>
          </a:prstGeom>
          <a:noFill/>
          <a:ln/>
        </p:spPr>
        <p:txBody>
          <a:bodyPr wrap="square" lIns="0" tIns="0" rIns="0" bIns="0" rtlCol="0" anchor="t"/>
          <a:lstStyle/>
          <a:p>
            <a:pPr marL="0" indent="0">
              <a:buNone/>
            </a:pPr>
            <a:r>
              <a:rPr lang="en-US" sz="1300" dirty="0">
                <a:solidFill>
                  <a:srgbClr val="5B6B82"/>
                </a:solidFill>
              </a:rPr>
              <a:t>We cannot wait for tomorrow's data to judge today's point.</a:t>
            </a:r>
            <a:endParaRPr lang="en-US" sz="1300" dirty="0"/>
          </a:p>
        </p:txBody>
      </p:sp>
      <p:pic>
        <p:nvPicPr>
          <p:cNvPr id="15" name="storm" descr="/home/claude/w/repo/figures/alert_storm.png"/>
          <p:cNvPicPr>
            <a:picLocks noChangeAspect="1"/>
          </p:cNvPicPr>
          <p:nvPr/>
        </p:nvPicPr>
        <p:blipFill>
          <a:blip r:embed="rId6"/>
          <a:stretch>
            <a:fillRect/>
          </a:stretch>
        </p:blipFill>
        <p:spPr>
          <a:xfrm>
            <a:off x="4663440" y="1051560"/>
            <a:ext cx="4023360" cy="1683414"/>
          </a:xfrm>
          <a:prstGeom prst="rect">
            <a:avLst/>
          </a:prstGeom>
        </p:spPr>
      </p:pic>
      <p:sp>
        <p:nvSpPr>
          <p:cNvPr id="16" name="stat-z"/>
          <p:cNvSpPr/>
          <p:nvPr/>
        </p:nvSpPr>
        <p:spPr>
          <a:xfrm>
            <a:off x="4663440" y="2971800"/>
            <a:ext cx="1920240" cy="1051560"/>
          </a:xfrm>
          <a:prstGeom prst="roundRect">
            <a:avLst>
              <a:gd name="adj" fmla="val 6957"/>
            </a:avLst>
          </a:prstGeom>
          <a:solidFill>
            <a:srgbClr val="EEF2F7"/>
          </a:solidFill>
          <a:ln w="12700">
            <a:solidFill>
              <a:srgbClr val="EEF2F7"/>
            </a:solidFill>
            <a:prstDash val="solid"/>
          </a:ln>
        </p:spPr>
      </p:sp>
      <p:sp>
        <p:nvSpPr>
          <p:cNvPr id="17" name="Text 11"/>
          <p:cNvSpPr txBox="1"/>
          <p:nvPr/>
        </p:nvSpPr>
        <p:spPr>
          <a:xfrm>
            <a:off x="4800600" y="3090672"/>
            <a:ext cx="1737360" cy="868680"/>
          </a:xfrm>
          <a:prstGeom prst="rect">
            <a:avLst/>
          </a:prstGeom>
          <a:noFill/>
          <a:ln/>
        </p:spPr>
        <p:txBody>
          <a:bodyPr wrap="square" lIns="0" tIns="0" rIns="0" bIns="0" rtlCol="0" anchor="t"/>
          <a:lstStyle/>
          <a:p>
            <a:pPr marL="0" indent="0">
              <a:buNone/>
            </a:pPr>
            <a:r>
              <a:rPr lang="en-US" sz="2400" b="1" dirty="0">
                <a:solidFill>
                  <a:srgbClr val="D9534F"/>
                </a:solidFill>
              </a:rPr>
              <a:t>34 alerts</a:t>
            </a:r>
            <a:endParaRPr lang="en-US" sz="1400" dirty="0"/>
          </a:p>
          <a:p>
            <a:pPr marL="0" indent="0">
              <a:buNone/>
            </a:pPr>
            <a:r>
              <a:rPr lang="en-US" sz="1100" dirty="0">
                <a:solidFill>
                  <a:srgbClr val="5B6B82"/>
                </a:solidFill>
              </a:rPr>
              <a:t>simple rule, same problem</a:t>
            </a:r>
            <a:endParaRPr lang="en-US" sz="1400" dirty="0"/>
          </a:p>
        </p:txBody>
      </p:sp>
      <p:sp>
        <p:nvSpPr>
          <p:cNvPr id="18" name="stat-s"/>
          <p:cNvSpPr/>
          <p:nvPr/>
        </p:nvSpPr>
        <p:spPr>
          <a:xfrm>
            <a:off x="6766560" y="2971800"/>
            <a:ext cx="1920240" cy="1051560"/>
          </a:xfrm>
          <a:prstGeom prst="roundRect">
            <a:avLst>
              <a:gd name="adj" fmla="val 6957"/>
            </a:avLst>
          </a:prstGeom>
          <a:solidFill>
            <a:srgbClr val="EEF2F7"/>
          </a:solidFill>
          <a:ln w="12700">
            <a:solidFill>
              <a:srgbClr val="EEF2F7"/>
            </a:solidFill>
            <a:prstDash val="solid"/>
          </a:ln>
        </p:spPr>
      </p:sp>
      <p:sp>
        <p:nvSpPr>
          <p:cNvPr id="19" name="Text 13"/>
          <p:cNvSpPr txBox="1"/>
          <p:nvPr/>
        </p:nvSpPr>
        <p:spPr>
          <a:xfrm>
            <a:off x="6903720" y="3090672"/>
            <a:ext cx="1737360" cy="868680"/>
          </a:xfrm>
          <a:prstGeom prst="rect">
            <a:avLst/>
          </a:prstGeom>
          <a:noFill/>
          <a:ln/>
        </p:spPr>
        <p:txBody>
          <a:bodyPr wrap="square" lIns="0" tIns="0" rIns="0" bIns="0" rtlCol="0" anchor="t"/>
          <a:lstStyle/>
          <a:p>
            <a:pPr marL="0" indent="0">
              <a:buNone/>
            </a:pPr>
            <a:r>
              <a:rPr lang="en-US" sz="2400" b="1" dirty="0">
                <a:solidFill>
                  <a:srgbClr val="3F7D6E"/>
                </a:solidFill>
              </a:rPr>
              <a:t>1 alert</a:t>
            </a:r>
            <a:endParaRPr lang="en-US" sz="1400" dirty="0"/>
          </a:p>
          <a:p>
            <a:pPr marL="0" indent="0">
              <a:buNone/>
            </a:pPr>
            <a:r>
              <a:rPr lang="en-US" sz="1100" dirty="0">
                <a:solidFill>
                  <a:srgbClr val="5B6B82"/>
                </a:solidFill>
              </a:rPr>
              <a:t>Sentinel, inside the problem</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13233A"/>
                </a:solidFill>
                <a:latin typeface="Cambria" pitchFamily="34" charset="0"/>
                <a:ea typeface="Cambria" pitchFamily="34" charset="-122"/>
                <a:cs typeface="Cambria" pitchFamily="34" charset="-120"/>
              </a:rPr>
              <a:t>The data: Numenta Anomaly Benchmark (NAB)</a:t>
            </a:r>
            <a:endParaRPr lang="en-US" sz="2800" dirty="0"/>
          </a:p>
        </p:txBody>
      </p:sp>
      <p:sp>
        <p:nvSpPr>
          <p:cNvPr id="3" name="Text 1"/>
          <p:cNvSpPr txBox="1"/>
          <p:nvPr/>
        </p:nvSpPr>
        <p:spPr>
          <a:xfrm>
            <a:off x="457200" y="1097280"/>
            <a:ext cx="2011680" cy="502920"/>
          </a:xfrm>
          <a:prstGeom prst="rect">
            <a:avLst/>
          </a:prstGeom>
          <a:noFill/>
          <a:ln/>
        </p:spPr>
        <p:txBody>
          <a:bodyPr wrap="square" lIns="0" tIns="0" rIns="0" bIns="0" rtlCol="0" anchor="t"/>
          <a:lstStyle/>
          <a:p>
            <a:pPr marL="0" indent="0">
              <a:buNone/>
            </a:pPr>
            <a:r>
              <a:rPr lang="en-US" sz="3000" b="1" dirty="0">
                <a:solidFill>
                  <a:srgbClr val="13233A"/>
                </a:solidFill>
                <a:latin typeface="Cambria" pitchFamily="34" charset="0"/>
                <a:ea typeface="Cambria" pitchFamily="34" charset="-122"/>
                <a:cs typeface="Cambria" pitchFamily="34" charset="-120"/>
              </a:rPr>
              <a:t>58</a:t>
            </a:r>
            <a:endParaRPr lang="en-US" sz="3000" dirty="0"/>
          </a:p>
        </p:txBody>
      </p:sp>
      <p:sp>
        <p:nvSpPr>
          <p:cNvPr id="4" name="Text 2"/>
          <p:cNvSpPr txBox="1"/>
          <p:nvPr/>
        </p:nvSpPr>
        <p:spPr>
          <a:xfrm>
            <a:off x="457200" y="1600200"/>
            <a:ext cx="1920240" cy="457200"/>
          </a:xfrm>
          <a:prstGeom prst="rect">
            <a:avLst/>
          </a:prstGeom>
          <a:noFill/>
          <a:ln/>
        </p:spPr>
        <p:txBody>
          <a:bodyPr wrap="square" lIns="0" tIns="0" rIns="0" bIns="0" rtlCol="0" anchor="t"/>
          <a:lstStyle/>
          <a:p>
            <a:pPr marL="0" indent="0">
              <a:buNone/>
            </a:pPr>
            <a:r>
              <a:rPr lang="en-US" sz="1100" dirty="0">
                <a:solidFill>
                  <a:srgbClr val="5B6B82"/>
                </a:solidFill>
              </a:rPr>
              <a:t>real and synthetic series</a:t>
            </a:r>
            <a:endParaRPr lang="en-US" sz="1100" dirty="0"/>
          </a:p>
        </p:txBody>
      </p:sp>
      <p:sp>
        <p:nvSpPr>
          <p:cNvPr id="5" name="Text 3"/>
          <p:cNvSpPr txBox="1"/>
          <p:nvPr/>
        </p:nvSpPr>
        <p:spPr>
          <a:xfrm>
            <a:off x="2560320" y="1097280"/>
            <a:ext cx="2011680" cy="502920"/>
          </a:xfrm>
          <a:prstGeom prst="rect">
            <a:avLst/>
          </a:prstGeom>
          <a:noFill/>
          <a:ln/>
        </p:spPr>
        <p:txBody>
          <a:bodyPr wrap="square" lIns="0" tIns="0" rIns="0" bIns="0" rtlCol="0" anchor="t"/>
          <a:lstStyle/>
          <a:p>
            <a:pPr marL="0" indent="0">
              <a:buNone/>
            </a:pPr>
            <a:r>
              <a:rPr lang="en-US" sz="3000" b="1" dirty="0">
                <a:solidFill>
                  <a:srgbClr val="13233A"/>
                </a:solidFill>
                <a:latin typeface="Cambria" pitchFamily="34" charset="0"/>
                <a:ea typeface="Cambria" pitchFamily="34" charset="-122"/>
                <a:cs typeface="Cambria" pitchFamily="34" charset="-120"/>
              </a:rPr>
              <a:t>7</a:t>
            </a:r>
            <a:endParaRPr lang="en-US" sz="3000" dirty="0"/>
          </a:p>
        </p:txBody>
      </p:sp>
      <p:sp>
        <p:nvSpPr>
          <p:cNvPr id="6" name="Text 4"/>
          <p:cNvSpPr txBox="1"/>
          <p:nvPr/>
        </p:nvSpPr>
        <p:spPr>
          <a:xfrm>
            <a:off x="2560320" y="1600200"/>
            <a:ext cx="1920240" cy="457200"/>
          </a:xfrm>
          <a:prstGeom prst="rect">
            <a:avLst/>
          </a:prstGeom>
          <a:noFill/>
          <a:ln/>
        </p:spPr>
        <p:txBody>
          <a:bodyPr wrap="square" lIns="0" tIns="0" rIns="0" bIns="0" rtlCol="0" anchor="t"/>
          <a:lstStyle/>
          <a:p>
            <a:pPr marL="0" indent="0">
              <a:buNone/>
            </a:pPr>
            <a:r>
              <a:rPr lang="en-US" sz="1100" dirty="0">
                <a:solidFill>
                  <a:srgbClr val="5B6B82"/>
                </a:solidFill>
              </a:rPr>
              <a:t>kinds: servers, ads, tweets, traffic, machines...</a:t>
            </a:r>
            <a:endParaRPr lang="en-US" sz="1100" dirty="0"/>
          </a:p>
        </p:txBody>
      </p:sp>
      <p:sp>
        <p:nvSpPr>
          <p:cNvPr id="7" name="Text 5"/>
          <p:cNvSpPr txBox="1"/>
          <p:nvPr/>
        </p:nvSpPr>
        <p:spPr>
          <a:xfrm>
            <a:off x="457200" y="2148840"/>
            <a:ext cx="2011680" cy="502920"/>
          </a:xfrm>
          <a:prstGeom prst="rect">
            <a:avLst/>
          </a:prstGeom>
          <a:noFill/>
          <a:ln/>
        </p:spPr>
        <p:txBody>
          <a:bodyPr wrap="square" lIns="0" tIns="0" rIns="0" bIns="0" rtlCol="0" anchor="t"/>
          <a:lstStyle/>
          <a:p>
            <a:pPr marL="0" indent="0">
              <a:buNone/>
            </a:pPr>
            <a:r>
              <a:rPr lang="en-US" sz="3000" b="1" dirty="0">
                <a:solidFill>
                  <a:srgbClr val="13233A"/>
                </a:solidFill>
                <a:latin typeface="Cambria" pitchFamily="34" charset="0"/>
                <a:ea typeface="Cambria" pitchFamily="34" charset="-122"/>
                <a:cs typeface="Cambria" pitchFamily="34" charset="-120"/>
              </a:rPr>
              <a:t>116</a:t>
            </a:r>
            <a:endParaRPr lang="en-US" sz="3000" dirty="0"/>
          </a:p>
        </p:txBody>
      </p:sp>
      <p:sp>
        <p:nvSpPr>
          <p:cNvPr id="8" name="Text 6"/>
          <p:cNvSpPr txBox="1"/>
          <p:nvPr/>
        </p:nvSpPr>
        <p:spPr>
          <a:xfrm>
            <a:off x="457200" y="2651760"/>
            <a:ext cx="1920240" cy="457200"/>
          </a:xfrm>
          <a:prstGeom prst="rect">
            <a:avLst/>
          </a:prstGeom>
          <a:noFill/>
          <a:ln/>
        </p:spPr>
        <p:txBody>
          <a:bodyPr wrap="square" lIns="0" tIns="0" rIns="0" bIns="0" rtlCol="0" anchor="t"/>
          <a:lstStyle/>
          <a:p>
            <a:pPr marL="0" indent="0">
              <a:buNone/>
            </a:pPr>
            <a:r>
              <a:rPr lang="en-US" sz="1100" dirty="0">
                <a:solidFill>
                  <a:srgbClr val="5B6B82"/>
                </a:solidFill>
              </a:rPr>
              <a:t>marked problem periods</a:t>
            </a:r>
            <a:endParaRPr lang="en-US" sz="1100" dirty="0"/>
          </a:p>
        </p:txBody>
      </p:sp>
      <p:sp>
        <p:nvSpPr>
          <p:cNvPr id="9" name="Text 7"/>
          <p:cNvSpPr txBox="1"/>
          <p:nvPr/>
        </p:nvSpPr>
        <p:spPr>
          <a:xfrm>
            <a:off x="2560320" y="2148840"/>
            <a:ext cx="2011680" cy="502920"/>
          </a:xfrm>
          <a:prstGeom prst="rect">
            <a:avLst/>
          </a:prstGeom>
          <a:noFill/>
          <a:ln/>
        </p:spPr>
        <p:txBody>
          <a:bodyPr wrap="square" lIns="0" tIns="0" rIns="0" bIns="0" rtlCol="0" anchor="t"/>
          <a:lstStyle/>
          <a:p>
            <a:pPr marL="0" indent="0">
              <a:buNone/>
            </a:pPr>
            <a:r>
              <a:rPr lang="en-US" sz="3000" b="1" dirty="0">
                <a:solidFill>
                  <a:srgbClr val="13233A"/>
                </a:solidFill>
                <a:latin typeface="Cambria" pitchFamily="34" charset="0"/>
                <a:ea typeface="Cambria" pitchFamily="34" charset="-122"/>
                <a:cs typeface="Cambria" pitchFamily="34" charset="-120"/>
              </a:rPr>
              <a:t>365,558</a:t>
            </a:r>
            <a:endParaRPr lang="en-US" sz="3000" dirty="0"/>
          </a:p>
        </p:txBody>
      </p:sp>
      <p:sp>
        <p:nvSpPr>
          <p:cNvPr id="10" name="Text 8"/>
          <p:cNvSpPr txBox="1"/>
          <p:nvPr/>
        </p:nvSpPr>
        <p:spPr>
          <a:xfrm>
            <a:off x="2560320" y="2651760"/>
            <a:ext cx="1920240" cy="457200"/>
          </a:xfrm>
          <a:prstGeom prst="rect">
            <a:avLst/>
          </a:prstGeom>
          <a:noFill/>
          <a:ln/>
        </p:spPr>
        <p:txBody>
          <a:bodyPr wrap="square" lIns="0" tIns="0" rIns="0" bIns="0" rtlCol="0" anchor="t"/>
          <a:lstStyle/>
          <a:p>
            <a:pPr marL="0" indent="0">
              <a:buNone/>
            </a:pPr>
            <a:r>
              <a:rPr lang="en-US" sz="1100" dirty="0">
                <a:solidFill>
                  <a:srgbClr val="5B6B82"/>
                </a:solidFill>
              </a:rPr>
              <a:t>data points in total</a:t>
            </a:r>
            <a:endParaRPr lang="en-US" sz="1100" dirty="0"/>
          </a:p>
        </p:txBody>
      </p:sp>
      <p:sp>
        <p:nvSpPr>
          <p:cNvPr id="11" name="Text 9"/>
          <p:cNvSpPr txBox="1"/>
          <p:nvPr/>
        </p:nvSpPr>
        <p:spPr>
          <a:xfrm>
            <a:off x="457200" y="3291840"/>
            <a:ext cx="4023360" cy="274320"/>
          </a:xfrm>
          <a:prstGeom prst="rect">
            <a:avLst/>
          </a:prstGeom>
          <a:noFill/>
          <a:ln/>
        </p:spPr>
        <p:txBody>
          <a:bodyPr wrap="square" lIns="0" tIns="0" rIns="0" bIns="0" rtlCol="0" anchor="t"/>
          <a:lstStyle/>
          <a:p>
            <a:pPr marL="0" indent="0">
              <a:buNone/>
            </a:pPr>
            <a:r>
              <a:rPr lang="en-US" sz="1500" b="1" dirty="0">
                <a:solidFill>
                  <a:srgbClr val="16202E"/>
                </a:solidFill>
              </a:rPr>
              <a:t>How we prepare it</a:t>
            </a:r>
            <a:endParaRPr lang="en-US" sz="1500" dirty="0"/>
          </a:p>
        </p:txBody>
      </p:sp>
      <p:sp>
        <p:nvSpPr>
          <p:cNvPr id="12" name="Text 10"/>
          <p:cNvSpPr txBox="1"/>
          <p:nvPr/>
        </p:nvSpPr>
        <p:spPr>
          <a:xfrm>
            <a:off x="457200" y="3611880"/>
            <a:ext cx="411480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6202E"/>
                </a:solidFill>
              </a:rPr>
              <a:t>First 15% of each series: learn only, no alerts</a:t>
            </a:r>
            <a:endParaRPr lang="en-US" sz="1300" dirty="0"/>
          </a:p>
          <a:p>
            <a:pPr marL="342900" indent="-342900">
              <a:spcAft>
                <a:spcPts val="400"/>
              </a:spcAft>
              <a:buSzPct val="100000"/>
              <a:buChar char="•"/>
            </a:pPr>
            <a:r>
              <a:rPr lang="en-US" sz="1300" dirty="0">
                <a:solidFill>
                  <a:srgbClr val="16202E"/>
                </a:solidFill>
              </a:rPr>
              <a:t>Detect daily or weekly patterns automatically</a:t>
            </a:r>
            <a:endParaRPr lang="en-US" sz="1300" dirty="0"/>
          </a:p>
          <a:p>
            <a:pPr marL="342900" indent="-342900">
              <a:spcAft>
                <a:spcPts val="400"/>
              </a:spcAft>
              <a:buSzPct val="100000"/>
              <a:buChar char="•"/>
            </a:pPr>
            <a:r>
              <a:rPr lang="en-US" sz="1300" dirty="0">
                <a:solidFill>
                  <a:srgbClr val="16202E"/>
                </a:solidFill>
              </a:rPr>
              <a:t>No scaling with future data: every step looks only backwards</a:t>
            </a:r>
            <a:endParaRPr lang="en-US" sz="1300" dirty="0"/>
          </a:p>
        </p:txBody>
      </p:sp>
      <p:pic>
        <p:nvPicPr>
          <p:cNvPr id="13" name="eda" descr="/home/claude/w/repo/figures/eda/category_samples.png"/>
          <p:cNvPicPr>
            <a:picLocks noChangeAspect="1"/>
          </p:cNvPicPr>
          <p:nvPr/>
        </p:nvPicPr>
        <p:blipFill>
          <a:blip r:embed="rId3"/>
          <a:stretch>
            <a:fillRect/>
          </a:stretch>
        </p:blipFill>
        <p:spPr>
          <a:xfrm>
            <a:off x="4892040" y="1005840"/>
            <a:ext cx="3657600" cy="3621386"/>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13233A"/>
                </a:solidFill>
                <a:latin typeface="Cambria" pitchFamily="34" charset="0"/>
                <a:ea typeface="Cambria" pitchFamily="34" charset="-122"/>
                <a:cs typeface="Cambria" pitchFamily="34" charset="-120"/>
              </a:rPr>
              <a:t>How Sentinel works, step by step</a:t>
            </a:r>
            <a:endParaRPr lang="en-US" sz="2800" dirty="0"/>
          </a:p>
        </p:txBody>
      </p:sp>
      <p:sp>
        <p:nvSpPr>
          <p:cNvPr id="3" name="step0"/>
          <p:cNvSpPr/>
          <p:nvPr/>
        </p:nvSpPr>
        <p:spPr>
          <a:xfrm>
            <a:off x="457200" y="1188720"/>
            <a:ext cx="1280160" cy="1234440"/>
          </a:xfrm>
          <a:prstGeom prst="roundRect">
            <a:avLst>
              <a:gd name="adj" fmla="val 5926"/>
            </a:avLst>
          </a:prstGeom>
          <a:solidFill>
            <a:srgbClr val="EEF2F7"/>
          </a:solidFill>
          <a:ln w="12700">
            <a:solidFill>
              <a:srgbClr val="EEF2F7"/>
            </a:solidFill>
            <a:prstDash val="solid"/>
          </a:ln>
        </p:spPr>
      </p:sp>
      <p:sp>
        <p:nvSpPr>
          <p:cNvPr id="4" name="Text 2"/>
          <p:cNvSpPr txBox="1"/>
          <p:nvPr/>
        </p:nvSpPr>
        <p:spPr>
          <a:xfrm>
            <a:off x="548640" y="1298448"/>
            <a:ext cx="1097280" cy="1051560"/>
          </a:xfrm>
          <a:prstGeom prst="rect">
            <a:avLst/>
          </a:prstGeom>
          <a:noFill/>
          <a:ln/>
        </p:spPr>
        <p:txBody>
          <a:bodyPr wrap="square" lIns="0" tIns="0" rIns="0" bIns="0" rtlCol="0" anchor="t"/>
          <a:lstStyle/>
          <a:p>
            <a:pPr marL="0" indent="0">
              <a:buNone/>
            </a:pPr>
            <a:r>
              <a:rPr lang="en-US" sz="1300" b="1" dirty="0">
                <a:solidFill>
                  <a:srgbClr val="13233A"/>
                </a:solidFill>
              </a:rPr>
              <a:t>New value</a:t>
            </a:r>
            <a:endParaRPr lang="en-US" sz="1400" dirty="0"/>
          </a:p>
          <a:p>
            <a:pPr marL="0" indent="0">
              <a:buNone/>
            </a:pPr>
            <a:r>
              <a:rPr lang="en-US" sz="1050" dirty="0">
                <a:solidFill>
                  <a:srgbClr val="5B6B82"/>
                </a:solidFill>
              </a:rPr>
              <a:t>one point arrives</a:t>
            </a:r>
            <a:endParaRPr lang="en-US" sz="1400" dirty="0"/>
          </a:p>
        </p:txBody>
      </p:sp>
      <p:sp>
        <p:nvSpPr>
          <p:cNvPr id="5" name="arrow0"/>
          <p:cNvSpPr/>
          <p:nvPr/>
        </p:nvSpPr>
        <p:spPr>
          <a:xfrm>
            <a:off x="1751076" y="1737360"/>
            <a:ext cx="82296" cy="146304"/>
          </a:xfrm>
          <a:prstGeom prst="rtTriangle">
            <a:avLst/>
          </a:prstGeom>
          <a:solidFill>
            <a:srgbClr val="E8A33D"/>
          </a:solidFill>
          <a:ln w="12700">
            <a:solidFill>
              <a:srgbClr val="E8A33D"/>
            </a:solidFill>
            <a:prstDash val="solid"/>
          </a:ln>
        </p:spPr>
      </p:sp>
      <p:sp>
        <p:nvSpPr>
          <p:cNvPr id="6" name="step1"/>
          <p:cNvSpPr/>
          <p:nvPr/>
        </p:nvSpPr>
        <p:spPr>
          <a:xfrm>
            <a:off x="1847088" y="1188720"/>
            <a:ext cx="1280160" cy="1234440"/>
          </a:xfrm>
          <a:prstGeom prst="roundRect">
            <a:avLst>
              <a:gd name="adj" fmla="val 5926"/>
            </a:avLst>
          </a:prstGeom>
          <a:solidFill>
            <a:srgbClr val="EEF2F7"/>
          </a:solidFill>
          <a:ln w="12700">
            <a:solidFill>
              <a:srgbClr val="EEF2F7"/>
            </a:solidFill>
            <a:prstDash val="solid"/>
          </a:ln>
        </p:spPr>
      </p:sp>
      <p:sp>
        <p:nvSpPr>
          <p:cNvPr id="7" name="Text 5"/>
          <p:cNvSpPr txBox="1"/>
          <p:nvPr/>
        </p:nvSpPr>
        <p:spPr>
          <a:xfrm>
            <a:off x="1938528" y="1298448"/>
            <a:ext cx="1097280" cy="1051560"/>
          </a:xfrm>
          <a:prstGeom prst="rect">
            <a:avLst/>
          </a:prstGeom>
          <a:noFill/>
          <a:ln/>
        </p:spPr>
        <p:txBody>
          <a:bodyPr wrap="square" lIns="0" tIns="0" rIns="0" bIns="0" rtlCol="0" anchor="t"/>
          <a:lstStyle/>
          <a:p>
            <a:pPr marL="0" indent="0">
              <a:buNone/>
            </a:pPr>
            <a:r>
              <a:rPr lang="en-US" sz="1300" b="1" dirty="0">
                <a:solidFill>
                  <a:srgbClr val="13233A"/>
                </a:solidFill>
              </a:rPr>
              <a:t>4 watchers</a:t>
            </a:r>
            <a:endParaRPr lang="en-US" sz="1400" dirty="0"/>
          </a:p>
          <a:p>
            <a:pPr marL="0" indent="0">
              <a:buNone/>
            </a:pPr>
            <a:r>
              <a:rPr lang="en-US" sz="1050" dirty="0">
                <a:solidFill>
                  <a:srgbClr val="5B6B82"/>
                </a:solidFill>
              </a:rPr>
              <a:t>each looks for one kind of trouble</a:t>
            </a:r>
            <a:endParaRPr lang="en-US" sz="1400" dirty="0"/>
          </a:p>
        </p:txBody>
      </p:sp>
      <p:sp>
        <p:nvSpPr>
          <p:cNvPr id="8" name="arrow1"/>
          <p:cNvSpPr/>
          <p:nvPr/>
        </p:nvSpPr>
        <p:spPr>
          <a:xfrm>
            <a:off x="3140964" y="1737360"/>
            <a:ext cx="82296" cy="146304"/>
          </a:xfrm>
          <a:prstGeom prst="rtTriangle">
            <a:avLst/>
          </a:prstGeom>
          <a:solidFill>
            <a:srgbClr val="E8A33D"/>
          </a:solidFill>
          <a:ln w="12700">
            <a:solidFill>
              <a:srgbClr val="E8A33D"/>
            </a:solidFill>
            <a:prstDash val="solid"/>
          </a:ln>
        </p:spPr>
      </p:sp>
      <p:sp>
        <p:nvSpPr>
          <p:cNvPr id="9" name="step2"/>
          <p:cNvSpPr/>
          <p:nvPr/>
        </p:nvSpPr>
        <p:spPr>
          <a:xfrm>
            <a:off x="3236976" y="1188720"/>
            <a:ext cx="1280160" cy="1234440"/>
          </a:xfrm>
          <a:prstGeom prst="roundRect">
            <a:avLst>
              <a:gd name="adj" fmla="val 5926"/>
            </a:avLst>
          </a:prstGeom>
          <a:solidFill>
            <a:srgbClr val="EEF2F7"/>
          </a:solidFill>
          <a:ln w="12700">
            <a:solidFill>
              <a:srgbClr val="EEF2F7"/>
            </a:solidFill>
            <a:prstDash val="solid"/>
          </a:ln>
        </p:spPr>
      </p:sp>
      <p:sp>
        <p:nvSpPr>
          <p:cNvPr id="10" name="Text 8"/>
          <p:cNvSpPr txBox="1"/>
          <p:nvPr/>
        </p:nvSpPr>
        <p:spPr>
          <a:xfrm>
            <a:off x="3328416" y="1298448"/>
            <a:ext cx="1097280" cy="1051560"/>
          </a:xfrm>
          <a:prstGeom prst="rect">
            <a:avLst/>
          </a:prstGeom>
          <a:noFill/>
          <a:ln/>
        </p:spPr>
        <p:txBody>
          <a:bodyPr wrap="square" lIns="0" tIns="0" rIns="0" bIns="0" rtlCol="0" anchor="t"/>
          <a:lstStyle/>
          <a:p>
            <a:pPr marL="0" indent="0">
              <a:buNone/>
            </a:pPr>
            <a:r>
              <a:rPr lang="en-US" sz="1300" b="1" dirty="0">
                <a:solidFill>
                  <a:srgbClr val="13233A"/>
                </a:solidFill>
              </a:rPr>
              <a:t>Common scale</a:t>
            </a:r>
            <a:endParaRPr lang="en-US" sz="1400" dirty="0"/>
          </a:p>
          <a:p>
            <a:pPr marL="0" indent="0">
              <a:buNone/>
            </a:pPr>
            <a:r>
              <a:rPr lang="en-US" sz="1050" dirty="0">
                <a:solidFill>
                  <a:srgbClr val="5B6B82"/>
                </a:solidFill>
              </a:rPr>
              <a:t>"how unusual is this?" in the same units</a:t>
            </a:r>
            <a:endParaRPr lang="en-US" sz="1400" dirty="0"/>
          </a:p>
        </p:txBody>
      </p:sp>
      <p:sp>
        <p:nvSpPr>
          <p:cNvPr id="11" name="arrow2"/>
          <p:cNvSpPr/>
          <p:nvPr/>
        </p:nvSpPr>
        <p:spPr>
          <a:xfrm>
            <a:off x="4530852" y="1737360"/>
            <a:ext cx="82296" cy="146304"/>
          </a:xfrm>
          <a:prstGeom prst="rtTriangle">
            <a:avLst/>
          </a:prstGeom>
          <a:solidFill>
            <a:srgbClr val="E8A33D"/>
          </a:solidFill>
          <a:ln w="12700">
            <a:solidFill>
              <a:srgbClr val="E8A33D"/>
            </a:solidFill>
            <a:prstDash val="solid"/>
          </a:ln>
        </p:spPr>
      </p:sp>
      <p:sp>
        <p:nvSpPr>
          <p:cNvPr id="12" name="step3"/>
          <p:cNvSpPr/>
          <p:nvPr/>
        </p:nvSpPr>
        <p:spPr>
          <a:xfrm>
            <a:off x="4626864" y="1188720"/>
            <a:ext cx="1280160" cy="1234440"/>
          </a:xfrm>
          <a:prstGeom prst="roundRect">
            <a:avLst>
              <a:gd name="adj" fmla="val 5926"/>
            </a:avLst>
          </a:prstGeom>
          <a:solidFill>
            <a:srgbClr val="EEF2F7"/>
          </a:solidFill>
          <a:ln w="12700">
            <a:solidFill>
              <a:srgbClr val="EEF2F7"/>
            </a:solidFill>
            <a:prstDash val="solid"/>
          </a:ln>
        </p:spPr>
      </p:sp>
      <p:sp>
        <p:nvSpPr>
          <p:cNvPr id="13" name="Text 11"/>
          <p:cNvSpPr txBox="1"/>
          <p:nvPr/>
        </p:nvSpPr>
        <p:spPr>
          <a:xfrm>
            <a:off x="4718304" y="1298448"/>
            <a:ext cx="1097280" cy="1051560"/>
          </a:xfrm>
          <a:prstGeom prst="rect">
            <a:avLst/>
          </a:prstGeom>
          <a:noFill/>
          <a:ln/>
        </p:spPr>
        <p:txBody>
          <a:bodyPr wrap="square" lIns="0" tIns="0" rIns="0" bIns="0" rtlCol="0" anchor="t"/>
          <a:lstStyle/>
          <a:p>
            <a:pPr marL="0" indent="0">
              <a:buNone/>
            </a:pPr>
            <a:r>
              <a:rPr lang="en-US" sz="1300" b="1" dirty="0">
                <a:solidFill>
                  <a:srgbClr val="13233A"/>
                </a:solidFill>
              </a:rPr>
              <a:t>Combine</a:t>
            </a:r>
            <a:endParaRPr lang="en-US" sz="1400" dirty="0"/>
          </a:p>
          <a:p>
            <a:pPr marL="0" indent="0">
              <a:buNone/>
            </a:pPr>
            <a:r>
              <a:rPr lang="en-US" sz="1050" dirty="0">
                <a:solidFill>
                  <a:srgbClr val="5B6B82"/>
                </a:solidFill>
              </a:rPr>
              <a:t>take the strongest signal</a:t>
            </a:r>
            <a:endParaRPr lang="en-US" sz="1400" dirty="0"/>
          </a:p>
        </p:txBody>
      </p:sp>
      <p:sp>
        <p:nvSpPr>
          <p:cNvPr id="14" name="arrow3"/>
          <p:cNvSpPr/>
          <p:nvPr/>
        </p:nvSpPr>
        <p:spPr>
          <a:xfrm>
            <a:off x="5920740" y="1737360"/>
            <a:ext cx="82296" cy="146304"/>
          </a:xfrm>
          <a:prstGeom prst="rtTriangle">
            <a:avLst/>
          </a:prstGeom>
          <a:solidFill>
            <a:srgbClr val="E8A33D"/>
          </a:solidFill>
          <a:ln w="12700">
            <a:solidFill>
              <a:srgbClr val="E8A33D"/>
            </a:solidFill>
            <a:prstDash val="solid"/>
          </a:ln>
        </p:spPr>
      </p:sp>
      <p:sp>
        <p:nvSpPr>
          <p:cNvPr id="15" name="step4"/>
          <p:cNvSpPr/>
          <p:nvPr/>
        </p:nvSpPr>
        <p:spPr>
          <a:xfrm>
            <a:off x="6016752" y="1188720"/>
            <a:ext cx="1280160" cy="1234440"/>
          </a:xfrm>
          <a:prstGeom prst="roundRect">
            <a:avLst>
              <a:gd name="adj" fmla="val 5926"/>
            </a:avLst>
          </a:prstGeom>
          <a:solidFill>
            <a:srgbClr val="13233A"/>
          </a:solidFill>
          <a:ln w="12700">
            <a:solidFill>
              <a:srgbClr val="13233A"/>
            </a:solidFill>
            <a:prstDash val="solid"/>
          </a:ln>
        </p:spPr>
      </p:sp>
      <p:sp>
        <p:nvSpPr>
          <p:cNvPr id="16" name="Text 14"/>
          <p:cNvSpPr txBox="1"/>
          <p:nvPr/>
        </p:nvSpPr>
        <p:spPr>
          <a:xfrm>
            <a:off x="6108192" y="1298448"/>
            <a:ext cx="1097280" cy="1051560"/>
          </a:xfrm>
          <a:prstGeom prst="rect">
            <a:avLst/>
          </a:prstGeom>
          <a:noFill/>
          <a:ln/>
        </p:spPr>
        <p:txBody>
          <a:bodyPr wrap="square" lIns="0" tIns="0" rIns="0" bIns="0" rtlCol="0" anchor="t"/>
          <a:lstStyle/>
          <a:p>
            <a:pPr marL="0" indent="0">
              <a:buNone/>
            </a:pPr>
            <a:r>
              <a:rPr lang="en-US" sz="1300" b="1" dirty="0">
                <a:solidFill>
                  <a:srgbClr val="FFFFFF"/>
                </a:solidFill>
              </a:rPr>
              <a:t>Alert logic</a:t>
            </a:r>
            <a:endParaRPr lang="en-US" sz="1400" dirty="0"/>
          </a:p>
          <a:p>
            <a:pPr marL="0" indent="0">
              <a:buNone/>
            </a:pPr>
            <a:r>
              <a:rPr lang="en-US" sz="1050" dirty="0">
                <a:solidFill>
                  <a:srgbClr val="C9D3E0"/>
                </a:solidFill>
              </a:rPr>
              <a:t>one alert per incident, then quiet</a:t>
            </a:r>
            <a:endParaRPr lang="en-US" sz="1400" dirty="0"/>
          </a:p>
        </p:txBody>
      </p:sp>
      <p:sp>
        <p:nvSpPr>
          <p:cNvPr id="17" name="arrow4"/>
          <p:cNvSpPr/>
          <p:nvPr/>
        </p:nvSpPr>
        <p:spPr>
          <a:xfrm>
            <a:off x="7310628" y="1737360"/>
            <a:ext cx="82296" cy="146304"/>
          </a:xfrm>
          <a:prstGeom prst="rtTriangle">
            <a:avLst/>
          </a:prstGeom>
          <a:solidFill>
            <a:srgbClr val="E8A33D"/>
          </a:solidFill>
          <a:ln w="12700">
            <a:solidFill>
              <a:srgbClr val="E8A33D"/>
            </a:solidFill>
            <a:prstDash val="solid"/>
          </a:ln>
        </p:spPr>
      </p:sp>
      <p:sp>
        <p:nvSpPr>
          <p:cNvPr id="18" name="step5"/>
          <p:cNvSpPr/>
          <p:nvPr/>
        </p:nvSpPr>
        <p:spPr>
          <a:xfrm>
            <a:off x="7406640" y="1188720"/>
            <a:ext cx="1280160" cy="1234440"/>
          </a:xfrm>
          <a:prstGeom prst="roundRect">
            <a:avLst>
              <a:gd name="adj" fmla="val 5926"/>
            </a:avLst>
          </a:prstGeom>
          <a:solidFill>
            <a:srgbClr val="EEF2F7"/>
          </a:solidFill>
          <a:ln w="12700">
            <a:solidFill>
              <a:srgbClr val="EEF2F7"/>
            </a:solidFill>
            <a:prstDash val="solid"/>
          </a:ln>
        </p:spPr>
      </p:sp>
      <p:sp>
        <p:nvSpPr>
          <p:cNvPr id="19" name="Text 17"/>
          <p:cNvSpPr txBox="1"/>
          <p:nvPr/>
        </p:nvSpPr>
        <p:spPr>
          <a:xfrm>
            <a:off x="7498080" y="1298448"/>
            <a:ext cx="1097280" cy="1051560"/>
          </a:xfrm>
          <a:prstGeom prst="rect">
            <a:avLst/>
          </a:prstGeom>
          <a:noFill/>
          <a:ln/>
        </p:spPr>
        <p:txBody>
          <a:bodyPr wrap="square" lIns="0" tIns="0" rIns="0" bIns="0" rtlCol="0" anchor="t"/>
          <a:lstStyle/>
          <a:p>
            <a:pPr marL="0" indent="0">
              <a:buNone/>
            </a:pPr>
            <a:r>
              <a:rPr lang="en-US" sz="1300" b="1" dirty="0">
                <a:solidFill>
                  <a:srgbClr val="13233A"/>
                </a:solidFill>
              </a:rPr>
              <a:t>Output</a:t>
            </a:r>
            <a:endParaRPr lang="en-US" sz="1400" dirty="0"/>
          </a:p>
          <a:p>
            <a:pPr marL="0" indent="0">
              <a:buNone/>
            </a:pPr>
            <a:r>
              <a:rPr lang="en-US" sz="1050" dirty="0">
                <a:solidFill>
                  <a:srgbClr val="5B6B82"/>
                </a:solidFill>
              </a:rPr>
              <a:t>score, NORMAL / ANOMALOUS, reason</a:t>
            </a:r>
            <a:endParaRPr lang="en-US" sz="1400" dirty="0"/>
          </a:p>
        </p:txBody>
      </p:sp>
      <p:sp>
        <p:nvSpPr>
          <p:cNvPr id="20" name="Text 18"/>
          <p:cNvSpPr txBox="1"/>
          <p:nvPr/>
        </p:nvSpPr>
        <p:spPr>
          <a:xfrm>
            <a:off x="457200" y="2697480"/>
            <a:ext cx="8229600" cy="274320"/>
          </a:xfrm>
          <a:prstGeom prst="rect">
            <a:avLst/>
          </a:prstGeom>
          <a:noFill/>
          <a:ln/>
        </p:spPr>
        <p:txBody>
          <a:bodyPr wrap="square" lIns="0" tIns="0" rIns="0" bIns="0" rtlCol="0" anchor="t"/>
          <a:lstStyle/>
          <a:p>
            <a:pPr marL="0" indent="0">
              <a:buNone/>
            </a:pPr>
            <a:r>
              <a:rPr lang="en-US" sz="1500" b="1" dirty="0">
                <a:solidFill>
                  <a:srgbClr val="16202E"/>
                </a:solidFill>
              </a:rPr>
              <a:t>The 4 watchers</a:t>
            </a:r>
            <a:endParaRPr lang="en-US" sz="1500" dirty="0"/>
          </a:p>
        </p:txBody>
      </p:sp>
      <p:sp>
        <p:nvSpPr>
          <p:cNvPr id="21" name="w0-bg"/>
          <p:cNvSpPr/>
          <p:nvPr/>
        </p:nvSpPr>
        <p:spPr>
          <a:xfrm>
            <a:off x="457200" y="3063240"/>
            <a:ext cx="384048" cy="384048"/>
          </a:xfrm>
          <a:prstGeom prst="ellipse">
            <a:avLst/>
          </a:prstGeom>
          <a:solidFill>
            <a:srgbClr val="E8A33D"/>
          </a:solidFill>
          <a:ln w="12700">
            <a:solidFill>
              <a:srgbClr val="E8A33D"/>
            </a:solidFill>
            <a:prstDash val="solid"/>
          </a:ln>
        </p:spPr>
      </p:sp>
      <p:pic>
        <p:nvPicPr>
          <p:cNvPr id="22" name="w0" descr="preencoded.png"/>
          <p:cNvPicPr>
            <a:picLocks noChangeAspect="1"/>
          </p:cNvPicPr>
          <p:nvPr/>
        </p:nvPicPr>
        <p:blipFill>
          <a:blip r:embed="rId3"/>
          <a:stretch>
            <a:fillRect/>
          </a:stretch>
        </p:blipFill>
        <p:spPr>
          <a:xfrm>
            <a:off x="553212" y="3159252"/>
            <a:ext cx="192024" cy="192024"/>
          </a:xfrm>
          <a:prstGeom prst="rect">
            <a:avLst/>
          </a:prstGeom>
        </p:spPr>
      </p:pic>
      <p:sp>
        <p:nvSpPr>
          <p:cNvPr id="23" name="Text 20"/>
          <p:cNvSpPr txBox="1"/>
          <p:nvPr/>
        </p:nvSpPr>
        <p:spPr>
          <a:xfrm>
            <a:off x="932688" y="3063240"/>
            <a:ext cx="1554480" cy="274320"/>
          </a:xfrm>
          <a:prstGeom prst="rect">
            <a:avLst/>
          </a:prstGeom>
          <a:noFill/>
          <a:ln/>
        </p:spPr>
        <p:txBody>
          <a:bodyPr wrap="square" lIns="0" tIns="0" rIns="0" bIns="0" rtlCol="0" anchor="t"/>
          <a:lstStyle/>
          <a:p>
            <a:pPr marL="0" indent="0">
              <a:buNone/>
            </a:pPr>
            <a:r>
              <a:rPr lang="en-US" sz="1300" b="1" dirty="0">
                <a:solidFill>
                  <a:srgbClr val="16202E"/>
                </a:solidFill>
              </a:rPr>
              <a:t>Spike watcher</a:t>
            </a:r>
            <a:endParaRPr lang="en-US" sz="1300" dirty="0"/>
          </a:p>
        </p:txBody>
      </p:sp>
      <p:sp>
        <p:nvSpPr>
          <p:cNvPr id="24" name="Text 21"/>
          <p:cNvSpPr txBox="1"/>
          <p:nvPr/>
        </p:nvSpPr>
        <p:spPr>
          <a:xfrm>
            <a:off x="932688" y="3355848"/>
            <a:ext cx="1554480" cy="777240"/>
          </a:xfrm>
          <a:prstGeom prst="rect">
            <a:avLst/>
          </a:prstGeom>
          <a:noFill/>
          <a:ln/>
        </p:spPr>
        <p:txBody>
          <a:bodyPr wrap="square" lIns="0" tIns="0" rIns="0" bIns="0" rtlCol="0" anchor="t"/>
          <a:lstStyle/>
          <a:p>
            <a:pPr marL="0" indent="0">
              <a:buNone/>
            </a:pPr>
            <a:r>
              <a:rPr lang="en-US" sz="1100" dirty="0">
                <a:solidFill>
                  <a:srgbClr val="5B6B82"/>
                </a:solidFill>
              </a:rPr>
              <a:t>a value far from what the daily pattern predicts</a:t>
            </a:r>
            <a:endParaRPr lang="en-US" sz="1100" dirty="0"/>
          </a:p>
        </p:txBody>
      </p:sp>
      <p:sp>
        <p:nvSpPr>
          <p:cNvPr id="25" name="w1-bg"/>
          <p:cNvSpPr/>
          <p:nvPr/>
        </p:nvSpPr>
        <p:spPr>
          <a:xfrm>
            <a:off x="2542032" y="3063240"/>
            <a:ext cx="384048" cy="384048"/>
          </a:xfrm>
          <a:prstGeom prst="ellipse">
            <a:avLst/>
          </a:prstGeom>
          <a:solidFill>
            <a:srgbClr val="E8A33D"/>
          </a:solidFill>
          <a:ln w="12700">
            <a:solidFill>
              <a:srgbClr val="E8A33D"/>
            </a:solidFill>
            <a:prstDash val="solid"/>
          </a:ln>
        </p:spPr>
      </p:sp>
      <p:pic>
        <p:nvPicPr>
          <p:cNvPr id="26" name="w1" descr="preencoded.png"/>
          <p:cNvPicPr>
            <a:picLocks noChangeAspect="1"/>
          </p:cNvPicPr>
          <p:nvPr/>
        </p:nvPicPr>
        <p:blipFill>
          <a:blip r:embed="rId3"/>
          <a:stretch>
            <a:fillRect/>
          </a:stretch>
        </p:blipFill>
        <p:spPr>
          <a:xfrm>
            <a:off x="2638044" y="3159252"/>
            <a:ext cx="192024" cy="192024"/>
          </a:xfrm>
          <a:prstGeom prst="rect">
            <a:avLst/>
          </a:prstGeom>
        </p:spPr>
      </p:pic>
      <p:sp>
        <p:nvSpPr>
          <p:cNvPr id="27" name="Text 23"/>
          <p:cNvSpPr txBox="1"/>
          <p:nvPr/>
        </p:nvSpPr>
        <p:spPr>
          <a:xfrm>
            <a:off x="3017520" y="3063240"/>
            <a:ext cx="1554480" cy="274320"/>
          </a:xfrm>
          <a:prstGeom prst="rect">
            <a:avLst/>
          </a:prstGeom>
          <a:noFill/>
          <a:ln/>
        </p:spPr>
        <p:txBody>
          <a:bodyPr wrap="square" lIns="0" tIns="0" rIns="0" bIns="0" rtlCol="0" anchor="t"/>
          <a:lstStyle/>
          <a:p>
            <a:pPr marL="0" indent="0">
              <a:buNone/>
            </a:pPr>
            <a:r>
              <a:rPr lang="en-US" sz="1300" b="1" dirty="0">
                <a:solidFill>
                  <a:srgbClr val="16202E"/>
                </a:solidFill>
              </a:rPr>
              <a:t>Shift watcher</a:t>
            </a:r>
            <a:endParaRPr lang="en-US" sz="1300" dirty="0"/>
          </a:p>
        </p:txBody>
      </p:sp>
      <p:sp>
        <p:nvSpPr>
          <p:cNvPr id="28" name="Text 24"/>
          <p:cNvSpPr txBox="1"/>
          <p:nvPr/>
        </p:nvSpPr>
        <p:spPr>
          <a:xfrm>
            <a:off x="3017520" y="3355848"/>
            <a:ext cx="1554480" cy="777240"/>
          </a:xfrm>
          <a:prstGeom prst="rect">
            <a:avLst/>
          </a:prstGeom>
          <a:noFill/>
          <a:ln/>
        </p:spPr>
        <p:txBody>
          <a:bodyPr wrap="square" lIns="0" tIns="0" rIns="0" bIns="0" rtlCol="0" anchor="t"/>
          <a:lstStyle/>
          <a:p>
            <a:pPr marL="0" indent="0">
              <a:buNone/>
            </a:pPr>
            <a:r>
              <a:rPr lang="en-US" sz="1100" dirty="0">
                <a:solidFill>
                  <a:srgbClr val="5B6B82"/>
                </a:solidFill>
              </a:rPr>
              <a:t>the level or spread changes and stays changed</a:t>
            </a:r>
            <a:endParaRPr lang="en-US" sz="1100" dirty="0"/>
          </a:p>
        </p:txBody>
      </p:sp>
      <p:sp>
        <p:nvSpPr>
          <p:cNvPr id="29" name="w2-bg"/>
          <p:cNvSpPr/>
          <p:nvPr/>
        </p:nvSpPr>
        <p:spPr>
          <a:xfrm>
            <a:off x="4626864" y="3063240"/>
            <a:ext cx="384048" cy="384048"/>
          </a:xfrm>
          <a:prstGeom prst="ellipse">
            <a:avLst/>
          </a:prstGeom>
          <a:solidFill>
            <a:srgbClr val="E8A33D"/>
          </a:solidFill>
          <a:ln w="12700">
            <a:solidFill>
              <a:srgbClr val="E8A33D"/>
            </a:solidFill>
            <a:prstDash val="solid"/>
          </a:ln>
        </p:spPr>
      </p:sp>
      <p:pic>
        <p:nvPicPr>
          <p:cNvPr id="30" name="w2" descr="preencoded.png"/>
          <p:cNvPicPr>
            <a:picLocks noChangeAspect="1"/>
          </p:cNvPicPr>
          <p:nvPr/>
        </p:nvPicPr>
        <p:blipFill>
          <a:blip r:embed="rId3"/>
          <a:stretch>
            <a:fillRect/>
          </a:stretch>
        </p:blipFill>
        <p:spPr>
          <a:xfrm>
            <a:off x="4722876" y="3159252"/>
            <a:ext cx="192024" cy="192024"/>
          </a:xfrm>
          <a:prstGeom prst="rect">
            <a:avLst/>
          </a:prstGeom>
        </p:spPr>
      </p:pic>
      <p:sp>
        <p:nvSpPr>
          <p:cNvPr id="31" name="Text 26"/>
          <p:cNvSpPr txBox="1"/>
          <p:nvPr/>
        </p:nvSpPr>
        <p:spPr>
          <a:xfrm>
            <a:off x="5102352" y="3063240"/>
            <a:ext cx="1554480" cy="274320"/>
          </a:xfrm>
          <a:prstGeom prst="rect">
            <a:avLst/>
          </a:prstGeom>
          <a:noFill/>
          <a:ln/>
        </p:spPr>
        <p:txBody>
          <a:bodyPr wrap="square" lIns="0" tIns="0" rIns="0" bIns="0" rtlCol="0" anchor="t"/>
          <a:lstStyle/>
          <a:p>
            <a:pPr marL="0" indent="0">
              <a:buNone/>
            </a:pPr>
            <a:r>
              <a:rPr lang="en-US" sz="1300" b="1" dirty="0">
                <a:solidFill>
                  <a:srgbClr val="16202E"/>
                </a:solidFill>
              </a:rPr>
              <a:t>Shape watcher</a:t>
            </a:r>
            <a:endParaRPr lang="en-US" sz="1300" dirty="0"/>
          </a:p>
        </p:txBody>
      </p:sp>
      <p:sp>
        <p:nvSpPr>
          <p:cNvPr id="32" name="Text 27"/>
          <p:cNvSpPr txBox="1"/>
          <p:nvPr/>
        </p:nvSpPr>
        <p:spPr>
          <a:xfrm>
            <a:off x="5102352" y="3355848"/>
            <a:ext cx="1554480" cy="777240"/>
          </a:xfrm>
          <a:prstGeom prst="rect">
            <a:avLst/>
          </a:prstGeom>
          <a:noFill/>
          <a:ln/>
        </p:spPr>
        <p:txBody>
          <a:bodyPr wrap="square" lIns="0" tIns="0" rIns="0" bIns="0" rtlCol="0" anchor="t"/>
          <a:lstStyle/>
          <a:p>
            <a:pPr marL="0" indent="0">
              <a:buNone/>
            </a:pPr>
            <a:r>
              <a:rPr lang="en-US" sz="1100" dirty="0">
                <a:solidFill>
                  <a:srgbClr val="5B6B82"/>
                </a:solidFill>
              </a:rPr>
              <a:t>a stretch of values with a shape never seen while learning</a:t>
            </a:r>
            <a:endParaRPr lang="en-US" sz="1100" dirty="0"/>
          </a:p>
        </p:txBody>
      </p:sp>
      <p:sp>
        <p:nvSpPr>
          <p:cNvPr id="33" name="w3-bg"/>
          <p:cNvSpPr/>
          <p:nvPr/>
        </p:nvSpPr>
        <p:spPr>
          <a:xfrm>
            <a:off x="6711696" y="3063240"/>
            <a:ext cx="384048" cy="384048"/>
          </a:xfrm>
          <a:prstGeom prst="ellipse">
            <a:avLst/>
          </a:prstGeom>
          <a:solidFill>
            <a:srgbClr val="E8A33D"/>
          </a:solidFill>
          <a:ln w="12700">
            <a:solidFill>
              <a:srgbClr val="E8A33D"/>
            </a:solidFill>
            <a:prstDash val="solid"/>
          </a:ln>
        </p:spPr>
      </p:sp>
      <p:pic>
        <p:nvPicPr>
          <p:cNvPr id="34" name="w3" descr="preencoded.png"/>
          <p:cNvPicPr>
            <a:picLocks noChangeAspect="1"/>
          </p:cNvPicPr>
          <p:nvPr/>
        </p:nvPicPr>
        <p:blipFill>
          <a:blip r:embed="rId3"/>
          <a:stretch>
            <a:fillRect/>
          </a:stretch>
        </p:blipFill>
        <p:spPr>
          <a:xfrm>
            <a:off x="6807708" y="3159252"/>
            <a:ext cx="192024" cy="192024"/>
          </a:xfrm>
          <a:prstGeom prst="rect">
            <a:avLst/>
          </a:prstGeom>
        </p:spPr>
      </p:pic>
      <p:sp>
        <p:nvSpPr>
          <p:cNvPr id="35" name="Text 29"/>
          <p:cNvSpPr txBox="1"/>
          <p:nvPr/>
        </p:nvSpPr>
        <p:spPr>
          <a:xfrm>
            <a:off x="7187184" y="3063240"/>
            <a:ext cx="1554480" cy="274320"/>
          </a:xfrm>
          <a:prstGeom prst="rect">
            <a:avLst/>
          </a:prstGeom>
          <a:noFill/>
          <a:ln/>
        </p:spPr>
        <p:txBody>
          <a:bodyPr wrap="square" lIns="0" tIns="0" rIns="0" bIns="0" rtlCol="0" anchor="t"/>
          <a:lstStyle/>
          <a:p>
            <a:pPr marL="0" indent="0">
              <a:buNone/>
            </a:pPr>
            <a:r>
              <a:rPr lang="en-US" sz="1300" b="1" dirty="0">
                <a:solidFill>
                  <a:srgbClr val="16202E"/>
                </a:solidFill>
              </a:rPr>
              <a:t>Odd-window watcher</a:t>
            </a:r>
            <a:endParaRPr lang="en-US" sz="1300" dirty="0"/>
          </a:p>
        </p:txBody>
      </p:sp>
      <p:sp>
        <p:nvSpPr>
          <p:cNvPr id="36" name="Text 30"/>
          <p:cNvSpPr txBox="1"/>
          <p:nvPr/>
        </p:nvSpPr>
        <p:spPr>
          <a:xfrm>
            <a:off x="7187184" y="3355848"/>
            <a:ext cx="1554480" cy="777240"/>
          </a:xfrm>
          <a:prstGeom prst="rect">
            <a:avLst/>
          </a:prstGeom>
          <a:noFill/>
          <a:ln/>
        </p:spPr>
        <p:txBody>
          <a:bodyPr wrap="square" lIns="0" tIns="0" rIns="0" bIns="0" rtlCol="0" anchor="t"/>
          <a:lstStyle/>
          <a:p>
            <a:pPr marL="0" indent="0">
              <a:buNone/>
            </a:pPr>
            <a:r>
              <a:rPr lang="en-US" sz="1100" dirty="0">
                <a:solidFill>
                  <a:srgbClr val="5B6B82"/>
                </a:solidFill>
              </a:rPr>
              <a:t>the recent window looks unlike any normal window</a:t>
            </a:r>
            <a:endParaRPr lang="en-US" sz="1100" dirty="0"/>
          </a:p>
        </p:txBody>
      </p:sp>
      <p:sp>
        <p:nvSpPr>
          <p:cNvPr id="37" name="Text 31"/>
          <p:cNvSpPr txBox="1"/>
          <p:nvPr/>
        </p:nvSpPr>
        <p:spPr>
          <a:xfrm>
            <a:off x="457200" y="4297680"/>
            <a:ext cx="8229600" cy="320040"/>
          </a:xfrm>
          <a:prstGeom prst="rect">
            <a:avLst/>
          </a:prstGeom>
          <a:noFill/>
          <a:ln/>
        </p:spPr>
        <p:txBody>
          <a:bodyPr wrap="square" lIns="0" tIns="0" rIns="0" bIns="0" rtlCol="0" anchor="t"/>
          <a:lstStyle/>
          <a:p>
            <a:pPr marL="0" indent="0">
              <a:buNone/>
            </a:pPr>
            <a:r>
              <a:rPr lang="en-US" sz="1200" i="1" dirty="0">
                <a:solidFill>
                  <a:srgbClr val="13233A"/>
                </a:solidFill>
              </a:rPr>
              <a:t>While an alert is open, Sentinel stops learning, so a problem never becomes the new "normal".</a:t>
            </a:r>
            <a:endParaRPr lang="en-US" sz="1200" dirty="0"/>
          </a:p>
        </p:txBody>
      </p:sp>
      <p:sp>
        <p:nvSpPr>
          <p:cNvPr id="38"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13233A"/>
                </a:solidFill>
                <a:latin typeface="Cambria" pitchFamily="34" charset="0"/>
                <a:ea typeface="Cambria" pitchFamily="34" charset="-122"/>
                <a:cs typeface="Cambria" pitchFamily="34" charset="-120"/>
              </a:rPr>
              <a:t>Existing approaches and why we chose ours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tblGrid>
              <a:tr h="347472">
                <a:tc>
                  <a:txBody>
                    <a:bodyPr/>
                    <a:lstStyle/>
                    <a:p>
                      <a:pPr marL="0" indent="0">
                        <a:buNone/>
                      </a:pPr>
                      <a:r>
                        <a:rPr lang="en-US" sz="1100" b="1" dirty="0">
                          <a:solidFill>
                            <a:srgbClr val="FFFFFF"/>
                          </a:solidFill>
                        </a:rPr>
                        <a:t>Approach</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3233A"/>
                    </a:solidFill>
                  </a:tcPr>
                </a:tc>
                <a:tc>
                  <a:txBody>
                    <a:bodyPr/>
                    <a:lstStyle/>
                    <a:p>
                      <a:pPr marL="0" indent="0">
                        <a:buNone/>
                      </a:pPr>
                      <a:r>
                        <a:rPr lang="en-US" sz="1100" b="1" dirty="0">
                          <a:solidFill>
                            <a:srgbClr val="FFFFFF"/>
                          </a:solidFill>
                        </a:rPr>
                        <a:t>Good at</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3233A"/>
                    </a:solidFill>
                  </a:tcPr>
                </a:tc>
                <a:tc>
                  <a:txBody>
                    <a:bodyPr/>
                    <a:lstStyle/>
                    <a:p>
                      <a:pPr marL="0" indent="0">
                        <a:buNone/>
                      </a:pPr>
                      <a:r>
                        <a:rPr lang="en-US" sz="1100" b="1" dirty="0">
                          <a:solidFill>
                            <a:srgbClr val="FFFFFF"/>
                          </a:solidFill>
                        </a:rPr>
                        <a:t>Problem</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47472">
                <a:tc>
                  <a:txBody>
                    <a:bodyPr/>
                    <a:lstStyle/>
                    <a:p>
                      <a:pPr marL="0" indent="0">
                        <a:buNone/>
                      </a:pPr>
                      <a:r>
                        <a:rPr lang="en-US" sz="1100" dirty="0">
                          <a:solidFill>
                            <a:srgbClr val="16202E"/>
                          </a:solidFill>
                        </a:rPr>
                        <a:t>Simple threshold (rolling z-score)</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100" dirty="0">
                          <a:solidFill>
                            <a:srgbClr val="16202E"/>
                          </a:solidFill>
                        </a:rPr>
                        <a:t>fast, easy to explain</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100" dirty="0">
                          <a:solidFill>
                            <a:srgbClr val="16202E"/>
                          </a:solidFill>
                        </a:rPr>
                        <a:t>thousands of false alarms</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100" dirty="0">
                          <a:solidFill>
                            <a:srgbClr val="16202E"/>
                          </a:solidFill>
                        </a:rPr>
                        <a:t>Isolation Forest, LOF, One-Class SVM</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100" dirty="0">
                          <a:solidFill>
                            <a:srgbClr val="16202E"/>
                          </a:solidFill>
                        </a:rPr>
                        <a:t>general outlier finders</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100" dirty="0">
                          <a:solidFill>
                            <a:srgbClr val="16202E"/>
                          </a:solidFill>
                        </a:rPr>
                        <a:t>ignore time; one alert per point</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100" dirty="0">
                          <a:solidFill>
                            <a:srgbClr val="16202E"/>
                          </a:solidFill>
                        </a:rPr>
                        <a:t>Deep learning (autoencoders, forecasters)</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100" dirty="0">
                          <a:solidFill>
                            <a:srgbClr val="16202E"/>
                          </a:solidFill>
                        </a:rPr>
                        <a:t>complex patterns</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100" dirty="0">
                          <a:solidFill>
                            <a:srgbClr val="16202E"/>
                          </a:solidFill>
                        </a:rPr>
                        <a:t>needs training; we tested one: no gain</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100" dirty="0">
                          <a:solidFill>
                            <a:srgbClr val="16202E"/>
                          </a:solidFill>
                        </a:rPr>
                        <a:t>Published NAB detectors</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100" dirty="0">
                          <a:solidFill>
                            <a:srgbClr val="16202E"/>
                          </a:solidFill>
                        </a:rPr>
                        <a:t>high scores</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100" dirty="0">
                          <a:solidFill>
                            <a:srgbClr val="16202E"/>
                          </a:solidFill>
                        </a:rPr>
                        <a:t>see each file's full range in advance (not fair live)</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100" b="1" dirty="0">
                          <a:solidFill>
                            <a:srgbClr val="13233A"/>
                          </a:solidFill>
                        </a:rPr>
                        <a:t>Sentinel (ours)</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100" b="1" dirty="0">
                          <a:solidFill>
                            <a:srgbClr val="13233A"/>
                          </a:solidFill>
                        </a:rPr>
                        <a:t>4 watchers + common scale + alert logic</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100" b="1" dirty="0">
                          <a:solidFill>
                            <a:srgbClr val="3F7D6E"/>
                          </a:solidFill>
                        </a:rPr>
                        <a:t>fast, explainable, one alert per incident</a:t>
                      </a:r>
                      <a:endParaRPr lang="en-US" sz="1100" dirty="0"/>
                    </a:p>
                  </a:txBody>
                  <a:tcPr marL="45720" marR="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457200" y="3703320"/>
            <a:ext cx="8229600" cy="502920"/>
          </a:xfrm>
          <a:prstGeom prst="rect">
            <a:avLst/>
          </a:prstGeom>
          <a:noFill/>
          <a:ln/>
        </p:spPr>
        <p:txBody>
          <a:bodyPr wrap="square" lIns="0" tIns="0" rIns="0" bIns="0" rtlCol="0" anchor="t"/>
          <a:lstStyle/>
          <a:p>
            <a:pPr marL="0" indent="0">
              <a:buNone/>
            </a:pPr>
            <a:r>
              <a:rPr lang="en-US" sz="1300" b="1" dirty="0">
                <a:solidFill>
                  <a:srgbClr val="13233A"/>
                </a:solidFill>
              </a:rPr>
              <a:t>Why: on this kind of data, simple statistics plus smart alert logic beat heavy models, and every alert can be explained to a person.</a:t>
            </a:r>
            <a:endParaRPr lang="en-US" sz="1300" dirty="0"/>
          </a:p>
        </p:txBody>
      </p:sp>
      <p:sp>
        <p:nvSpPr>
          <p:cNvPr id="5" name="Text 2"/>
          <p:cNvSpPr txBox="1"/>
          <p:nvPr/>
        </p:nvSpPr>
        <p:spPr>
          <a:xfrm>
            <a:off x="457200" y="4251960"/>
            <a:ext cx="8229600" cy="365760"/>
          </a:xfrm>
          <a:prstGeom prst="rect">
            <a:avLst/>
          </a:prstGeom>
          <a:noFill/>
          <a:ln/>
        </p:spPr>
        <p:txBody>
          <a:bodyPr wrap="square" lIns="0" tIns="0" rIns="0" bIns="0" rtlCol="0" anchor="t"/>
          <a:lstStyle/>
          <a:p>
            <a:pPr marL="0" indent="0">
              <a:buNone/>
            </a:pPr>
            <a:r>
              <a:rPr lang="en-US" sz="1300" dirty="0">
                <a:solidFill>
                  <a:srgbClr val="5B6B82"/>
                </a:solidFill>
              </a:rPr>
              <a:t>Proof: give LOF our common scale and alert logic and its score jumps from 0.12 to 0.47.</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13233A"/>
                </a:solidFill>
                <a:latin typeface="Cambria" pitchFamily="34" charset="0"/>
                <a:ea typeface="Cambria" pitchFamily="34" charset="-122"/>
                <a:cs typeface="Cambria" pitchFamily="34" charset="-120"/>
              </a:rPr>
              <a:t>How we got here: three rounds</a:t>
            </a:r>
            <a:endParaRPr lang="en-US" sz="2800" dirty="0"/>
          </a:p>
        </p:txBody>
      </p:sp>
      <p:sp>
        <p:nvSpPr>
          <p:cNvPr id="3" name="r0"/>
          <p:cNvSpPr/>
          <p:nvPr/>
        </p:nvSpPr>
        <p:spPr>
          <a:xfrm>
            <a:off x="457200" y="1097280"/>
            <a:ext cx="548640" cy="548640"/>
          </a:xfrm>
          <a:prstGeom prst="ellipse">
            <a:avLst/>
          </a:prstGeom>
          <a:solidFill>
            <a:srgbClr val="13233A"/>
          </a:solidFill>
          <a:ln w="12700">
            <a:solidFill>
              <a:srgbClr val="13233A"/>
            </a:solidFill>
            <a:prstDash val="solid"/>
          </a:ln>
        </p:spPr>
      </p:sp>
      <p:sp>
        <p:nvSpPr>
          <p:cNvPr id="4" name="Text 2"/>
          <p:cNvSpPr txBox="1"/>
          <p:nvPr/>
        </p:nvSpPr>
        <p:spPr>
          <a:xfrm>
            <a:off x="457200" y="1234440"/>
            <a:ext cx="548640" cy="274320"/>
          </a:xfrm>
          <a:prstGeom prst="rect">
            <a:avLst/>
          </a:prstGeom>
          <a:noFill/>
          <a:ln/>
        </p:spPr>
        <p:txBody>
          <a:bodyPr wrap="square" lIns="0" tIns="0" rIns="0" bIns="0" rtlCol="0" anchor="t"/>
          <a:lstStyle/>
          <a:p>
            <a:pPr marL="0" indent="0" algn="ctr">
              <a:buNone/>
            </a:pPr>
            <a:r>
              <a:rPr lang="en-US" sz="1300" b="1" dirty="0">
                <a:solidFill>
                  <a:srgbClr val="FFFFFF"/>
                </a:solidFill>
              </a:rPr>
              <a:t>v1</a:t>
            </a:r>
            <a:endParaRPr lang="en-US" sz="1300" dirty="0"/>
          </a:p>
        </p:txBody>
      </p:sp>
      <p:sp>
        <p:nvSpPr>
          <p:cNvPr id="5" name="Text 3"/>
          <p:cNvSpPr txBox="1"/>
          <p:nvPr/>
        </p:nvSpPr>
        <p:spPr>
          <a:xfrm>
            <a:off x="1188720" y="1078992"/>
            <a:ext cx="3291840" cy="292608"/>
          </a:xfrm>
          <a:prstGeom prst="rect">
            <a:avLst/>
          </a:prstGeom>
          <a:noFill/>
          <a:ln/>
        </p:spPr>
        <p:txBody>
          <a:bodyPr wrap="square" lIns="0" tIns="0" rIns="0" bIns="0" rtlCol="0" anchor="t"/>
          <a:lstStyle/>
          <a:p>
            <a:pPr marL="0" indent="0">
              <a:buNone/>
            </a:pPr>
            <a:r>
              <a:rPr lang="en-US" sz="1500" b="1" dirty="0">
                <a:solidFill>
                  <a:srgbClr val="16202E"/>
                </a:solidFill>
              </a:rPr>
              <a:t>First working system</a:t>
            </a:r>
            <a:endParaRPr lang="en-US" sz="1500" dirty="0"/>
          </a:p>
        </p:txBody>
      </p:sp>
      <p:sp>
        <p:nvSpPr>
          <p:cNvPr id="6" name="Text 4"/>
          <p:cNvSpPr txBox="1"/>
          <p:nvPr/>
        </p:nvSpPr>
        <p:spPr>
          <a:xfrm>
            <a:off x="1188720" y="1389888"/>
            <a:ext cx="3291840" cy="685800"/>
          </a:xfrm>
          <a:prstGeom prst="rect">
            <a:avLst/>
          </a:prstGeom>
          <a:noFill/>
          <a:ln/>
        </p:spPr>
        <p:txBody>
          <a:bodyPr wrap="square" lIns="0" tIns="0" rIns="0" bIns="0" rtlCol="0" anchor="t"/>
          <a:lstStyle/>
          <a:p>
            <a:pPr marL="0" indent="0">
              <a:buNone/>
            </a:pPr>
            <a:r>
              <a:rPr lang="en-US" sz="1200" dirty="0">
                <a:solidFill>
                  <a:srgbClr val="5B6B82"/>
                </a:solidFill>
              </a:rPr>
              <a:t>Found our own scoring had a loophole: flagging everything scored 0.95. We fixed the metric first.</a:t>
            </a:r>
            <a:endParaRPr lang="en-US" sz="1200" dirty="0"/>
          </a:p>
        </p:txBody>
      </p:sp>
      <p:sp>
        <p:nvSpPr>
          <p:cNvPr id="7" name="r1"/>
          <p:cNvSpPr/>
          <p:nvPr/>
        </p:nvSpPr>
        <p:spPr>
          <a:xfrm>
            <a:off x="457200" y="2194560"/>
            <a:ext cx="548640" cy="548640"/>
          </a:xfrm>
          <a:prstGeom prst="ellipse">
            <a:avLst/>
          </a:prstGeom>
          <a:solidFill>
            <a:srgbClr val="13233A"/>
          </a:solidFill>
          <a:ln w="12700">
            <a:solidFill>
              <a:srgbClr val="13233A"/>
            </a:solidFill>
            <a:prstDash val="solid"/>
          </a:ln>
        </p:spPr>
      </p:sp>
      <p:sp>
        <p:nvSpPr>
          <p:cNvPr id="8" name="Text 6"/>
          <p:cNvSpPr txBox="1"/>
          <p:nvPr/>
        </p:nvSpPr>
        <p:spPr>
          <a:xfrm>
            <a:off x="457200" y="2331720"/>
            <a:ext cx="548640" cy="274320"/>
          </a:xfrm>
          <a:prstGeom prst="rect">
            <a:avLst/>
          </a:prstGeom>
          <a:noFill/>
          <a:ln/>
        </p:spPr>
        <p:txBody>
          <a:bodyPr wrap="square" lIns="0" tIns="0" rIns="0" bIns="0" rtlCol="0" anchor="t"/>
          <a:lstStyle/>
          <a:p>
            <a:pPr marL="0" indent="0" algn="ctr">
              <a:buNone/>
            </a:pPr>
            <a:r>
              <a:rPr lang="en-US" sz="1300" b="1" dirty="0">
                <a:solidFill>
                  <a:srgbClr val="FFFFFF"/>
                </a:solidFill>
              </a:rPr>
              <a:t>v2</a:t>
            </a:r>
            <a:endParaRPr lang="en-US" sz="1300" dirty="0"/>
          </a:p>
        </p:txBody>
      </p:sp>
      <p:sp>
        <p:nvSpPr>
          <p:cNvPr id="9" name="Text 7"/>
          <p:cNvSpPr txBox="1"/>
          <p:nvPr/>
        </p:nvSpPr>
        <p:spPr>
          <a:xfrm>
            <a:off x="1188720" y="2176272"/>
            <a:ext cx="3291840" cy="292608"/>
          </a:xfrm>
          <a:prstGeom prst="rect">
            <a:avLst/>
          </a:prstGeom>
          <a:noFill/>
          <a:ln/>
        </p:spPr>
        <p:txBody>
          <a:bodyPr wrap="square" lIns="0" tIns="0" rIns="0" bIns="0" rtlCol="0" anchor="t"/>
          <a:lstStyle/>
          <a:p>
            <a:pPr marL="0" indent="0">
              <a:buNone/>
            </a:pPr>
            <a:r>
              <a:rPr lang="en-US" sz="1500" b="1" dirty="0">
                <a:solidFill>
                  <a:srgbClr val="16202E"/>
                </a:solidFill>
              </a:rPr>
              <a:t>Careful tuning</a:t>
            </a:r>
            <a:endParaRPr lang="en-US" sz="1500" dirty="0"/>
          </a:p>
        </p:txBody>
      </p:sp>
      <p:sp>
        <p:nvSpPr>
          <p:cNvPr id="10" name="Text 8"/>
          <p:cNvSpPr txBox="1"/>
          <p:nvPr/>
        </p:nvSpPr>
        <p:spPr>
          <a:xfrm>
            <a:off x="1188720" y="2487168"/>
            <a:ext cx="3291840" cy="685800"/>
          </a:xfrm>
          <a:prstGeom prst="rect">
            <a:avLst/>
          </a:prstGeom>
          <a:noFill/>
          <a:ln/>
        </p:spPr>
        <p:txBody>
          <a:bodyPr wrap="square" lIns="0" tIns="0" rIns="0" bIns="0" rtlCol="0" anchor="t"/>
          <a:lstStyle/>
          <a:p>
            <a:pPr marL="0" indent="0">
              <a:buNone/>
            </a:pPr>
            <a:r>
              <a:rPr lang="en-US" sz="1200" dirty="0">
                <a:solidFill>
                  <a:srgbClr val="5B6B82"/>
                </a:solidFill>
              </a:rPr>
              <a:t>231 settings tried, every run logged. Fewer false alarms: 80 to 49.</a:t>
            </a:r>
            <a:endParaRPr lang="en-US" sz="1200" dirty="0"/>
          </a:p>
        </p:txBody>
      </p:sp>
      <p:sp>
        <p:nvSpPr>
          <p:cNvPr id="11" name="r2"/>
          <p:cNvSpPr/>
          <p:nvPr/>
        </p:nvSpPr>
        <p:spPr>
          <a:xfrm>
            <a:off x="457200" y="3291840"/>
            <a:ext cx="548640" cy="548640"/>
          </a:xfrm>
          <a:prstGeom prst="ellipse">
            <a:avLst/>
          </a:prstGeom>
          <a:solidFill>
            <a:srgbClr val="E8A33D"/>
          </a:solidFill>
          <a:ln w="12700">
            <a:solidFill>
              <a:srgbClr val="E8A33D"/>
            </a:solidFill>
            <a:prstDash val="solid"/>
          </a:ln>
        </p:spPr>
      </p:sp>
      <p:sp>
        <p:nvSpPr>
          <p:cNvPr id="12" name="Text 10"/>
          <p:cNvSpPr txBox="1"/>
          <p:nvPr/>
        </p:nvSpPr>
        <p:spPr>
          <a:xfrm>
            <a:off x="457200" y="3429000"/>
            <a:ext cx="548640" cy="274320"/>
          </a:xfrm>
          <a:prstGeom prst="rect">
            <a:avLst/>
          </a:prstGeom>
          <a:noFill/>
          <a:ln/>
        </p:spPr>
        <p:txBody>
          <a:bodyPr wrap="square" lIns="0" tIns="0" rIns="0" bIns="0" rtlCol="0" anchor="t"/>
          <a:lstStyle/>
          <a:p>
            <a:pPr marL="0" indent="0" algn="ctr">
              <a:buNone/>
            </a:pPr>
            <a:r>
              <a:rPr lang="en-US" sz="1300" b="1" dirty="0">
                <a:solidFill>
                  <a:srgbClr val="FFFFFF"/>
                </a:solidFill>
              </a:rPr>
              <a:t>v3</a:t>
            </a:r>
            <a:endParaRPr lang="en-US" sz="1300" dirty="0"/>
          </a:p>
        </p:txBody>
      </p:sp>
      <p:sp>
        <p:nvSpPr>
          <p:cNvPr id="13" name="Text 11"/>
          <p:cNvSpPr txBox="1"/>
          <p:nvPr/>
        </p:nvSpPr>
        <p:spPr>
          <a:xfrm>
            <a:off x="1188720" y="3273552"/>
            <a:ext cx="3291840" cy="292608"/>
          </a:xfrm>
          <a:prstGeom prst="rect">
            <a:avLst/>
          </a:prstGeom>
          <a:noFill/>
          <a:ln/>
        </p:spPr>
        <p:txBody>
          <a:bodyPr wrap="square" lIns="0" tIns="0" rIns="0" bIns="0" rtlCol="0" anchor="t"/>
          <a:lstStyle/>
          <a:p>
            <a:pPr marL="0" indent="0">
              <a:buNone/>
            </a:pPr>
            <a:r>
              <a:rPr lang="en-US" sz="1500" b="1" dirty="0">
                <a:solidFill>
                  <a:srgbClr val="16202E"/>
                </a:solidFill>
              </a:rPr>
              <a:t>New ideas under strict rules</a:t>
            </a:r>
            <a:endParaRPr lang="en-US" sz="1500" dirty="0"/>
          </a:p>
        </p:txBody>
      </p:sp>
      <p:sp>
        <p:nvSpPr>
          <p:cNvPr id="14" name="Text 12"/>
          <p:cNvSpPr txBox="1"/>
          <p:nvPr/>
        </p:nvSpPr>
        <p:spPr>
          <a:xfrm>
            <a:off x="1188720" y="3584448"/>
            <a:ext cx="3291840" cy="685800"/>
          </a:xfrm>
          <a:prstGeom prst="rect">
            <a:avLst/>
          </a:prstGeom>
          <a:noFill/>
          <a:ln/>
        </p:spPr>
        <p:txBody>
          <a:bodyPr wrap="square" lIns="0" tIns="0" rIns="0" bIns="0" rtlCol="0" anchor="t"/>
          <a:lstStyle/>
          <a:p>
            <a:pPr marL="0" indent="0">
              <a:buNone/>
            </a:pPr>
            <a:r>
              <a:rPr lang="en-US" sz="1200" dirty="0">
                <a:solidFill>
                  <a:srgbClr val="5B6B82"/>
                </a:solidFill>
              </a:rPr>
              <a:t>10 ideas tested. Kept only what wins on unseen data: 2 new watchers.</a:t>
            </a:r>
            <a:endParaRPr lang="en-US" sz="1200" dirty="0"/>
          </a:p>
        </p:txBody>
      </p:sp>
      <p:sp>
        <p:nvSpPr>
          <p:cNvPr id="15" name="Text 13"/>
          <p:cNvSpPr txBox="1"/>
          <p:nvPr/>
        </p:nvSpPr>
        <p:spPr>
          <a:xfrm>
            <a:off x="4846320" y="1005840"/>
            <a:ext cx="3840480" cy="274320"/>
          </a:xfrm>
          <a:prstGeom prst="rect">
            <a:avLst/>
          </a:prstGeom>
          <a:noFill/>
          <a:ln/>
        </p:spPr>
        <p:txBody>
          <a:bodyPr wrap="square" lIns="0" tIns="0" rIns="0" bIns="0" rtlCol="0" anchor="t"/>
          <a:lstStyle/>
          <a:p>
            <a:pPr marL="0" indent="0">
              <a:buNone/>
            </a:pPr>
            <a:r>
              <a:rPr lang="en-US" sz="1500" b="1" dirty="0">
                <a:solidFill>
                  <a:srgbClr val="16202E"/>
                </a:solidFill>
              </a:rPr>
              <a:t>v3 ideas we tested</a:t>
            </a:r>
            <a:endParaRPr lang="en-US" sz="1500" dirty="0"/>
          </a:p>
        </p:txBody>
      </p:sp>
      <p:sp>
        <p:nvSpPr>
          <p:cNvPr id="16" name="idea0-bg"/>
          <p:cNvSpPr/>
          <p:nvPr/>
        </p:nvSpPr>
        <p:spPr>
          <a:xfrm>
            <a:off x="4846320" y="1371600"/>
            <a:ext cx="274320" cy="274320"/>
          </a:xfrm>
          <a:prstGeom prst="ellipse">
            <a:avLst/>
          </a:prstGeom>
          <a:solidFill>
            <a:srgbClr val="3F7D6E"/>
          </a:solidFill>
          <a:ln w="12700">
            <a:solidFill>
              <a:srgbClr val="3F7D6E"/>
            </a:solidFill>
            <a:prstDash val="solid"/>
          </a:ln>
        </p:spPr>
      </p:sp>
      <p:pic>
        <p:nvPicPr>
          <p:cNvPr id="17" name="idea0" descr="preencoded.png"/>
          <p:cNvPicPr>
            <a:picLocks noChangeAspect="1"/>
          </p:cNvPicPr>
          <p:nvPr/>
        </p:nvPicPr>
        <p:blipFill>
          <a:blip r:embed="rId3"/>
          <a:stretch>
            <a:fillRect/>
          </a:stretch>
        </p:blipFill>
        <p:spPr>
          <a:xfrm>
            <a:off x="4914900" y="1440180"/>
            <a:ext cx="137160" cy="137160"/>
          </a:xfrm>
          <a:prstGeom prst="rect">
            <a:avLst/>
          </a:prstGeom>
        </p:spPr>
      </p:pic>
      <p:sp>
        <p:nvSpPr>
          <p:cNvPr id="18" name="Text 15"/>
          <p:cNvSpPr txBox="1"/>
          <p:nvPr/>
        </p:nvSpPr>
        <p:spPr>
          <a:xfrm>
            <a:off x="5257800" y="1389888"/>
            <a:ext cx="3383280" cy="274320"/>
          </a:xfrm>
          <a:prstGeom prst="rect">
            <a:avLst/>
          </a:prstGeom>
          <a:noFill/>
          <a:ln/>
        </p:spPr>
        <p:txBody>
          <a:bodyPr wrap="square" lIns="0" tIns="0" rIns="0" bIns="0" rtlCol="0" anchor="t"/>
          <a:lstStyle/>
          <a:p>
            <a:pPr marL="0" indent="0">
              <a:buNone/>
            </a:pPr>
            <a:r>
              <a:rPr lang="en-US" sz="1250" dirty="0">
                <a:solidFill>
                  <a:srgbClr val="16202E"/>
                </a:solidFill>
              </a:rPr>
              <a:t>Shape watcher (SSA)</a:t>
            </a:r>
            <a:endParaRPr lang="en-US" sz="1250" dirty="0"/>
          </a:p>
        </p:txBody>
      </p:sp>
      <p:sp>
        <p:nvSpPr>
          <p:cNvPr id="19" name="idea1-bg"/>
          <p:cNvSpPr/>
          <p:nvPr/>
        </p:nvSpPr>
        <p:spPr>
          <a:xfrm>
            <a:off x="4846320" y="1755648"/>
            <a:ext cx="274320" cy="274320"/>
          </a:xfrm>
          <a:prstGeom prst="ellipse">
            <a:avLst/>
          </a:prstGeom>
          <a:solidFill>
            <a:srgbClr val="3F7D6E"/>
          </a:solidFill>
          <a:ln w="12700">
            <a:solidFill>
              <a:srgbClr val="3F7D6E"/>
            </a:solidFill>
            <a:prstDash val="solid"/>
          </a:ln>
        </p:spPr>
      </p:sp>
      <p:pic>
        <p:nvPicPr>
          <p:cNvPr id="20" name="idea1" descr="preencoded.png"/>
          <p:cNvPicPr>
            <a:picLocks noChangeAspect="1"/>
          </p:cNvPicPr>
          <p:nvPr/>
        </p:nvPicPr>
        <p:blipFill>
          <a:blip r:embed="rId3"/>
          <a:stretch>
            <a:fillRect/>
          </a:stretch>
        </p:blipFill>
        <p:spPr>
          <a:xfrm>
            <a:off x="4914900" y="1824228"/>
            <a:ext cx="137160" cy="137160"/>
          </a:xfrm>
          <a:prstGeom prst="rect">
            <a:avLst/>
          </a:prstGeom>
        </p:spPr>
      </p:pic>
      <p:sp>
        <p:nvSpPr>
          <p:cNvPr id="21" name="Text 17"/>
          <p:cNvSpPr txBox="1"/>
          <p:nvPr/>
        </p:nvSpPr>
        <p:spPr>
          <a:xfrm>
            <a:off x="5257800" y="1773936"/>
            <a:ext cx="3383280" cy="274320"/>
          </a:xfrm>
          <a:prstGeom prst="rect">
            <a:avLst/>
          </a:prstGeom>
          <a:noFill/>
          <a:ln/>
        </p:spPr>
        <p:txBody>
          <a:bodyPr wrap="square" lIns="0" tIns="0" rIns="0" bIns="0" rtlCol="0" anchor="t"/>
          <a:lstStyle/>
          <a:p>
            <a:pPr marL="0" indent="0">
              <a:buNone/>
            </a:pPr>
            <a:r>
              <a:rPr lang="en-US" sz="1250" dirty="0">
                <a:solidFill>
                  <a:srgbClr val="16202E"/>
                </a:solidFill>
              </a:rPr>
              <a:t>Odd-window watcher (LOF)</a:t>
            </a:r>
            <a:endParaRPr lang="en-US" sz="1250" dirty="0"/>
          </a:p>
        </p:txBody>
      </p:sp>
      <p:sp>
        <p:nvSpPr>
          <p:cNvPr id="22" name="idea2-bg"/>
          <p:cNvSpPr/>
          <p:nvPr/>
        </p:nvSpPr>
        <p:spPr>
          <a:xfrm>
            <a:off x="4846320" y="2139696"/>
            <a:ext cx="274320" cy="274320"/>
          </a:xfrm>
          <a:prstGeom prst="ellipse">
            <a:avLst/>
          </a:prstGeom>
          <a:solidFill>
            <a:srgbClr val="3F7D6E"/>
          </a:solidFill>
          <a:ln w="12700">
            <a:solidFill>
              <a:srgbClr val="3F7D6E"/>
            </a:solidFill>
            <a:prstDash val="solid"/>
          </a:ln>
        </p:spPr>
      </p:sp>
      <p:pic>
        <p:nvPicPr>
          <p:cNvPr id="23" name="idea2" descr="preencoded.png"/>
          <p:cNvPicPr>
            <a:picLocks noChangeAspect="1"/>
          </p:cNvPicPr>
          <p:nvPr/>
        </p:nvPicPr>
        <p:blipFill>
          <a:blip r:embed="rId3"/>
          <a:stretch>
            <a:fillRect/>
          </a:stretch>
        </p:blipFill>
        <p:spPr>
          <a:xfrm>
            <a:off x="4914900" y="2208276"/>
            <a:ext cx="137160" cy="137160"/>
          </a:xfrm>
          <a:prstGeom prst="rect">
            <a:avLst/>
          </a:prstGeom>
        </p:spPr>
      </p:pic>
      <p:sp>
        <p:nvSpPr>
          <p:cNvPr id="24" name="Text 19"/>
          <p:cNvSpPr txBox="1"/>
          <p:nvPr/>
        </p:nvSpPr>
        <p:spPr>
          <a:xfrm>
            <a:off x="5257800" y="2157984"/>
            <a:ext cx="3383280" cy="274320"/>
          </a:xfrm>
          <a:prstGeom prst="rect">
            <a:avLst/>
          </a:prstGeom>
          <a:noFill/>
          <a:ln/>
        </p:spPr>
        <p:txBody>
          <a:bodyPr wrap="square" lIns="0" tIns="0" rIns="0" bIns="0" rtlCol="0" anchor="t"/>
          <a:lstStyle/>
          <a:p>
            <a:pPr marL="0" indent="0">
              <a:buNone/>
            </a:pPr>
            <a:r>
              <a:rPr lang="en-US" sz="1250" dirty="0">
                <a:solidFill>
                  <a:srgbClr val="16202E"/>
                </a:solidFill>
              </a:rPr>
              <a:t>Both together</a:t>
            </a:r>
            <a:endParaRPr lang="en-US" sz="1250" dirty="0"/>
          </a:p>
        </p:txBody>
      </p:sp>
      <p:sp>
        <p:nvSpPr>
          <p:cNvPr id="25" name="idea3-bg"/>
          <p:cNvSpPr/>
          <p:nvPr/>
        </p:nvSpPr>
        <p:spPr>
          <a:xfrm>
            <a:off x="4846320" y="2523744"/>
            <a:ext cx="274320" cy="274320"/>
          </a:xfrm>
          <a:prstGeom prst="ellipse">
            <a:avLst/>
          </a:prstGeom>
          <a:solidFill>
            <a:srgbClr val="D9534F"/>
          </a:solidFill>
          <a:ln w="12700">
            <a:solidFill>
              <a:srgbClr val="D9534F"/>
            </a:solidFill>
            <a:prstDash val="solid"/>
          </a:ln>
        </p:spPr>
      </p:sp>
      <p:pic>
        <p:nvPicPr>
          <p:cNvPr id="26" name="idea3" descr="preencoded.png"/>
          <p:cNvPicPr>
            <a:picLocks noChangeAspect="1"/>
          </p:cNvPicPr>
          <p:nvPr/>
        </p:nvPicPr>
        <p:blipFill>
          <a:blip r:embed="rId4"/>
          <a:stretch>
            <a:fillRect/>
          </a:stretch>
        </p:blipFill>
        <p:spPr>
          <a:xfrm>
            <a:off x="4914900" y="2592324"/>
            <a:ext cx="137160" cy="137160"/>
          </a:xfrm>
          <a:prstGeom prst="rect">
            <a:avLst/>
          </a:prstGeom>
        </p:spPr>
      </p:pic>
      <p:sp>
        <p:nvSpPr>
          <p:cNvPr id="27" name="Text 21"/>
          <p:cNvSpPr txBox="1"/>
          <p:nvPr/>
        </p:nvSpPr>
        <p:spPr>
          <a:xfrm>
            <a:off x="5257800" y="2542032"/>
            <a:ext cx="3383280" cy="274320"/>
          </a:xfrm>
          <a:prstGeom prst="rect">
            <a:avLst/>
          </a:prstGeom>
          <a:noFill/>
          <a:ln/>
        </p:spPr>
        <p:txBody>
          <a:bodyPr wrap="square" lIns="0" tIns="0" rIns="0" bIns="0" rtlCol="0" anchor="t"/>
          <a:lstStyle/>
          <a:p>
            <a:pPr marL="0" indent="0">
              <a:buNone/>
            </a:pPr>
            <a:r>
              <a:rPr lang="en-US" sz="1250" dirty="0">
                <a:solidFill>
                  <a:srgbClr val="16202E"/>
                </a:solidFill>
              </a:rPr>
              <a:t>Distribution-change test</a:t>
            </a:r>
            <a:endParaRPr lang="en-US" sz="1250" dirty="0"/>
          </a:p>
        </p:txBody>
      </p:sp>
      <p:sp>
        <p:nvSpPr>
          <p:cNvPr id="28" name="idea4-bg"/>
          <p:cNvSpPr/>
          <p:nvPr/>
        </p:nvSpPr>
        <p:spPr>
          <a:xfrm>
            <a:off x="4846320" y="2907792"/>
            <a:ext cx="274320" cy="274320"/>
          </a:xfrm>
          <a:prstGeom prst="ellipse">
            <a:avLst/>
          </a:prstGeom>
          <a:solidFill>
            <a:srgbClr val="D9534F"/>
          </a:solidFill>
          <a:ln w="12700">
            <a:solidFill>
              <a:srgbClr val="D9534F"/>
            </a:solidFill>
            <a:prstDash val="solid"/>
          </a:ln>
        </p:spPr>
      </p:sp>
      <p:pic>
        <p:nvPicPr>
          <p:cNvPr id="29" name="idea4" descr="preencoded.png"/>
          <p:cNvPicPr>
            <a:picLocks noChangeAspect="1"/>
          </p:cNvPicPr>
          <p:nvPr/>
        </p:nvPicPr>
        <p:blipFill>
          <a:blip r:embed="rId4"/>
          <a:stretch>
            <a:fillRect/>
          </a:stretch>
        </p:blipFill>
        <p:spPr>
          <a:xfrm>
            <a:off x="4914900" y="2976372"/>
            <a:ext cx="137160" cy="137160"/>
          </a:xfrm>
          <a:prstGeom prst="rect">
            <a:avLst/>
          </a:prstGeom>
        </p:spPr>
      </p:pic>
      <p:sp>
        <p:nvSpPr>
          <p:cNvPr id="30" name="Text 23"/>
          <p:cNvSpPr txBox="1"/>
          <p:nvPr/>
        </p:nvSpPr>
        <p:spPr>
          <a:xfrm>
            <a:off x="5257800" y="2926080"/>
            <a:ext cx="3383280" cy="274320"/>
          </a:xfrm>
          <a:prstGeom prst="rect">
            <a:avLst/>
          </a:prstGeom>
          <a:noFill/>
          <a:ln/>
        </p:spPr>
        <p:txBody>
          <a:bodyPr wrap="square" lIns="0" tIns="0" rIns="0" bIns="0" rtlCol="0" anchor="t"/>
          <a:lstStyle/>
          <a:p>
            <a:pPr marL="0" indent="0">
              <a:buNone/>
            </a:pPr>
            <a:r>
              <a:rPr lang="en-US" sz="1250" dirty="0">
                <a:solidFill>
                  <a:srgbClr val="16202E"/>
                </a:solidFill>
              </a:rPr>
              <a:t>Multi-feature test (Hotelling)</a:t>
            </a:r>
            <a:endParaRPr lang="en-US" sz="1250" dirty="0"/>
          </a:p>
        </p:txBody>
      </p:sp>
      <p:sp>
        <p:nvSpPr>
          <p:cNvPr id="31" name="idea5-bg"/>
          <p:cNvSpPr/>
          <p:nvPr/>
        </p:nvSpPr>
        <p:spPr>
          <a:xfrm>
            <a:off x="4846320" y="3291840"/>
            <a:ext cx="274320" cy="274320"/>
          </a:xfrm>
          <a:prstGeom prst="ellipse">
            <a:avLst/>
          </a:prstGeom>
          <a:solidFill>
            <a:srgbClr val="D9534F"/>
          </a:solidFill>
          <a:ln w="12700">
            <a:solidFill>
              <a:srgbClr val="D9534F"/>
            </a:solidFill>
            <a:prstDash val="solid"/>
          </a:ln>
        </p:spPr>
      </p:sp>
      <p:pic>
        <p:nvPicPr>
          <p:cNvPr id="32" name="idea5" descr="preencoded.png"/>
          <p:cNvPicPr>
            <a:picLocks noChangeAspect="1"/>
          </p:cNvPicPr>
          <p:nvPr/>
        </p:nvPicPr>
        <p:blipFill>
          <a:blip r:embed="rId4"/>
          <a:stretch>
            <a:fillRect/>
          </a:stretch>
        </p:blipFill>
        <p:spPr>
          <a:xfrm>
            <a:off x="4914900" y="3360420"/>
            <a:ext cx="137160" cy="137160"/>
          </a:xfrm>
          <a:prstGeom prst="rect">
            <a:avLst/>
          </a:prstGeom>
        </p:spPr>
      </p:pic>
      <p:sp>
        <p:nvSpPr>
          <p:cNvPr id="33" name="Text 25"/>
          <p:cNvSpPr txBox="1"/>
          <p:nvPr/>
        </p:nvSpPr>
        <p:spPr>
          <a:xfrm>
            <a:off x="5257800" y="3310128"/>
            <a:ext cx="3383280" cy="274320"/>
          </a:xfrm>
          <a:prstGeom prst="rect">
            <a:avLst/>
          </a:prstGeom>
          <a:noFill/>
          <a:ln/>
        </p:spPr>
        <p:txBody>
          <a:bodyPr wrap="square" lIns="0" tIns="0" rIns="0" bIns="0" rtlCol="0" anchor="t"/>
          <a:lstStyle/>
          <a:p>
            <a:pPr marL="0" indent="0">
              <a:buNone/>
            </a:pPr>
            <a:r>
              <a:rPr lang="en-US" sz="1250" dirty="0">
                <a:solidFill>
                  <a:srgbClr val="16202E"/>
                </a:solidFill>
              </a:rPr>
              <a:t>Forecast model (AR)</a:t>
            </a:r>
            <a:endParaRPr lang="en-US" sz="1250" dirty="0"/>
          </a:p>
        </p:txBody>
      </p:sp>
      <p:sp>
        <p:nvSpPr>
          <p:cNvPr id="34" name="idea6-bg"/>
          <p:cNvSpPr/>
          <p:nvPr/>
        </p:nvSpPr>
        <p:spPr>
          <a:xfrm>
            <a:off x="4846320" y="3675888"/>
            <a:ext cx="274320" cy="274320"/>
          </a:xfrm>
          <a:prstGeom prst="ellipse">
            <a:avLst/>
          </a:prstGeom>
          <a:solidFill>
            <a:srgbClr val="D9534F"/>
          </a:solidFill>
          <a:ln w="12700">
            <a:solidFill>
              <a:srgbClr val="D9534F"/>
            </a:solidFill>
            <a:prstDash val="solid"/>
          </a:ln>
        </p:spPr>
      </p:sp>
      <p:pic>
        <p:nvPicPr>
          <p:cNvPr id="35" name="idea6" descr="preencoded.png"/>
          <p:cNvPicPr>
            <a:picLocks noChangeAspect="1"/>
          </p:cNvPicPr>
          <p:nvPr/>
        </p:nvPicPr>
        <p:blipFill>
          <a:blip r:embed="rId4"/>
          <a:stretch>
            <a:fillRect/>
          </a:stretch>
        </p:blipFill>
        <p:spPr>
          <a:xfrm>
            <a:off x="4914900" y="3744468"/>
            <a:ext cx="137160" cy="137160"/>
          </a:xfrm>
          <a:prstGeom prst="rect">
            <a:avLst/>
          </a:prstGeom>
        </p:spPr>
      </p:pic>
      <p:sp>
        <p:nvSpPr>
          <p:cNvPr id="36" name="Text 27"/>
          <p:cNvSpPr txBox="1"/>
          <p:nvPr/>
        </p:nvSpPr>
        <p:spPr>
          <a:xfrm>
            <a:off x="5257800" y="3694176"/>
            <a:ext cx="3383280" cy="274320"/>
          </a:xfrm>
          <a:prstGeom prst="rect">
            <a:avLst/>
          </a:prstGeom>
          <a:noFill/>
          <a:ln/>
        </p:spPr>
        <p:txBody>
          <a:bodyPr wrap="square" lIns="0" tIns="0" rIns="0" bIns="0" rtlCol="0" anchor="t"/>
          <a:lstStyle/>
          <a:p>
            <a:pPr marL="0" indent="0">
              <a:buNone/>
            </a:pPr>
            <a:r>
              <a:rPr lang="en-US" sz="1250" dirty="0">
                <a:solidFill>
                  <a:srgbClr val="16202E"/>
                </a:solidFill>
              </a:rPr>
              <a:t>Neural network forecaster</a:t>
            </a:r>
            <a:endParaRPr lang="en-US" sz="1250" dirty="0"/>
          </a:p>
        </p:txBody>
      </p:sp>
      <p:sp>
        <p:nvSpPr>
          <p:cNvPr id="37" name="idea7-bg"/>
          <p:cNvSpPr/>
          <p:nvPr/>
        </p:nvSpPr>
        <p:spPr>
          <a:xfrm>
            <a:off x="4846320" y="4059936"/>
            <a:ext cx="274320" cy="274320"/>
          </a:xfrm>
          <a:prstGeom prst="ellipse">
            <a:avLst/>
          </a:prstGeom>
          <a:solidFill>
            <a:srgbClr val="D9534F"/>
          </a:solidFill>
          <a:ln w="12700">
            <a:solidFill>
              <a:srgbClr val="D9534F"/>
            </a:solidFill>
            <a:prstDash val="solid"/>
          </a:ln>
        </p:spPr>
      </p:sp>
      <p:pic>
        <p:nvPicPr>
          <p:cNvPr id="38" name="idea7" descr="preencoded.png"/>
          <p:cNvPicPr>
            <a:picLocks noChangeAspect="1"/>
          </p:cNvPicPr>
          <p:nvPr/>
        </p:nvPicPr>
        <p:blipFill>
          <a:blip r:embed="rId4"/>
          <a:stretch>
            <a:fillRect/>
          </a:stretch>
        </p:blipFill>
        <p:spPr>
          <a:xfrm>
            <a:off x="4914900" y="4128516"/>
            <a:ext cx="137160" cy="137160"/>
          </a:xfrm>
          <a:prstGeom prst="rect">
            <a:avLst/>
          </a:prstGeom>
        </p:spPr>
      </p:pic>
      <p:sp>
        <p:nvSpPr>
          <p:cNvPr id="39" name="Text 29"/>
          <p:cNvSpPr txBox="1"/>
          <p:nvPr/>
        </p:nvSpPr>
        <p:spPr>
          <a:xfrm>
            <a:off x="5257800" y="4078224"/>
            <a:ext cx="3383280" cy="274320"/>
          </a:xfrm>
          <a:prstGeom prst="rect">
            <a:avLst/>
          </a:prstGeom>
          <a:noFill/>
          <a:ln/>
        </p:spPr>
        <p:txBody>
          <a:bodyPr wrap="square" lIns="0" tIns="0" rIns="0" bIns="0" rtlCol="0" anchor="t"/>
          <a:lstStyle/>
          <a:p>
            <a:pPr marL="0" indent="0">
              <a:buNone/>
            </a:pPr>
            <a:r>
              <a:rPr lang="en-US" sz="1250" dirty="0">
                <a:solidFill>
                  <a:srgbClr val="16202E"/>
                </a:solidFill>
              </a:rPr>
              <a:t>Count-data transform</a:t>
            </a:r>
            <a:endParaRPr lang="en-US" sz="1250" dirty="0"/>
          </a:p>
        </p:txBody>
      </p:sp>
      <p:sp>
        <p:nvSpPr>
          <p:cNvPr id="40" name="Text 30"/>
          <p:cNvSpPr txBox="1"/>
          <p:nvPr/>
        </p:nvSpPr>
        <p:spPr>
          <a:xfrm>
            <a:off x="457200" y="4343400"/>
            <a:ext cx="8229600" cy="365760"/>
          </a:xfrm>
          <a:prstGeom prst="rect">
            <a:avLst/>
          </a:prstGeom>
          <a:noFill/>
          <a:ln/>
        </p:spPr>
        <p:txBody>
          <a:bodyPr wrap="square" lIns="0" tIns="0" rIns="0" bIns="0" rtlCol="0" anchor="t"/>
          <a:lstStyle/>
          <a:p>
            <a:pPr marL="0" indent="0">
              <a:buNone/>
            </a:pPr>
            <a:r>
              <a:rPr lang="en-US" sz="1200" i="1" dirty="0">
                <a:solidFill>
                  <a:srgbClr val="13233A"/>
                </a:solidFill>
              </a:rPr>
              <a:t>Rule written before testing: an idea must win on unseen categories AND on the later part of every file.</a:t>
            </a:r>
            <a:endParaRPr lang="en-US" sz="1200" dirty="0"/>
          </a:p>
        </p:txBody>
      </p:sp>
      <p:sp>
        <p:nvSpPr>
          <p:cNvPr id="41"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13233A"/>
                </a:solidFill>
                <a:latin typeface="Cambria" pitchFamily="34" charset="0"/>
                <a:ea typeface="Cambria" pitchFamily="34" charset="-122"/>
                <a:cs typeface="Cambria" pitchFamily="34" charset="-120"/>
              </a:rPr>
              <a:t>How we measure success</a:t>
            </a:r>
            <a:endParaRPr lang="en-US" sz="2800" dirty="0"/>
          </a:p>
        </p:txBody>
      </p:sp>
      <p:sp>
        <p:nvSpPr>
          <p:cNvPr id="3" name="time"/>
          <p:cNvSpPr/>
          <p:nvPr/>
        </p:nvSpPr>
        <p:spPr>
          <a:xfrm>
            <a:off x="457200" y="1874520"/>
            <a:ext cx="4572000" cy="36576"/>
          </a:xfrm>
          <a:prstGeom prst="rect">
            <a:avLst/>
          </a:prstGeom>
          <a:solidFill>
            <a:srgbClr val="C9D3E0"/>
          </a:solidFill>
          <a:ln w="12700">
            <a:solidFill>
              <a:srgbClr val="C9D3E0"/>
            </a:solidFill>
            <a:prstDash val="solid"/>
          </a:ln>
        </p:spPr>
      </p:sp>
      <p:sp>
        <p:nvSpPr>
          <p:cNvPr id="4" name="win1"/>
          <p:cNvSpPr/>
          <p:nvPr/>
        </p:nvSpPr>
        <p:spPr>
          <a:xfrm>
            <a:off x="1005840" y="1325880"/>
            <a:ext cx="1280160" cy="502920"/>
          </a:xfrm>
          <a:prstGeom prst="rect">
            <a:avLst/>
          </a:prstGeom>
          <a:solidFill>
            <a:srgbClr val="FBE3BF"/>
          </a:solidFill>
          <a:ln w="12700">
            <a:solidFill>
              <a:srgbClr val="FBE3BF"/>
            </a:solidFill>
            <a:prstDash val="solid"/>
          </a:ln>
        </p:spPr>
      </p:sp>
      <p:sp>
        <p:nvSpPr>
          <p:cNvPr id="5" name="win2"/>
          <p:cNvSpPr/>
          <p:nvPr/>
        </p:nvSpPr>
        <p:spPr>
          <a:xfrm>
            <a:off x="3383280" y="1325880"/>
            <a:ext cx="1188720" cy="502920"/>
          </a:xfrm>
          <a:prstGeom prst="rect">
            <a:avLst/>
          </a:prstGeom>
          <a:solidFill>
            <a:srgbClr val="FBE3BF"/>
          </a:solidFill>
          <a:ln w="12700">
            <a:solidFill>
              <a:srgbClr val="FBE3BF"/>
            </a:solidFill>
            <a:prstDash val="solid"/>
          </a:ln>
        </p:spPr>
      </p:sp>
      <p:sp>
        <p:nvSpPr>
          <p:cNvPr id="6" name="trig0"/>
          <p:cNvSpPr/>
          <p:nvPr/>
        </p:nvSpPr>
        <p:spPr>
          <a:xfrm>
            <a:off x="1463040" y="1325880"/>
            <a:ext cx="45720" cy="685800"/>
          </a:xfrm>
          <a:prstGeom prst="rect">
            <a:avLst/>
          </a:prstGeom>
          <a:solidFill>
            <a:srgbClr val="3F7D6E"/>
          </a:solidFill>
          <a:ln w="12700">
            <a:solidFill>
              <a:srgbClr val="3F7D6E"/>
            </a:solidFill>
            <a:prstDash val="solid"/>
          </a:ln>
        </p:spPr>
      </p:sp>
      <p:sp>
        <p:nvSpPr>
          <p:cNvPr id="7" name="Text 5"/>
          <p:cNvSpPr txBox="1"/>
          <p:nvPr/>
        </p:nvSpPr>
        <p:spPr>
          <a:xfrm>
            <a:off x="1097280" y="2057400"/>
            <a:ext cx="914400" cy="228600"/>
          </a:xfrm>
          <a:prstGeom prst="rect">
            <a:avLst/>
          </a:prstGeom>
          <a:noFill/>
          <a:ln/>
        </p:spPr>
        <p:txBody>
          <a:bodyPr wrap="square" lIns="0" tIns="0" rIns="0" bIns="0" rtlCol="0" anchor="t"/>
          <a:lstStyle/>
          <a:p>
            <a:pPr marL="0" indent="0" algn="ctr">
              <a:buNone/>
            </a:pPr>
            <a:r>
              <a:rPr lang="en-US" sz="1100" dirty="0">
                <a:solidFill>
                  <a:srgbClr val="3F7D6E"/>
                </a:solidFill>
              </a:rPr>
              <a:t>caught</a:t>
            </a:r>
            <a:endParaRPr lang="en-US" sz="1100" dirty="0"/>
          </a:p>
        </p:txBody>
      </p:sp>
      <p:sp>
        <p:nvSpPr>
          <p:cNvPr id="8" name="trig1"/>
          <p:cNvSpPr/>
          <p:nvPr/>
        </p:nvSpPr>
        <p:spPr>
          <a:xfrm>
            <a:off x="2743200" y="1325880"/>
            <a:ext cx="45720" cy="685800"/>
          </a:xfrm>
          <a:prstGeom prst="rect">
            <a:avLst/>
          </a:prstGeom>
          <a:solidFill>
            <a:srgbClr val="D9534F"/>
          </a:solidFill>
          <a:ln w="12700">
            <a:solidFill>
              <a:srgbClr val="D9534F"/>
            </a:solidFill>
            <a:prstDash val="solid"/>
          </a:ln>
        </p:spPr>
      </p:sp>
      <p:sp>
        <p:nvSpPr>
          <p:cNvPr id="9" name="Text 7"/>
          <p:cNvSpPr txBox="1"/>
          <p:nvPr/>
        </p:nvSpPr>
        <p:spPr>
          <a:xfrm>
            <a:off x="2377440" y="2057400"/>
            <a:ext cx="914400" cy="228600"/>
          </a:xfrm>
          <a:prstGeom prst="rect">
            <a:avLst/>
          </a:prstGeom>
          <a:noFill/>
          <a:ln/>
        </p:spPr>
        <p:txBody>
          <a:bodyPr wrap="square" lIns="0" tIns="0" rIns="0" bIns="0" rtlCol="0" anchor="t"/>
          <a:lstStyle/>
          <a:p>
            <a:pPr marL="0" indent="0" algn="ctr">
              <a:buNone/>
            </a:pPr>
            <a:r>
              <a:rPr lang="en-US" sz="1100" dirty="0">
                <a:solidFill>
                  <a:srgbClr val="D9534F"/>
                </a:solidFill>
              </a:rPr>
              <a:t>false alarm</a:t>
            </a:r>
            <a:endParaRPr lang="en-US" sz="1100" dirty="0"/>
          </a:p>
        </p:txBody>
      </p:sp>
      <p:sp>
        <p:nvSpPr>
          <p:cNvPr id="10" name="Text 8"/>
          <p:cNvSpPr txBox="1"/>
          <p:nvPr/>
        </p:nvSpPr>
        <p:spPr>
          <a:xfrm>
            <a:off x="3520440" y="2057400"/>
            <a:ext cx="914400" cy="228600"/>
          </a:xfrm>
          <a:prstGeom prst="rect">
            <a:avLst/>
          </a:prstGeom>
          <a:noFill/>
          <a:ln/>
        </p:spPr>
        <p:txBody>
          <a:bodyPr wrap="square" lIns="0" tIns="0" rIns="0" bIns="0" rtlCol="0" anchor="t"/>
          <a:lstStyle/>
          <a:p>
            <a:pPr marL="0" indent="0" algn="ctr">
              <a:buNone/>
            </a:pPr>
            <a:r>
              <a:rPr lang="en-US" sz="1100" dirty="0">
                <a:solidFill>
                  <a:srgbClr val="5B6B82"/>
                </a:solidFill>
              </a:rPr>
              <a:t>missed</a:t>
            </a:r>
            <a:endParaRPr lang="en-US" sz="1100" dirty="0"/>
          </a:p>
        </p:txBody>
      </p:sp>
      <p:sp>
        <p:nvSpPr>
          <p:cNvPr id="11" name="Text 9"/>
          <p:cNvSpPr txBox="1"/>
          <p:nvPr/>
        </p:nvSpPr>
        <p:spPr>
          <a:xfrm>
            <a:off x="457200" y="1051560"/>
            <a:ext cx="4572000" cy="228600"/>
          </a:xfrm>
          <a:prstGeom prst="rect">
            <a:avLst/>
          </a:prstGeom>
          <a:noFill/>
          <a:ln/>
        </p:spPr>
        <p:txBody>
          <a:bodyPr wrap="square" lIns="0" tIns="0" rIns="0" bIns="0" rtlCol="0" anchor="t"/>
          <a:lstStyle/>
          <a:p>
            <a:pPr marL="0" indent="0">
              <a:buNone/>
            </a:pPr>
            <a:r>
              <a:rPr lang="en-US" sz="1000" dirty="0">
                <a:solidFill>
                  <a:srgbClr val="5B6B82"/>
                </a:solidFill>
              </a:rPr>
              <a:t>orange = real problem period</a:t>
            </a:r>
            <a:endParaRPr lang="en-US" sz="1000" dirty="0"/>
          </a:p>
        </p:txBody>
      </p:sp>
      <p:sp>
        <p:nvSpPr>
          <p:cNvPr id="12" name="Text 10"/>
          <p:cNvSpPr txBox="1"/>
          <p:nvPr/>
        </p:nvSpPr>
        <p:spPr>
          <a:xfrm>
            <a:off x="457200" y="2514600"/>
            <a:ext cx="4572000" cy="1280160"/>
          </a:xfrm>
          <a:prstGeom prst="rect">
            <a:avLst/>
          </a:prstGeom>
          <a:noFill/>
          <a:ln/>
        </p:spPr>
        <p:txBody>
          <a:bodyPr wrap="square" lIns="0" tIns="0" rIns="0" bIns="0" rtlCol="0" anchor="t"/>
          <a:lstStyle/>
          <a:p>
            <a:pPr marL="0" indent="0">
              <a:spcAft>
                <a:spcPts val="500"/>
              </a:spcAft>
              <a:buNone/>
            </a:pPr>
            <a:r>
              <a:rPr lang="en-US" sz="1300" b="1" dirty="0">
                <a:solidFill>
                  <a:srgbClr val="16202E"/>
                </a:solidFill>
              </a:rPr>
              <a:t>Precision: </a:t>
            </a:r>
            <a:r>
              <a:rPr lang="en-US" sz="1300" dirty="0">
                <a:solidFill>
                  <a:srgbClr val="16202E"/>
                </a:solidFill>
              </a:rPr>
              <a:t>of our alerts, how many were real</a:t>
            </a:r>
            <a:endParaRPr lang="en-US" sz="1300" dirty="0"/>
          </a:p>
          <a:p>
            <a:pPr marL="0" indent="0">
              <a:spcAft>
                <a:spcPts val="500"/>
              </a:spcAft>
              <a:buNone/>
            </a:pPr>
            <a:r>
              <a:rPr lang="en-US" sz="1300" b="1" dirty="0">
                <a:solidFill>
                  <a:srgbClr val="16202E"/>
                </a:solidFill>
              </a:rPr>
              <a:t>Recall: </a:t>
            </a:r>
            <a:r>
              <a:rPr lang="en-US" sz="1300" dirty="0">
                <a:solidFill>
                  <a:srgbClr val="16202E"/>
                </a:solidFill>
              </a:rPr>
              <a:t>of the real problems, how many we caught</a:t>
            </a:r>
            <a:endParaRPr lang="en-US" sz="1300" dirty="0"/>
          </a:p>
          <a:p>
            <a:pPr marL="0" indent="0">
              <a:spcAft>
                <a:spcPts val="500"/>
              </a:spcAft>
              <a:buNone/>
            </a:pPr>
            <a:r>
              <a:rPr lang="en-US" sz="1300" b="1" dirty="0">
                <a:solidFill>
                  <a:srgbClr val="16202E"/>
                </a:solidFill>
              </a:rPr>
              <a:t>F1: </a:t>
            </a:r>
            <a:r>
              <a:rPr lang="en-US" sz="1300" dirty="0">
                <a:solidFill>
                  <a:srgbClr val="16202E"/>
                </a:solidFill>
              </a:rPr>
              <a:t>one score that balances both (0 to 1)</a:t>
            </a:r>
            <a:endParaRPr lang="en-US" sz="1300" dirty="0"/>
          </a:p>
          <a:p>
            <a:pPr marL="0" indent="0">
              <a:spcAft>
                <a:spcPts val="500"/>
              </a:spcAft>
              <a:buNone/>
            </a:pPr>
            <a:r>
              <a:rPr lang="en-US" sz="1300" b="1" dirty="0">
                <a:solidFill>
                  <a:srgbClr val="16202E"/>
                </a:solidFill>
              </a:rPr>
              <a:t>Delay: </a:t>
            </a:r>
            <a:r>
              <a:rPr lang="en-US" sz="1300" dirty="0">
                <a:solidFill>
                  <a:srgbClr val="16202E"/>
                </a:solidFill>
              </a:rPr>
              <a:t>how late the alert came</a:t>
            </a:r>
            <a:endParaRPr lang="en-US" sz="1300" dirty="0"/>
          </a:p>
        </p:txBody>
      </p:sp>
      <p:sp>
        <p:nvSpPr>
          <p:cNvPr id="13" name="Text 11"/>
          <p:cNvSpPr txBox="1"/>
          <p:nvPr/>
        </p:nvSpPr>
        <p:spPr>
          <a:xfrm>
            <a:off x="5394960" y="1051560"/>
            <a:ext cx="3291840" cy="274320"/>
          </a:xfrm>
          <a:prstGeom prst="rect">
            <a:avLst/>
          </a:prstGeom>
          <a:noFill/>
          <a:ln/>
        </p:spPr>
        <p:txBody>
          <a:bodyPr wrap="square" lIns="0" tIns="0" rIns="0" bIns="0" rtlCol="0" anchor="t"/>
          <a:lstStyle/>
          <a:p>
            <a:pPr marL="0" indent="0">
              <a:buNone/>
            </a:pPr>
            <a:r>
              <a:rPr lang="en-US" sz="1500" b="1" dirty="0">
                <a:solidFill>
                  <a:srgbClr val="16202E"/>
                </a:solidFill>
              </a:rPr>
              <a:t>Two fair tests</a:t>
            </a:r>
            <a:endParaRPr lang="en-US" sz="1500" dirty="0"/>
          </a:p>
        </p:txBody>
      </p:sp>
      <p:sp>
        <p:nvSpPr>
          <p:cNvPr id="14" name="test0"/>
          <p:cNvSpPr/>
          <p:nvPr/>
        </p:nvSpPr>
        <p:spPr>
          <a:xfrm>
            <a:off x="5394960" y="1417320"/>
            <a:ext cx="3291840" cy="914400"/>
          </a:xfrm>
          <a:prstGeom prst="roundRect">
            <a:avLst>
              <a:gd name="adj" fmla="val 8000"/>
            </a:avLst>
          </a:prstGeom>
          <a:solidFill>
            <a:srgbClr val="EEF2F7"/>
          </a:solidFill>
          <a:ln w="12700">
            <a:solidFill>
              <a:srgbClr val="EEF2F7"/>
            </a:solidFill>
            <a:prstDash val="solid"/>
          </a:ln>
        </p:spPr>
      </p:sp>
      <p:sp>
        <p:nvSpPr>
          <p:cNvPr id="15" name="Text 13"/>
          <p:cNvSpPr txBox="1"/>
          <p:nvPr/>
        </p:nvSpPr>
        <p:spPr>
          <a:xfrm>
            <a:off x="5532120" y="1527048"/>
            <a:ext cx="3017520" cy="731520"/>
          </a:xfrm>
          <a:prstGeom prst="rect">
            <a:avLst/>
          </a:prstGeom>
          <a:noFill/>
          <a:ln/>
        </p:spPr>
        <p:txBody>
          <a:bodyPr wrap="square" lIns="0" tIns="0" rIns="0" bIns="0" rtlCol="0" anchor="t"/>
          <a:lstStyle/>
          <a:p>
            <a:pPr marL="0" indent="0">
              <a:buNone/>
            </a:pPr>
            <a:r>
              <a:rPr lang="en-US" sz="1300" b="1" dirty="0">
                <a:solidFill>
                  <a:srgbClr val="13233A"/>
                </a:solidFill>
              </a:rPr>
              <a:t>Unseen kind of data</a:t>
            </a:r>
            <a:endParaRPr lang="en-US" sz="1400" dirty="0"/>
          </a:p>
          <a:p>
            <a:pPr marL="0" indent="0">
              <a:buNone/>
            </a:pPr>
            <a:r>
              <a:rPr lang="en-US" sz="1200" dirty="0">
                <a:solidFill>
                  <a:srgbClr val="5B6B82"/>
                </a:solidFill>
              </a:rPr>
              <a:t>Tune on 6 of the 7 kinds, test on the 7th.</a:t>
            </a:r>
            <a:endParaRPr lang="en-US" sz="1400" dirty="0"/>
          </a:p>
        </p:txBody>
      </p:sp>
      <p:sp>
        <p:nvSpPr>
          <p:cNvPr id="16" name="test1"/>
          <p:cNvSpPr/>
          <p:nvPr/>
        </p:nvSpPr>
        <p:spPr>
          <a:xfrm>
            <a:off x="5394960" y="2468880"/>
            <a:ext cx="3291840" cy="914400"/>
          </a:xfrm>
          <a:prstGeom prst="roundRect">
            <a:avLst>
              <a:gd name="adj" fmla="val 8000"/>
            </a:avLst>
          </a:prstGeom>
          <a:solidFill>
            <a:srgbClr val="EEF2F7"/>
          </a:solidFill>
          <a:ln w="12700">
            <a:solidFill>
              <a:srgbClr val="EEF2F7"/>
            </a:solidFill>
            <a:prstDash val="solid"/>
          </a:ln>
        </p:spPr>
      </p:sp>
      <p:sp>
        <p:nvSpPr>
          <p:cNvPr id="17" name="Text 15"/>
          <p:cNvSpPr txBox="1"/>
          <p:nvPr/>
        </p:nvSpPr>
        <p:spPr>
          <a:xfrm>
            <a:off x="5532120" y="2578608"/>
            <a:ext cx="3017520" cy="731520"/>
          </a:xfrm>
          <a:prstGeom prst="rect">
            <a:avLst/>
          </a:prstGeom>
          <a:noFill/>
          <a:ln/>
        </p:spPr>
        <p:txBody>
          <a:bodyPr wrap="square" lIns="0" tIns="0" rIns="0" bIns="0" rtlCol="0" anchor="t"/>
          <a:lstStyle/>
          <a:p>
            <a:pPr marL="0" indent="0">
              <a:buNone/>
            </a:pPr>
            <a:r>
              <a:rPr lang="en-US" sz="1300" b="1" dirty="0">
                <a:solidFill>
                  <a:srgbClr val="13233A"/>
                </a:solidFill>
              </a:rPr>
              <a:t>Unseen future</a:t>
            </a:r>
            <a:endParaRPr lang="en-US" sz="1400" dirty="0"/>
          </a:p>
          <a:p>
            <a:pPr marL="0" indent="0">
              <a:buNone/>
            </a:pPr>
            <a:r>
              <a:rPr lang="en-US" sz="1200" dirty="0">
                <a:solidFill>
                  <a:srgbClr val="5B6B82"/>
                </a:solidFill>
              </a:rPr>
              <a:t>Tune on the first half of each file, test on the second half.</a:t>
            </a:r>
            <a:endParaRPr lang="en-US" sz="1400" dirty="0"/>
          </a:p>
        </p:txBody>
      </p:sp>
      <p:sp>
        <p:nvSpPr>
          <p:cNvPr id="18" name="Text 16"/>
          <p:cNvSpPr txBox="1"/>
          <p:nvPr/>
        </p:nvSpPr>
        <p:spPr>
          <a:xfrm>
            <a:off x="457200" y="4160520"/>
            <a:ext cx="8229600" cy="320040"/>
          </a:xfrm>
          <a:prstGeom prst="rect">
            <a:avLst/>
          </a:prstGeom>
          <a:noFill/>
          <a:ln/>
        </p:spPr>
        <p:txBody>
          <a:bodyPr wrap="square" lIns="0" tIns="0" rIns="0" bIns="0" rtlCol="0" anchor="t"/>
          <a:lstStyle/>
          <a:p>
            <a:pPr marL="0" indent="0">
              <a:buNone/>
            </a:pPr>
            <a:r>
              <a:rPr lang="en-US" sz="1200" i="1" dirty="0">
                <a:solidFill>
                  <a:srgbClr val="13233A"/>
                </a:solidFill>
              </a:rPr>
              <a:t>No official scorer was given, so we defined one and checked it cannot be gamed.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13233A"/>
                </a:solidFill>
                <a:latin typeface="Cambria" pitchFamily="34" charset="0"/>
                <a:ea typeface="Cambria" pitchFamily="34" charset="-122"/>
                <a:cs typeface="Cambria" pitchFamily="34" charset="-120"/>
              </a:rPr>
              <a:t>Results</a:t>
            </a:r>
            <a:endParaRPr lang="en-US" sz="2800" dirty="0"/>
          </a:p>
        </p:txBody>
      </p:sp>
      <p:graphicFrame>
        <p:nvGraphicFramePr>
          <p:cNvPr id="3" name="results-chart"/>
          <p:cNvGraphicFramePr/>
          <p:nvPr/>
        </p:nvGraphicFramePr>
        <p:xfrm>
          <a:off x="365760" y="960120"/>
          <a:ext cx="49377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5577840" y="1005840"/>
            <a:ext cx="3108960" cy="457200"/>
          </a:xfrm>
          <a:prstGeom prst="rect">
            <a:avLst/>
          </a:prstGeom>
          <a:noFill/>
          <a:ln/>
        </p:spPr>
        <p:txBody>
          <a:bodyPr wrap="square" lIns="0" tIns="0" rIns="0" bIns="0" rtlCol="0" anchor="t"/>
          <a:lstStyle/>
          <a:p>
            <a:pPr marL="0" indent="0">
              <a:buNone/>
            </a:pPr>
            <a:r>
              <a:rPr lang="en-US" sz="2600" b="1" dirty="0">
                <a:solidFill>
                  <a:srgbClr val="13233A"/>
                </a:solidFill>
                <a:latin typeface="Cambria" pitchFamily="34" charset="0"/>
                <a:ea typeface="Cambria" pitchFamily="34" charset="-122"/>
                <a:cs typeface="Cambria" pitchFamily="34" charset="-120"/>
              </a:rPr>
              <a:t>56 of 116</a:t>
            </a:r>
            <a:endParaRPr lang="en-US" sz="2600" dirty="0"/>
          </a:p>
        </p:txBody>
      </p:sp>
      <p:sp>
        <p:nvSpPr>
          <p:cNvPr id="5" name="Text 2"/>
          <p:cNvSpPr txBox="1"/>
          <p:nvPr/>
        </p:nvSpPr>
        <p:spPr>
          <a:xfrm>
            <a:off x="5577840" y="1444752"/>
            <a:ext cx="3108960" cy="320040"/>
          </a:xfrm>
          <a:prstGeom prst="rect">
            <a:avLst/>
          </a:prstGeom>
          <a:noFill/>
          <a:ln/>
        </p:spPr>
        <p:txBody>
          <a:bodyPr wrap="square" lIns="0" tIns="0" rIns="0" bIns="0" rtlCol="0" anchor="t"/>
          <a:lstStyle/>
          <a:p>
            <a:pPr marL="0" indent="0">
              <a:buNone/>
            </a:pPr>
            <a:r>
              <a:rPr lang="en-US" sz="1200" dirty="0">
                <a:solidFill>
                  <a:srgbClr val="5B6B82"/>
                </a:solidFill>
              </a:rPr>
              <a:t>problems caught</a:t>
            </a:r>
            <a:endParaRPr lang="en-US" sz="1200" dirty="0"/>
          </a:p>
        </p:txBody>
      </p:sp>
      <p:sp>
        <p:nvSpPr>
          <p:cNvPr id="6" name="Text 3"/>
          <p:cNvSpPr txBox="1"/>
          <p:nvPr/>
        </p:nvSpPr>
        <p:spPr>
          <a:xfrm>
            <a:off x="5577840" y="1874520"/>
            <a:ext cx="3108960" cy="457200"/>
          </a:xfrm>
          <a:prstGeom prst="rect">
            <a:avLst/>
          </a:prstGeom>
          <a:noFill/>
          <a:ln/>
        </p:spPr>
        <p:txBody>
          <a:bodyPr wrap="square" lIns="0" tIns="0" rIns="0" bIns="0" rtlCol="0" anchor="t"/>
          <a:lstStyle/>
          <a:p>
            <a:pPr marL="0" indent="0">
              <a:buNone/>
            </a:pPr>
            <a:r>
              <a:rPr lang="en-US" sz="2600" b="1" dirty="0">
                <a:solidFill>
                  <a:srgbClr val="3F7D6E"/>
                </a:solidFill>
                <a:latin typeface="Cambria" pitchFamily="34" charset="0"/>
                <a:ea typeface="Cambria" pitchFamily="34" charset="-122"/>
                <a:cs typeface="Cambria" pitchFamily="34" charset="-120"/>
              </a:rPr>
              <a:t>35</a:t>
            </a:r>
            <a:endParaRPr lang="en-US" sz="2600" dirty="0"/>
          </a:p>
        </p:txBody>
      </p:sp>
      <p:sp>
        <p:nvSpPr>
          <p:cNvPr id="7" name="Text 4"/>
          <p:cNvSpPr txBox="1"/>
          <p:nvPr/>
        </p:nvSpPr>
        <p:spPr>
          <a:xfrm>
            <a:off x="5577840" y="2313432"/>
            <a:ext cx="3108960" cy="320040"/>
          </a:xfrm>
          <a:prstGeom prst="rect">
            <a:avLst/>
          </a:prstGeom>
          <a:noFill/>
          <a:ln/>
        </p:spPr>
        <p:txBody>
          <a:bodyPr wrap="square" lIns="0" tIns="0" rIns="0" bIns="0" rtlCol="0" anchor="t"/>
          <a:lstStyle/>
          <a:p>
            <a:pPr marL="0" indent="0">
              <a:buNone/>
            </a:pPr>
            <a:r>
              <a:rPr lang="en-US" sz="1200" dirty="0">
                <a:solidFill>
                  <a:srgbClr val="5B6B82"/>
                </a:solidFill>
              </a:rPr>
              <a:t>false alarms (v2: 49)</a:t>
            </a:r>
            <a:endParaRPr lang="en-US" sz="1200" dirty="0"/>
          </a:p>
        </p:txBody>
      </p:sp>
      <p:sp>
        <p:nvSpPr>
          <p:cNvPr id="8" name="Text 5"/>
          <p:cNvSpPr txBox="1"/>
          <p:nvPr/>
        </p:nvSpPr>
        <p:spPr>
          <a:xfrm>
            <a:off x="5577840" y="2743200"/>
            <a:ext cx="3108960" cy="457200"/>
          </a:xfrm>
          <a:prstGeom prst="rect">
            <a:avLst/>
          </a:prstGeom>
          <a:noFill/>
          <a:ln/>
        </p:spPr>
        <p:txBody>
          <a:bodyPr wrap="square" lIns="0" tIns="0" rIns="0" bIns="0" rtlCol="0" anchor="t"/>
          <a:lstStyle/>
          <a:p>
            <a:pPr marL="0" indent="0">
              <a:buNone/>
            </a:pPr>
            <a:r>
              <a:rPr lang="en-US" sz="2600" b="1" dirty="0">
                <a:solidFill>
                  <a:srgbClr val="13233A"/>
                </a:solidFill>
                <a:latin typeface="Cambria" pitchFamily="34" charset="0"/>
                <a:ea typeface="Cambria" pitchFamily="34" charset="-122"/>
                <a:cs typeface="Cambria" pitchFamily="34" charset="-120"/>
              </a:rPr>
              <a:t>0.57</a:t>
            </a:r>
            <a:endParaRPr lang="en-US" sz="2600" dirty="0"/>
          </a:p>
        </p:txBody>
      </p:sp>
      <p:sp>
        <p:nvSpPr>
          <p:cNvPr id="9" name="Text 6"/>
          <p:cNvSpPr txBox="1"/>
          <p:nvPr/>
        </p:nvSpPr>
        <p:spPr>
          <a:xfrm>
            <a:off x="5577840" y="3182112"/>
            <a:ext cx="3108960" cy="320040"/>
          </a:xfrm>
          <a:prstGeom prst="rect">
            <a:avLst/>
          </a:prstGeom>
          <a:noFill/>
          <a:ln/>
        </p:spPr>
        <p:txBody>
          <a:bodyPr wrap="square" lIns="0" tIns="0" rIns="0" bIns="0" rtlCol="0" anchor="t"/>
          <a:lstStyle/>
          <a:p>
            <a:pPr marL="0" indent="0">
              <a:buNone/>
            </a:pPr>
            <a:r>
              <a:rPr lang="en-US" sz="1200" dirty="0">
                <a:solidFill>
                  <a:srgbClr val="5B6B82"/>
                </a:solidFill>
              </a:rPr>
              <a:t>F1 on unseen future data (v2: 0.53)</a:t>
            </a:r>
            <a:endParaRPr lang="en-US" sz="1200" dirty="0"/>
          </a:p>
        </p:txBody>
      </p:sp>
      <p:sp>
        <p:nvSpPr>
          <p:cNvPr id="10" name="Text 7"/>
          <p:cNvSpPr txBox="1"/>
          <p:nvPr/>
        </p:nvSpPr>
        <p:spPr>
          <a:xfrm>
            <a:off x="5577840" y="3611880"/>
            <a:ext cx="3108960" cy="457200"/>
          </a:xfrm>
          <a:prstGeom prst="rect">
            <a:avLst/>
          </a:prstGeom>
          <a:noFill/>
          <a:ln/>
        </p:spPr>
        <p:txBody>
          <a:bodyPr wrap="square" lIns="0" tIns="0" rIns="0" bIns="0" rtlCol="0" anchor="t"/>
          <a:lstStyle/>
          <a:p>
            <a:pPr marL="0" indent="0">
              <a:buNone/>
            </a:pPr>
            <a:r>
              <a:rPr lang="en-US" sz="2600" b="1" dirty="0">
                <a:solidFill>
                  <a:srgbClr val="13233A"/>
                </a:solidFill>
                <a:latin typeface="Cambria" pitchFamily="34" charset="0"/>
                <a:ea typeface="Cambria" pitchFamily="34" charset="-122"/>
                <a:cs typeface="Cambria" pitchFamily="34" charset="-120"/>
              </a:rPr>
              <a:t>21 µs</a:t>
            </a:r>
            <a:endParaRPr lang="en-US" sz="2600" dirty="0"/>
          </a:p>
        </p:txBody>
      </p:sp>
      <p:sp>
        <p:nvSpPr>
          <p:cNvPr id="11" name="Text 8"/>
          <p:cNvSpPr txBox="1"/>
          <p:nvPr/>
        </p:nvSpPr>
        <p:spPr>
          <a:xfrm>
            <a:off x="5577840" y="4050792"/>
            <a:ext cx="3108960" cy="320040"/>
          </a:xfrm>
          <a:prstGeom prst="rect">
            <a:avLst/>
          </a:prstGeom>
          <a:noFill/>
          <a:ln/>
        </p:spPr>
        <p:txBody>
          <a:bodyPr wrap="square" lIns="0" tIns="0" rIns="0" bIns="0" rtlCol="0" anchor="t"/>
          <a:lstStyle/>
          <a:p>
            <a:pPr marL="0" indent="0">
              <a:buNone/>
            </a:pPr>
            <a:r>
              <a:rPr lang="en-US" sz="1200" dirty="0">
                <a:solidFill>
                  <a:srgbClr val="5B6B82"/>
                </a:solidFill>
              </a:rPr>
              <a:t>per data point</a:t>
            </a:r>
            <a:endParaRPr lang="en-US" sz="1200" dirty="0"/>
          </a:p>
        </p:txBody>
      </p:sp>
      <p:sp>
        <p:nvSpPr>
          <p:cNvPr id="12" name="Text 9"/>
          <p:cNvSpPr txBox="1"/>
          <p:nvPr/>
        </p:nvSpPr>
        <p:spPr>
          <a:xfrm>
            <a:off x="457200" y="4526280"/>
            <a:ext cx="8229600" cy="256032"/>
          </a:xfrm>
          <a:prstGeom prst="rect">
            <a:avLst/>
          </a:prstGeom>
          <a:noFill/>
          <a:ln/>
        </p:spPr>
        <p:txBody>
          <a:bodyPr wrap="square" lIns="0" tIns="0" rIns="0" bIns="0" rtlCol="0" anchor="t"/>
          <a:lstStyle/>
          <a:p>
            <a:pPr marL="0" indent="0">
              <a:buNone/>
            </a:pPr>
            <a:r>
              <a:rPr lang="en-US" sz="1000" dirty="0">
                <a:solidFill>
                  <a:srgbClr val="5B6B82"/>
                </a:solidFill>
              </a:rPr>
              <a:t>Baselines shown out of the box. A plain rolling z-score raises 5,215 false alarms; Sentinel raises 35.</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13233A"/>
                </a:solidFill>
                <a:latin typeface="Cambria" pitchFamily="34" charset="0"/>
                <a:ea typeface="Cambria" pitchFamily="34" charset="-122"/>
                <a:cs typeface="Cambria" pitchFamily="34" charset="-120"/>
              </a:rPr>
              <a:t>Demo: every alert comes with a reason</a:t>
            </a:r>
            <a:endParaRPr lang="en-US" sz="2800" dirty="0"/>
          </a:p>
        </p:txBody>
      </p:sp>
      <p:pic>
        <p:nvPicPr>
          <p:cNvPr id="3" name="demo" descr="/home/claude/w/repo/figures/demo_streamlit.png"/>
          <p:cNvPicPr>
            <a:picLocks noChangeAspect="1"/>
          </p:cNvPicPr>
          <p:nvPr/>
        </p:nvPicPr>
        <p:blipFill>
          <a:blip r:embed="rId3"/>
          <a:stretch>
            <a:fillRect/>
          </a:stretch>
        </p:blipFill>
        <p:spPr>
          <a:xfrm>
            <a:off x="457200" y="1005840"/>
            <a:ext cx="4937760" cy="3086100"/>
          </a:xfrm>
          <a:prstGeom prst="rect">
            <a:avLst/>
          </a:prstGeom>
        </p:spPr>
      </p:pic>
      <p:sp>
        <p:nvSpPr>
          <p:cNvPr id="4" name="ev0"/>
          <p:cNvSpPr/>
          <p:nvPr/>
        </p:nvSpPr>
        <p:spPr>
          <a:xfrm>
            <a:off x="5623560" y="1005840"/>
            <a:ext cx="3063240" cy="932688"/>
          </a:xfrm>
          <a:prstGeom prst="roundRect">
            <a:avLst>
              <a:gd name="adj" fmla="val 7843"/>
            </a:avLst>
          </a:prstGeom>
          <a:solidFill>
            <a:srgbClr val="EEF2F7"/>
          </a:solidFill>
          <a:ln w="12700">
            <a:solidFill>
              <a:srgbClr val="EEF2F7"/>
            </a:solidFill>
            <a:prstDash val="solid"/>
          </a:ln>
        </p:spPr>
      </p:sp>
      <p:sp>
        <p:nvSpPr>
          <p:cNvPr id="5" name="Text 2"/>
          <p:cNvSpPr txBox="1"/>
          <p:nvPr/>
        </p:nvSpPr>
        <p:spPr>
          <a:xfrm>
            <a:off x="5760720" y="1097280"/>
            <a:ext cx="2834640" cy="777240"/>
          </a:xfrm>
          <a:prstGeom prst="rect">
            <a:avLst/>
          </a:prstGeom>
          <a:noFill/>
          <a:ln/>
        </p:spPr>
        <p:txBody>
          <a:bodyPr wrap="square" lIns="0" tIns="0" rIns="0" bIns="0" rtlCol="0" anchor="t"/>
          <a:lstStyle/>
          <a:p>
            <a:pPr marL="0" indent="0">
              <a:buNone/>
            </a:pPr>
            <a:r>
              <a:rPr lang="en-US" sz="1250" b="1" dirty="0">
                <a:solidFill>
                  <a:srgbClr val="3F7D6E"/>
                </a:solidFill>
              </a:rPr>
              <a:t>Caught: machine temperature</a:t>
            </a:r>
            <a:endParaRPr lang="en-US" sz="1400" dirty="0"/>
          </a:p>
          <a:p>
            <a:pPr marL="0" indent="0">
              <a:buNone/>
            </a:pPr>
            <a:r>
              <a:rPr lang="en-US" sz="1100" dirty="0">
                <a:solidFill>
                  <a:srgbClr val="16202E"/>
                </a:solidFill>
              </a:rPr>
              <a:t>"Value 69.6 is 11.6× the normal spread above the expected 32.1."</a:t>
            </a:r>
            <a:endParaRPr lang="en-US" sz="1400" dirty="0"/>
          </a:p>
        </p:txBody>
      </p:sp>
      <p:sp>
        <p:nvSpPr>
          <p:cNvPr id="6" name="ev1"/>
          <p:cNvSpPr/>
          <p:nvPr/>
        </p:nvSpPr>
        <p:spPr>
          <a:xfrm>
            <a:off x="5623560" y="2057400"/>
            <a:ext cx="3063240" cy="932688"/>
          </a:xfrm>
          <a:prstGeom prst="roundRect">
            <a:avLst>
              <a:gd name="adj" fmla="val 7843"/>
            </a:avLst>
          </a:prstGeom>
          <a:solidFill>
            <a:srgbClr val="EEF2F7"/>
          </a:solidFill>
          <a:ln w="12700">
            <a:solidFill>
              <a:srgbClr val="EEF2F7"/>
            </a:solidFill>
            <a:prstDash val="solid"/>
          </a:ln>
        </p:spPr>
      </p:sp>
      <p:sp>
        <p:nvSpPr>
          <p:cNvPr id="7" name="Text 4"/>
          <p:cNvSpPr txBox="1"/>
          <p:nvPr/>
        </p:nvSpPr>
        <p:spPr>
          <a:xfrm>
            <a:off x="5760720" y="2148840"/>
            <a:ext cx="2834640" cy="777240"/>
          </a:xfrm>
          <a:prstGeom prst="rect">
            <a:avLst/>
          </a:prstGeom>
          <a:noFill/>
          <a:ln/>
        </p:spPr>
        <p:txBody>
          <a:bodyPr wrap="square" lIns="0" tIns="0" rIns="0" bIns="0" rtlCol="0" anchor="t"/>
          <a:lstStyle/>
          <a:p>
            <a:pPr marL="0" indent="0">
              <a:buNone/>
            </a:pPr>
            <a:r>
              <a:rPr lang="en-US" sz="1250" b="1" dirty="0">
                <a:solidFill>
                  <a:srgbClr val="3F7D6E"/>
                </a:solidFill>
              </a:rPr>
              <a:t>Caught: shape break</a:t>
            </a:r>
            <a:endParaRPr lang="en-US" sz="1400" dirty="0"/>
          </a:p>
          <a:p>
            <a:pPr marL="0" indent="0">
              <a:buNone/>
            </a:pPr>
            <a:r>
              <a:rPr lang="en-US" sz="1100" dirty="0">
                <a:solidFill>
                  <a:srgbClr val="16202E"/>
                </a:solidFill>
              </a:rPr>
              <a:t>"Only 74% of the last 32 values' shape matches the usual patterns."</a:t>
            </a:r>
            <a:endParaRPr lang="en-US" sz="1400" dirty="0"/>
          </a:p>
        </p:txBody>
      </p:sp>
      <p:sp>
        <p:nvSpPr>
          <p:cNvPr id="8" name="ev2"/>
          <p:cNvSpPr/>
          <p:nvPr/>
        </p:nvSpPr>
        <p:spPr>
          <a:xfrm>
            <a:off x="5623560" y="3108960"/>
            <a:ext cx="3063240" cy="932688"/>
          </a:xfrm>
          <a:prstGeom prst="roundRect">
            <a:avLst>
              <a:gd name="adj" fmla="val 7843"/>
            </a:avLst>
          </a:prstGeom>
          <a:solidFill>
            <a:srgbClr val="EEF2F7"/>
          </a:solidFill>
          <a:ln w="12700">
            <a:solidFill>
              <a:srgbClr val="EEF2F7"/>
            </a:solidFill>
            <a:prstDash val="solid"/>
          </a:ln>
        </p:spPr>
      </p:sp>
      <p:sp>
        <p:nvSpPr>
          <p:cNvPr id="9" name="Text 6"/>
          <p:cNvSpPr txBox="1"/>
          <p:nvPr/>
        </p:nvSpPr>
        <p:spPr>
          <a:xfrm>
            <a:off x="5760720" y="3200400"/>
            <a:ext cx="2834640" cy="777240"/>
          </a:xfrm>
          <a:prstGeom prst="rect">
            <a:avLst/>
          </a:prstGeom>
          <a:noFill/>
          <a:ln/>
        </p:spPr>
        <p:txBody>
          <a:bodyPr wrap="square" lIns="0" tIns="0" rIns="0" bIns="0" rtlCol="0" anchor="t"/>
          <a:lstStyle/>
          <a:p>
            <a:pPr marL="0" indent="0">
              <a:buNone/>
            </a:pPr>
            <a:r>
              <a:rPr lang="en-US" sz="1250" b="1" dirty="0">
                <a:solidFill>
                  <a:srgbClr val="D9534F"/>
                </a:solidFill>
              </a:rPr>
              <a:t>False alarm, explained</a:t>
            </a:r>
            <a:endParaRPr lang="en-US" sz="1400" dirty="0"/>
          </a:p>
          <a:p>
            <a:pPr marL="0" indent="0">
              <a:buNone/>
            </a:pPr>
            <a:r>
              <a:rPr lang="en-US" sz="1100" dirty="0">
                <a:solidFill>
                  <a:srgbClr val="16202E"/>
                </a:solidFill>
              </a:rPr>
              <a:t>"Sustained upward shift for 3 points." Fired outside every marked problem period.</a:t>
            </a:r>
            <a:endParaRPr lang="en-US" sz="1400" dirty="0"/>
          </a:p>
        </p:txBody>
      </p:sp>
      <p:sp>
        <p:nvSpPr>
          <p:cNvPr id="10" name="Text 7"/>
          <p:cNvSpPr txBox="1"/>
          <p:nvPr/>
        </p:nvSpPr>
        <p:spPr>
          <a:xfrm>
            <a:off x="457200" y="4206240"/>
            <a:ext cx="8229600" cy="274320"/>
          </a:xfrm>
          <a:prstGeom prst="rect">
            <a:avLst/>
          </a:prstGeom>
          <a:noFill/>
          <a:ln/>
        </p:spPr>
        <p:txBody>
          <a:bodyPr wrap="square" lIns="0" tIns="0" rIns="0" bIns="0" rtlCol="0" anchor="t"/>
          <a:lstStyle/>
          <a:p>
            <a:pPr marL="0" indent="0">
              <a:buNone/>
            </a:pPr>
            <a:r>
              <a:rPr lang="en-US" sz="1100" dirty="0">
                <a:solidFill>
                  <a:srgbClr val="5B6B82"/>
                </a:solidFill>
              </a:rPr>
              <a:t>Live app: streamlit run app/streamlit_app.py   ·   any CSV: python scripts/run_stream.py</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Limits, next steps and conclusion</a:t>
            </a:r>
            <a:endParaRPr lang="en-US" sz="2800" dirty="0"/>
          </a:p>
        </p:txBody>
      </p:sp>
      <p:sp>
        <p:nvSpPr>
          <p:cNvPr id="3" name="col0"/>
          <p:cNvSpPr/>
          <p:nvPr/>
        </p:nvSpPr>
        <p:spPr>
          <a:xfrm>
            <a:off x="457200" y="1051560"/>
            <a:ext cx="2606040" cy="2240280"/>
          </a:xfrm>
          <a:prstGeom prst="roundRect">
            <a:avLst>
              <a:gd name="adj" fmla="val 3265"/>
            </a:avLst>
          </a:prstGeom>
          <a:solidFill>
            <a:srgbClr val="1C2F4B"/>
          </a:solidFill>
          <a:ln w="12700">
            <a:solidFill>
              <a:srgbClr val="1C2F4B"/>
            </a:solidFill>
            <a:prstDash val="solid"/>
          </a:ln>
        </p:spPr>
      </p:sp>
      <p:sp>
        <p:nvSpPr>
          <p:cNvPr id="4" name="Text 2"/>
          <p:cNvSpPr txBox="1"/>
          <p:nvPr/>
        </p:nvSpPr>
        <p:spPr>
          <a:xfrm>
            <a:off x="594360" y="1161288"/>
            <a:ext cx="2331720" cy="292608"/>
          </a:xfrm>
          <a:prstGeom prst="rect">
            <a:avLst/>
          </a:prstGeom>
          <a:noFill/>
          <a:ln/>
        </p:spPr>
        <p:txBody>
          <a:bodyPr wrap="square" lIns="0" tIns="0" rIns="0" bIns="0" rtlCol="0" anchor="t"/>
          <a:lstStyle/>
          <a:p>
            <a:pPr marL="0" indent="0">
              <a:buNone/>
            </a:pPr>
            <a:r>
              <a:rPr lang="en-US" sz="1400" b="1" dirty="0">
                <a:solidFill>
                  <a:srgbClr val="E8A33D"/>
                </a:solidFill>
              </a:rPr>
              <a:t>Where it struggles</a:t>
            </a:r>
            <a:endParaRPr lang="en-US" sz="1400" dirty="0"/>
          </a:p>
        </p:txBody>
      </p:sp>
      <p:sp>
        <p:nvSpPr>
          <p:cNvPr id="5" name="Text 3"/>
          <p:cNvSpPr txBox="1"/>
          <p:nvPr/>
        </p:nvSpPr>
        <p:spPr>
          <a:xfrm>
            <a:off x="594360" y="1508760"/>
            <a:ext cx="2377440" cy="16916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FFFFF"/>
                </a:solidFill>
              </a:rPr>
              <a:t>Problems that look like normal daily patterns</a:t>
            </a:r>
            <a:endParaRPr lang="en-US" sz="1150" dirty="0"/>
          </a:p>
          <a:p>
            <a:pPr marL="342900" indent="-342900">
              <a:spcAft>
                <a:spcPts val="500"/>
              </a:spcAft>
              <a:buSzPct val="100000"/>
              <a:buChar char="•"/>
            </a:pPr>
            <a:r>
              <a:rPr lang="en-US" sz="1150" dirty="0">
                <a:solidFill>
                  <a:srgbClr val="FFFFFF"/>
                </a:solidFill>
              </a:rPr>
              <a:t>Very spiky data such as tweet counts</a:t>
            </a:r>
            <a:endParaRPr lang="en-US" sz="1150" dirty="0"/>
          </a:p>
          <a:p>
            <a:pPr marL="342900" indent="-342900">
              <a:spcAft>
                <a:spcPts val="500"/>
              </a:spcAft>
              <a:buSzPct val="100000"/>
              <a:buChar char="•"/>
            </a:pPr>
            <a:r>
              <a:rPr lang="en-US" sz="1150" dirty="0">
                <a:solidFill>
                  <a:srgbClr val="FFFFFF"/>
                </a:solidFill>
              </a:rPr>
              <a:t>Some expert labels mark periods with no visible change</a:t>
            </a:r>
            <a:endParaRPr lang="en-US" sz="1150" dirty="0"/>
          </a:p>
        </p:txBody>
      </p:sp>
      <p:sp>
        <p:nvSpPr>
          <p:cNvPr id="6" name="col1"/>
          <p:cNvSpPr/>
          <p:nvPr/>
        </p:nvSpPr>
        <p:spPr>
          <a:xfrm>
            <a:off x="3246120" y="1051560"/>
            <a:ext cx="2606040" cy="2240280"/>
          </a:xfrm>
          <a:prstGeom prst="roundRect">
            <a:avLst>
              <a:gd name="adj" fmla="val 3265"/>
            </a:avLst>
          </a:prstGeom>
          <a:solidFill>
            <a:srgbClr val="1C2F4B"/>
          </a:solidFill>
          <a:ln w="12700">
            <a:solidFill>
              <a:srgbClr val="1C2F4B"/>
            </a:solidFill>
            <a:prstDash val="solid"/>
          </a:ln>
        </p:spPr>
      </p:sp>
      <p:sp>
        <p:nvSpPr>
          <p:cNvPr id="7" name="Text 5"/>
          <p:cNvSpPr txBox="1"/>
          <p:nvPr/>
        </p:nvSpPr>
        <p:spPr>
          <a:xfrm>
            <a:off x="3383280" y="1161288"/>
            <a:ext cx="2331720" cy="292608"/>
          </a:xfrm>
          <a:prstGeom prst="rect">
            <a:avLst/>
          </a:prstGeom>
          <a:noFill/>
          <a:ln/>
        </p:spPr>
        <p:txBody>
          <a:bodyPr wrap="square" lIns="0" tIns="0" rIns="0" bIns="0" rtlCol="0" anchor="t"/>
          <a:lstStyle/>
          <a:p>
            <a:pPr marL="0" indent="0">
              <a:buNone/>
            </a:pPr>
            <a:r>
              <a:rPr lang="en-US" sz="1400" b="1" dirty="0">
                <a:solidFill>
                  <a:srgbClr val="E8A33D"/>
                </a:solidFill>
              </a:rPr>
              <a:t>What we would do better</a:t>
            </a:r>
            <a:endParaRPr lang="en-US" sz="1400" dirty="0"/>
          </a:p>
        </p:txBody>
      </p:sp>
      <p:sp>
        <p:nvSpPr>
          <p:cNvPr id="8" name="Text 6"/>
          <p:cNvSpPr txBox="1"/>
          <p:nvPr/>
        </p:nvSpPr>
        <p:spPr>
          <a:xfrm>
            <a:off x="3383280" y="1508760"/>
            <a:ext cx="2377440" cy="16916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FFFFF"/>
                </a:solidFill>
              </a:rPr>
              <a:t>Faster odd-window watcher (it is most of the run time)</a:t>
            </a:r>
            <a:endParaRPr lang="en-US" sz="1150" dirty="0"/>
          </a:p>
          <a:p>
            <a:pPr marL="342900" indent="-342900">
              <a:spcAft>
                <a:spcPts val="500"/>
              </a:spcAft>
              <a:buSzPct val="100000"/>
              <a:buChar char="•"/>
            </a:pPr>
            <a:r>
              <a:rPr lang="en-US" sz="1150" dirty="0">
                <a:solidFill>
                  <a:srgbClr val="FFFFFF"/>
                </a:solidFill>
              </a:rPr>
              <a:t>Test dropping the shift watcher (looked better in one check)</a:t>
            </a:r>
            <a:endParaRPr lang="en-US" sz="1150" dirty="0"/>
          </a:p>
          <a:p>
            <a:pPr marL="342900" indent="-342900">
              <a:spcAft>
                <a:spcPts val="500"/>
              </a:spcAft>
              <a:buSzPct val="100000"/>
              <a:buChar char="•"/>
            </a:pPr>
            <a:r>
              <a:rPr lang="en-US" sz="1150" dirty="0">
                <a:solidFill>
                  <a:srgbClr val="FFFFFF"/>
                </a:solidFill>
              </a:rPr>
              <a:t>Learn more seasonal patterns, not only day and week</a:t>
            </a:r>
            <a:endParaRPr lang="en-US" sz="1150" dirty="0"/>
          </a:p>
        </p:txBody>
      </p:sp>
      <p:sp>
        <p:nvSpPr>
          <p:cNvPr id="9" name="col2"/>
          <p:cNvSpPr/>
          <p:nvPr/>
        </p:nvSpPr>
        <p:spPr>
          <a:xfrm>
            <a:off x="6035040" y="1051560"/>
            <a:ext cx="2606040" cy="2240280"/>
          </a:xfrm>
          <a:prstGeom prst="roundRect">
            <a:avLst>
              <a:gd name="adj" fmla="val 3265"/>
            </a:avLst>
          </a:prstGeom>
          <a:solidFill>
            <a:srgbClr val="1C2F4B"/>
          </a:solidFill>
          <a:ln w="12700">
            <a:solidFill>
              <a:srgbClr val="1C2F4B"/>
            </a:solidFill>
            <a:prstDash val="solid"/>
          </a:ln>
        </p:spPr>
      </p:sp>
      <p:sp>
        <p:nvSpPr>
          <p:cNvPr id="10" name="Text 8"/>
          <p:cNvSpPr txBox="1"/>
          <p:nvPr/>
        </p:nvSpPr>
        <p:spPr>
          <a:xfrm>
            <a:off x="6172200" y="1161288"/>
            <a:ext cx="2331720" cy="292608"/>
          </a:xfrm>
          <a:prstGeom prst="rect">
            <a:avLst/>
          </a:prstGeom>
          <a:noFill/>
          <a:ln/>
        </p:spPr>
        <p:txBody>
          <a:bodyPr wrap="square" lIns="0" tIns="0" rIns="0" bIns="0" rtlCol="0" anchor="t"/>
          <a:lstStyle/>
          <a:p>
            <a:pPr marL="0" indent="0">
              <a:buNone/>
            </a:pPr>
            <a:r>
              <a:rPr lang="en-US" sz="1400" b="1" dirty="0">
                <a:solidFill>
                  <a:srgbClr val="E8A33D"/>
                </a:solidFill>
              </a:rPr>
              <a:t>Future scope</a:t>
            </a:r>
            <a:endParaRPr lang="en-US" sz="1400" dirty="0"/>
          </a:p>
        </p:txBody>
      </p:sp>
      <p:sp>
        <p:nvSpPr>
          <p:cNvPr id="11" name="Text 9"/>
          <p:cNvSpPr txBox="1"/>
          <p:nvPr/>
        </p:nvSpPr>
        <p:spPr>
          <a:xfrm>
            <a:off x="6172200" y="1508760"/>
            <a:ext cx="2377440" cy="16916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FFFFF"/>
                </a:solidFill>
              </a:rPr>
              <a:t>Many metrics together (a whole server, not one number)</a:t>
            </a:r>
            <a:endParaRPr lang="en-US" sz="1150" dirty="0"/>
          </a:p>
          <a:p>
            <a:pPr marL="342900" indent="-342900">
              <a:spcAft>
                <a:spcPts val="500"/>
              </a:spcAft>
              <a:buSzPct val="100000"/>
              <a:buChar char="•"/>
            </a:pPr>
            <a:r>
              <a:rPr lang="en-US" sz="1150" dirty="0">
                <a:solidFill>
                  <a:srgbClr val="FFFFFF"/>
                </a:solidFill>
              </a:rPr>
              <a:t>Learn from operator feedback ("this alert was useful")</a:t>
            </a:r>
            <a:endParaRPr lang="en-US" sz="1150" dirty="0"/>
          </a:p>
          <a:p>
            <a:pPr marL="342900" indent="-342900">
              <a:spcAft>
                <a:spcPts val="500"/>
              </a:spcAft>
              <a:buSzPct val="100000"/>
              <a:buChar char="•"/>
            </a:pPr>
            <a:r>
              <a:rPr lang="en-US" sz="1150" dirty="0">
                <a:solidFill>
                  <a:srgbClr val="FFFFFF"/>
                </a:solidFill>
              </a:rPr>
              <a:t>Retrain the neural option on a GPU with more data</a:t>
            </a:r>
            <a:endParaRPr lang="en-US" sz="1150" dirty="0"/>
          </a:p>
        </p:txBody>
      </p:sp>
      <p:sp>
        <p:nvSpPr>
          <p:cNvPr id="12" name="Text 10"/>
          <p:cNvSpPr txBox="1"/>
          <p:nvPr/>
        </p:nvSpPr>
        <p:spPr>
          <a:xfrm>
            <a:off x="457200" y="3474720"/>
            <a:ext cx="8229600" cy="274320"/>
          </a:xfrm>
          <a:prstGeom prst="rect">
            <a:avLst/>
          </a:prstGeom>
          <a:noFill/>
          <a:ln/>
        </p:spPr>
        <p:txBody>
          <a:bodyPr wrap="square" lIns="0" tIns="0" rIns="0" bIns="0" rtlCol="0" anchor="t"/>
          <a:lstStyle/>
          <a:p>
            <a:pPr marL="0" indent="0">
              <a:buNone/>
            </a:pPr>
            <a:r>
              <a:rPr lang="en-US" sz="1500" b="1" dirty="0">
                <a:solidFill>
                  <a:srgbClr val="E8A33D"/>
                </a:solidFill>
              </a:rPr>
              <a:t>Conclusion</a:t>
            </a:r>
            <a:endParaRPr lang="en-US" sz="1500" dirty="0"/>
          </a:p>
        </p:txBody>
      </p:sp>
      <p:sp>
        <p:nvSpPr>
          <p:cNvPr id="13" name="Text 11"/>
          <p:cNvSpPr txBox="1"/>
          <p:nvPr/>
        </p:nvSpPr>
        <p:spPr>
          <a:xfrm>
            <a:off x="457200" y="3794760"/>
            <a:ext cx="8229600" cy="777240"/>
          </a:xfrm>
          <a:prstGeom prst="rect">
            <a:avLst/>
          </a:prstGeom>
          <a:noFill/>
          <a:ln/>
        </p:spPr>
        <p:txBody>
          <a:bodyPr wrap="square" lIns="0" tIns="0" rIns="0" bIns="0" rtlCol="0" anchor="t"/>
          <a:lstStyle/>
          <a:p>
            <a:pPr marL="0" indent="0">
              <a:buNone/>
            </a:pPr>
            <a:r>
              <a:rPr lang="en-US" sz="1400" dirty="0">
                <a:solidFill>
                  <a:srgbClr val="FFFFFF"/>
                </a:solidFill>
              </a:rPr>
              <a:t>Four small, explainable watchers with smart alert logic catch about half of all real problems with few false alarms, at about 21 µs per point. Every change was kept only if it won on data it had not seen.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C9D3E0"/>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Sentinel Watch">
  <a:themeElements>
    <a:clrScheme name="Sentinel Watch">
      <a:dk1>
        <a:srgbClr val="16202E"/>
      </a:dk1>
      <a:lt1>
        <a:srgbClr val="FFFFFF"/>
      </a:lt1>
      <a:dk2>
        <a:srgbClr val="13233A"/>
      </a:dk2>
      <a:lt2>
        <a:srgbClr val="EEF2F7"/>
      </a:lt2>
      <a:accent1>
        <a:srgbClr val="E8A33D"/>
      </a:accent1>
      <a:accent2>
        <a:srgbClr val="D9534F"/>
      </a:accent2>
      <a:accent3>
        <a:srgbClr val="3F7D6E"/>
      </a:accent3>
      <a:accent4>
        <a:srgbClr val="5B6B82"/>
      </a:accent4>
      <a:accent5>
        <a:srgbClr val="9FB3CC"/>
      </a:accent5>
      <a:accent6>
        <a:srgbClr val="C9D3E0"/>
      </a:accent6>
      <a:hlink>
        <a:srgbClr val="2F6DB5"/>
      </a:hlink>
      <a:folHlink>
        <a:srgbClr val="6B5B95"/>
      </a:folHlink>
    </a:clrScheme>
    <a:fontScheme name="Sentinel Wa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1517</Words>
  <Application>Microsoft Office PowerPoint</Application>
  <PresentationFormat>On-screen Show (16:9)</PresentationFormat>
  <Paragraphs>171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Sentinel Watch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 Utkrishta 2026 Challenge 2</dc:title>
  <dc:subject>PptxGenJS Presentation</dc:subject>
  <dc:creator>Team Sentinel</dc:creator>
  <cp:lastModifiedBy>Kumarran Mahesh</cp:lastModifiedBy>
  <cp:revision>2</cp:revision>
  <dcterms:created xsi:type="dcterms:W3CDTF">2026-10-27T12:56:17Z</dcterms:created>
  <dcterms:modified xsi:type="dcterms:W3CDTF">2026-10-27T13:15:47Z</dcterms:modified>
</cp:coreProperties>
</file>