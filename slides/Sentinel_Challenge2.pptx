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F1</c:v>
                </c:pt>
              </c:strCache>
            </c:strRef>
          </c:tx>
          <c:dPt>
            <c:idx val="0"/>
            <c:spPr>
              <a:solidFill>
                <a:srgbClr val="B8B6AE"/>
              </a:solidFill>
            </c:spPr>
          </c:dPt>
          <c:dPt>
            <c:idx val="1"/>
            <c:spPr>
              <a:solidFill>
                <a:srgbClr val="B8B6AE"/>
              </a:solidFill>
            </c:spPr>
          </c:dPt>
          <c:dPt>
            <c:idx val="2"/>
            <c:spPr>
              <a:solidFill>
                <a:srgbClr val="B8B6AE"/>
              </a:solidFill>
            </c:spPr>
          </c:dPt>
          <c:dPt>
            <c:idx val="3"/>
            <c:spPr>
              <a:solidFill>
                <a:srgbClr val="B8B6AE"/>
              </a:solidFill>
            </c:spPr>
          </c:dPt>
          <c:dPt>
            <c:idx val="4"/>
            <c:spPr>
              <a:solidFill>
                <a:srgbClr val="B8B6AE"/>
              </a:solidFill>
            </c:spPr>
          </c:dPt>
          <c:dPt>
            <c:idx val="5"/>
            <c:spPr>
              <a:solidFill>
                <a:srgbClr val="B8B6AE"/>
              </a:solidFill>
            </c:spPr>
          </c:dPt>
          <c:dPt>
            <c:idx val="6"/>
            <c:spPr>
              <a:solidFill>
                <a:srgbClr val="B8B6AE"/>
              </a:solidFill>
            </c:spPr>
          </c:dPt>
          <c:dPt>
            <c:idx val="7"/>
            <c:spPr>
              <a:solidFill>
                <a:srgbClr val="B8B6AE"/>
              </a:solidFill>
            </c:spPr>
          </c:dPt>
          <c:dPt>
            <c:idx val="8"/>
            <c:spPr>
              <a:solidFill>
                <a:srgbClr val="2A78D6"/>
              </a:solidFill>
            </c:spPr>
          </c:dPt>
          <c:cat>
            <c:strRef>
              <c:f>Sheet1!$A$2:$A$10</c:f>
              <c:strCache>
                <c:ptCount val="9"/>
                <c:pt idx="0">
                  <c:v>D1 residual only</c:v>
                </c:pt>
                <c:pt idx="1">
                  <c:v>D2 change only</c:v>
                </c:pt>
                <c:pt idx="2">
                  <c:v>D3 shape only</c:v>
                </c:pt>
                <c:pt idx="3">
                  <c:v>D1 + D2, no shape</c:v>
                </c:pt>
                <c:pt idx="4">
                  <c:v>all three, no calibration</c:v>
                </c:pt>
                <c:pt idx="5">
                  <c:v>+ calibration, plain threshold</c:v>
                </c:pt>
                <c:pt idx="6">
                  <c:v>+ hysteresis</c:v>
                </c:pt>
                <c:pt idx="7">
                  <c:v>+ cooldown, max length</c:v>
                </c:pt>
                <c:pt idx="8">
                  <c:v>+ pause, re-baseline (full)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0.395</c:v>
                </c:pt>
                <c:pt idx="1">
                  <c:v>0.506</c:v>
                </c:pt>
                <c:pt idx="2">
                  <c:v>0.183</c:v>
                </c:pt>
                <c:pt idx="3">
                  <c:v>0.536</c:v>
                </c:pt>
                <c:pt idx="4">
                  <c:v>0.404</c:v>
                </c:pt>
                <c:pt idx="5">
                  <c:v>0.535</c:v>
                </c:pt>
                <c:pt idx="6">
                  <c:v>0.52</c:v>
                </c:pt>
                <c:pt idx="7">
                  <c:v>0.522</c:v>
                </c:pt>
                <c:pt idx="8">
                  <c:v>0.532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100">
                  <a:solidFill>
                    <a:srgbClr val="0B0B0B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52514E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6704980842911877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52514E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F1</c:v>
                </c:pt>
              </c:strCache>
            </c:strRef>
          </c:tx>
          <c:dPt>
            <c:idx val="0"/>
            <c:spPr>
              <a:solidFill>
                <a:srgbClr val="2A78D6"/>
              </a:solidFill>
            </c:spPr>
          </c:dPt>
          <c:dPt>
            <c:idx val="1"/>
            <c:spPr>
              <a:solidFill>
                <a:srgbClr val="2A78D6"/>
              </a:solidFill>
            </c:spPr>
          </c:dPt>
          <c:dPt>
            <c:idx val="2"/>
            <c:spPr>
              <a:solidFill>
                <a:srgbClr val="2A78D6"/>
              </a:solidFill>
            </c:spPr>
          </c:dPt>
          <c:dPt>
            <c:idx val="3"/>
            <c:spPr>
              <a:solidFill>
                <a:srgbClr val="2A78D6"/>
              </a:solidFill>
            </c:spPr>
          </c:dPt>
          <c:dPt>
            <c:idx val="4"/>
            <c:spPr>
              <a:solidFill>
                <a:srgbClr val="2A78D6"/>
              </a:solidFill>
            </c:spPr>
          </c:dPt>
          <c:dPt>
            <c:idx val="5"/>
            <c:spPr>
              <a:solidFill>
                <a:srgbClr val="2A78D6"/>
              </a:solidFill>
            </c:spPr>
          </c:dPt>
          <c:cat>
            <c:strRef>
              <c:f>Sheet1!$A$2:$A$7</c:f>
              <c:strCache>
                <c:ptCount val="6"/>
                <c:pt idx="0">
                  <c:v>Ad exchange (9/14)</c:v>
                </c:pt>
                <c:pt idx="1">
                  <c:v>Tweets (22/33)</c:v>
                </c:pt>
                <c:pt idx="2">
                  <c:v>Traffic (6/14)</c:v>
                </c:pt>
                <c:pt idx="3">
                  <c:v>Artificial (4/6)</c:v>
                </c:pt>
                <c:pt idx="4">
                  <c:v>AWS (17/30)</c:v>
                </c:pt>
                <c:pt idx="5">
                  <c:v>Known cause (8/19)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0.713</c:v>
                </c:pt>
                <c:pt idx="1">
                  <c:v>0.553</c:v>
                </c:pt>
                <c:pt idx="2">
                  <c:v>0.536</c:v>
                </c:pt>
                <c:pt idx="3">
                  <c:v>0.533</c:v>
                </c:pt>
                <c:pt idx="4">
                  <c:v>0.514</c:v>
                </c:pt>
                <c:pt idx="5">
                  <c:v>0.444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200">
                  <a:solidFill>
                    <a:srgbClr val="0B0B0B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52514E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1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52514E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Sentinel reads a series one point at a time. For every point it gives a score, a label and, for every alert, the reason. Three simple detectors, one calibrated scale, one state machine.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Precision per event is what an operator feels. The judging metric is event F1, so the design goal is: catch the incident once, early enough, and do not alert on its aftermath.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category behaves differently: daily cycles, spikes, level shifts, bursts. That is why one detector is not enough and why the threshold must be calibrated per series, online.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Left to right is one update call. Learning pauses while an alert is open so the anomaly does not become the new normal; after a lasting shift the detectors re-baseline.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three raw scores live on different scales. Calibration turns each into a p-value against its own recent normal history, so one threshold means the same on every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stage keeps the best of the previous one. The all-files F1 is optimistic; the LOCO-CV number is what a new category would see. The ablation shows what each part of the design adds.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never use point adjustment, which inflates scores. A long alert that covers a window counts once; an alert far from any window is a false alert, however short.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fairest comparison is the row where a baseline gets our calibration and event logic with its threshold chosen the same way: the detectors themselves still matter.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alert record also keeps every detector's surprise at onset, the score trace, and whether the detector re-baselined afterwards (events.jsonl).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honest about NAB: labels are imperfect, so some false positives are real events and some misses have no visible signal. The held-out number is the one to expect on new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chart" Target="../charts/chart1.xml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8FB3E8"/>
                </a:solidFill>
                <a:latin typeface="Calibri"/>
              </a:rPr>
              <a:t>UTKRISHTA 2026  ·  CHALLENGE 2  ·  STREAMING ANOMALY DETECTION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8229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0" b="1" i="0">
                <a:solidFill>
                  <a:srgbClr val="FFFFFF"/>
                </a:solidFill>
                <a:latin typeface="Calibri"/>
              </a:rPr>
              <a:t>Sentinel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920240"/>
            <a:ext cx="7863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D6DBE4"/>
                </a:solidFill>
                <a:latin typeface="Calibri"/>
              </a:rPr>
              <a:t>A calibrated, explainable streaming ensemble that raises one alert per incident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97180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C9D1DE"/>
                </a:solidFill>
                <a:latin typeface="Calibri"/>
              </a:rPr>
              <a:t>Team TBD  ·  Kommana Srinivasa Rao  ·  Panuganti Bhanu  ·  Vishnu Datta  ·  Kumarran Mahesh</a:t>
            </a:r>
          </a:p>
        </p:txBody>
      </p:sp>
      <p:pic>
        <p:nvPicPr>
          <p:cNvPr id="6" name="Picture 5" descr="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749039"/>
            <a:ext cx="11064240" cy="229131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108192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8A94A6"/>
                </a:solidFill>
                <a:latin typeface="Calibri"/>
              </a:rPr>
              <a:t>machine_temperature_system_failure (NAB) · orange = labelled anomaly window · red = Sentinel alert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474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B0B0B"/>
                </a:solidFill>
                <a:latin typeface="Calibri"/>
              </a:rPr>
              <a:t>Monitoring needs alerts people can trust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52514E"/>
                </a:solidFill>
                <a:latin typeface="Calibri"/>
              </a:rPr>
              <a:t>Servers, machines, traffic: a stream arrives point by point and someone has to act on each alert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691640"/>
            <a:ext cx="566928" cy="566928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1645920"/>
            <a:ext cx="3931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B0B0B"/>
                </a:solidFill>
                <a:latin typeface="Calibri"/>
              </a:rPr>
              <a:t>Decide now, from the past only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2075688"/>
            <a:ext cx="3931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52514E"/>
                </a:solidFill>
                <a:latin typeface="Calibri"/>
              </a:rPr>
              <a:t>The output at time t may use data up to t. No look-ahead, no second pass.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3108960"/>
            <a:ext cx="566928" cy="566928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3063240"/>
            <a:ext cx="3931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B0B0B"/>
                </a:solidFill>
                <a:latin typeface="Calibri"/>
              </a:rPr>
              <a:t>One alert per incident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3493008"/>
            <a:ext cx="3931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52514E"/>
                </a:solidFill>
                <a:latin typeface="Calibri"/>
              </a:rPr>
              <a:t>Repeated and false alerts cause alert fatigue; real incidents then get ignored.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526280"/>
            <a:ext cx="566928" cy="566928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4480560"/>
            <a:ext cx="3931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B0B0B"/>
                </a:solidFill>
                <a:latin typeface="Calibri"/>
              </a:rPr>
              <a:t>Say why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4910328"/>
            <a:ext cx="3931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52514E"/>
                </a:solidFill>
                <a:latin typeface="Calibri"/>
              </a:rPr>
              <a:t>Each alert carries evidence a person can check: observed vs expected, shift, odd shape.</a:t>
            </a:r>
          </a:p>
        </p:txBody>
      </p:sp>
      <p:pic>
        <p:nvPicPr>
          <p:cNvPr id="13" name="Picture 12" descr="alert_st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600200"/>
            <a:ext cx="6172200" cy="258260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486400" y="4251960"/>
            <a:ext cx="6172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2514E"/>
                </a:solidFill>
                <a:latin typeface="Calibri"/>
              </a:rPr>
              <a:t>Same series, same labelled window. A plain threshold fires again and again; Sentinel alerts inside the window and stays quiet afterwards.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0" y="4983480"/>
            <a:ext cx="2971800" cy="1234440"/>
          </a:xfrm>
          <a:prstGeom prst="roundRect">
            <a:avLst>
              <a:gd name="adj" fmla="val 8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0" y="5093208"/>
            <a:ext cx="26060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52514E"/>
                </a:solidFill>
                <a:latin typeface="Calibri"/>
              </a:rPr>
              <a:t>34 alerts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0" y="5733288"/>
            <a:ext cx="2606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2514E"/>
                </a:solidFill>
                <a:latin typeface="Calibri"/>
              </a:rPr>
              <a:t>plain rolling z-score, 28 outside the window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4983480"/>
            <a:ext cx="2971800" cy="1234440"/>
          </a:xfrm>
          <a:prstGeom prst="roundRect">
            <a:avLst>
              <a:gd name="adj" fmla="val 8000"/>
            </a:avLst>
          </a:prstGeom>
          <a:solidFill>
            <a:srgbClr val="EE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0" y="5093208"/>
            <a:ext cx="26060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2A78D6"/>
                </a:solidFill>
                <a:latin typeface="Calibri"/>
              </a:rPr>
              <a:t>2 alerts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5733288"/>
            <a:ext cx="2606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2514E"/>
                </a:solidFill>
                <a:latin typeface="Calibri"/>
              </a:rPr>
              <a:t>Sentinel, 2 inside the window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Sentinel  ·  Utkrishta 2026  ·  Challenge 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25912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474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B0B0B"/>
                </a:solidFill>
                <a:latin typeface="Calibri"/>
              </a:rPr>
              <a:t>NAB: 58 series, 116 labelled anomaly windows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52514E"/>
                </a:solidFill>
                <a:latin typeface="Calibri"/>
              </a:rPr>
              <a:t>7 categories of real and synthetic metrics; windows ≈ 10% of each file, centred on the labelled point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00200"/>
          <a:ext cx="5486400" cy="2798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640080"/>
                <a:gridCol w="960120"/>
                <a:gridCol w="868680"/>
                <a:gridCol w="91440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 marL="73152" marR="73152" marT="27432" marB="27432" anchor="ctr"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Files</a:t>
                      </a:r>
                    </a:p>
                  </a:txBody>
                  <a:tcPr marL="73152" marR="73152" marT="27432" marB="27432" anchor="ctr"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Points</a:t>
                      </a:r>
                    </a:p>
                  </a:txBody>
                  <a:tcPr marL="73152" marR="73152" marT="27432" marB="27432" anchor="ctr"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Windows</a:t>
                      </a:r>
                    </a:p>
                  </a:txBody>
                  <a:tcPr marL="73152" marR="73152" marT="27432" marB="27432" anchor="ctr"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Seasonal</a:t>
                      </a:r>
                    </a:p>
                  </a:txBody>
                  <a:tcPr marL="73152" marR="73152" marT="27432" marB="27432" anchor="ctr">
                    <a:solidFill>
                      <a:srgbClr val="0F1B2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Artificial, no anomaly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20,160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Artificial, with anomaly</a:t>
                      </a:r>
                    </a:p>
                  </a:txBody>
                  <a:tcPr marL="73152" marR="73152" marT="27432" marB="27432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73152" marR="73152" marT="27432" marB="27432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24,192</a:t>
                      </a:r>
                    </a:p>
                  </a:txBody>
                  <a:tcPr marL="73152" marR="73152" marT="27432" marB="27432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73152" marR="73152" marT="27432" marB="27432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7F7F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AWS CloudWatch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67,740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Ad exchange</a:t>
                      </a:r>
                    </a:p>
                  </a:txBody>
                  <a:tcPr marL="73152" marR="73152" marT="27432" marB="27432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73152" marR="73152" marT="27432" marB="27432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9,610</a:t>
                      </a:r>
                    </a:p>
                  </a:txBody>
                  <a:tcPr marL="73152" marR="73152" marT="27432" marB="27432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marL="73152" marR="73152" marT="27432" marB="27432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7F7F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Known cause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69,561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Traffic</a:t>
                      </a:r>
                    </a:p>
                  </a:txBody>
                  <a:tcPr marL="73152" marR="73152" marT="27432" marB="27432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73152" marR="73152" marT="27432" marB="27432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15,664</a:t>
                      </a:r>
                    </a:p>
                  </a:txBody>
                  <a:tcPr marL="73152" marR="73152" marT="27432" marB="27432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marL="73152" marR="73152" marT="27432" marB="27432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7F7F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Tweets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158,631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B0B0B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73152" marR="73152" marT="27432" marB="27432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0B0B0B"/>
                          </a:solidFill>
                          <a:latin typeface="Calibri"/>
                        </a:rPr>
                        <a:t>58</a:t>
                      </a:r>
                    </a:p>
                  </a:txBody>
                  <a:tcPr marL="73152" marR="73152" marT="27432" marB="27432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0B0B0B"/>
                          </a:solidFill>
                          <a:latin typeface="Calibri"/>
                        </a:rPr>
                        <a:t>365,558</a:t>
                      </a:r>
                    </a:p>
                  </a:txBody>
                  <a:tcPr marL="73152" marR="73152" marT="27432" marB="27432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0B0B0B"/>
                          </a:solidFill>
                          <a:latin typeface="Calibri"/>
                        </a:rPr>
                        <a:t>116</a:t>
                      </a:r>
                    </a:p>
                  </a:txBody>
                  <a:tcPr marL="73152" marR="73152" marT="27432" marB="27432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0B0B0B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73152" marR="73152" marT="27432" marB="27432" anchor="ctr">
                    <a:solidFill>
                      <a:srgbClr val="EEF4FC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48640" y="4617720"/>
            <a:ext cx="2651760" cy="749808"/>
          </a:xfrm>
          <a:prstGeom prst="roundRect">
            <a:avLst>
              <a:gd name="adj" fmla="val 8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/>
            <a:r>
              <a:rPr sz="1300" b="1" i="0">
                <a:solidFill>
                  <a:srgbClr val="0B0B0B"/>
                </a:solidFill>
                <a:latin typeface="Calibri"/>
              </a:rPr>
              <a:t>Rows kept as given</a:t>
            </a:r>
          </a:p>
          <a:p>
            <a:pPr algn="l"/>
            <a:r>
              <a:rPr sz="1100" b="0" i="0">
                <a:solidFill>
                  <a:srgbClr val="52514E"/>
                </a:solidFill>
                <a:latin typeface="Calibri"/>
              </a:rPr>
              <a:t>49 duplicate timestamps; a stream cannot drop rows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37560" y="4617720"/>
            <a:ext cx="2651760" cy="749808"/>
          </a:xfrm>
          <a:prstGeom prst="roundRect">
            <a:avLst>
              <a:gd name="adj" fmla="val 8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/>
            <a:r>
              <a:rPr sz="1300" b="1" i="0">
                <a:solidFill>
                  <a:srgbClr val="0B0B0B"/>
                </a:solidFill>
                <a:latin typeface="Calibri"/>
              </a:rPr>
              <a:t>Probation = min(15% of N, 750)</a:t>
            </a:r>
          </a:p>
          <a:p>
            <a:pPr algn="l"/>
            <a:r>
              <a:rPr sz="1100" b="0" i="0">
                <a:solidFill>
                  <a:srgbClr val="52514E"/>
                </a:solidFill>
                <a:latin typeface="Calibri"/>
              </a:rPr>
              <a:t>learn only, no alerts (NAB rule)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5486400"/>
            <a:ext cx="2651760" cy="749808"/>
          </a:xfrm>
          <a:prstGeom prst="roundRect">
            <a:avLst>
              <a:gd name="adj" fmla="val 8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/>
            <a:r>
              <a:rPr sz="1300" b="1" i="0">
                <a:solidFill>
                  <a:srgbClr val="0B0B0B"/>
                </a:solidFill>
                <a:latin typeface="Calibri"/>
              </a:rPr>
              <a:t>Season: day / week / none</a:t>
            </a:r>
          </a:p>
          <a:p>
            <a:pPr algn="l"/>
            <a:r>
              <a:rPr sz="1100" b="0" i="0">
                <a:solidFill>
                  <a:srgbClr val="52514E"/>
                </a:solidFill>
                <a:latin typeface="Calibri"/>
              </a:rPr>
              <a:t>ACF at the period lag after a linear detrend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37560" y="5486400"/>
            <a:ext cx="2651760" cy="749808"/>
          </a:xfrm>
          <a:prstGeom prst="roundRect">
            <a:avLst>
              <a:gd name="adj" fmla="val 8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/>
            <a:r>
              <a:rPr sz="1300" b="1" i="0">
                <a:solidFill>
                  <a:srgbClr val="0B0B0B"/>
                </a:solidFill>
                <a:latin typeface="Calibri"/>
              </a:rPr>
              <a:t>No global scaling</a:t>
            </a:r>
          </a:p>
          <a:p>
            <a:pPr algn="l"/>
            <a:r>
              <a:rPr sz="1100" b="0" i="0">
                <a:solidFill>
                  <a:srgbClr val="52514E"/>
                </a:solidFill>
                <a:latin typeface="Calibri"/>
              </a:rPr>
              <a:t>every statistic is online and robust</a:t>
            </a:r>
          </a:p>
        </p:txBody>
      </p:sp>
      <p:pic>
        <p:nvPicPr>
          <p:cNvPr id="9" name="Picture 8" descr="category_sam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554480"/>
            <a:ext cx="4850837" cy="4800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Sentinel  ·  Utkrishta 2026  ·  Challenge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5912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474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B0B0B"/>
                </a:solidFill>
                <a:latin typeface="Calibri"/>
              </a:rPr>
              <a:t>One pass per point: detect, calibrate, fuse, decide, explain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52514E"/>
                </a:solidFill>
                <a:latin typeface="Calibri"/>
              </a:rPr>
              <a:t>StreamingSentinel.update(timestamp, value) → score, label, evidence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057400"/>
            <a:ext cx="1572768" cy="2103120"/>
          </a:xfrm>
          <a:prstGeom prst="roundRect">
            <a:avLst>
              <a:gd name="adj" fmla="val 8000"/>
            </a:avLst>
          </a:prstGeom>
          <a:solidFill>
            <a:srgbClr val="EE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/>
            <a:r>
              <a:rPr sz="1400" b="1" i="0">
                <a:solidFill>
                  <a:srgbClr val="0B0B0B"/>
                </a:solidFill>
                <a:latin typeface="Calibri"/>
              </a:rPr>
              <a:t>Stream</a:t>
            </a:r>
          </a:p>
          <a:p>
            <a:pPr algn="l"/>
            <a:r>
              <a:rPr sz="1100" b="0" i="0">
                <a:solidFill>
                  <a:srgbClr val="52514E"/>
                </a:solidFill>
                <a:latin typeface="Calibri"/>
              </a:rPr>
              <a:t>timestamp, value
one point at a time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50592" y="2057400"/>
            <a:ext cx="1572768" cy="2103120"/>
          </a:xfrm>
          <a:prstGeom prst="roundRect">
            <a:avLst>
              <a:gd name="adj" fmla="val 8000"/>
            </a:avLst>
          </a:prstGeom>
          <a:solidFill>
            <a:srgbClr val="EE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/>
            <a:r>
              <a:rPr sz="1400" b="1" i="0">
                <a:solidFill>
                  <a:srgbClr val="0B0B0B"/>
                </a:solidFill>
                <a:latin typeface="Calibri"/>
              </a:rPr>
              <a:t>Probation</a:t>
            </a:r>
          </a:p>
          <a:p>
            <a:pPr algn="l"/>
            <a:r>
              <a:rPr sz="1100" b="0" i="0">
                <a:solidFill>
                  <a:srgbClr val="52514E"/>
                </a:solidFill>
                <a:latin typeface="Calibri"/>
              </a:rPr>
              <a:t>season mode, scale floor;
replay the first P points once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52544" y="2057400"/>
            <a:ext cx="1572768" cy="640080"/>
          </a:xfrm>
          <a:prstGeom prst="roundRect">
            <a:avLst>
              <a:gd name="adj" fmla="val 8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D1 Residual</a:t>
            </a:r>
          </a:p>
          <a:p>
            <a:pPr algn="l"/>
            <a:r>
              <a:rPr sz="1000" b="0" i="0">
                <a:solidFill>
                  <a:srgbClr val="DCE8F8"/>
                </a:solidFill>
                <a:latin typeface="Calibri"/>
              </a:rPr>
              <a:t>spikes · dips · seasonal breaks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2544" y="2788920"/>
            <a:ext cx="1572768" cy="640080"/>
          </a:xfrm>
          <a:prstGeom prst="roundRect">
            <a:avLst>
              <a:gd name="adj" fmla="val 8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D2 Change</a:t>
            </a:r>
          </a:p>
          <a:p>
            <a:pPr algn="l"/>
            <a:r>
              <a:rPr sz="1000" b="0" i="0">
                <a:solidFill>
                  <a:srgbClr val="DCE8F8"/>
                </a:solidFill>
                <a:latin typeface="Calibri"/>
              </a:rPr>
              <a:t>level / variance shifts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2544" y="3520440"/>
            <a:ext cx="1572768" cy="640080"/>
          </a:xfrm>
          <a:prstGeom prst="roundRect">
            <a:avLst>
              <a:gd name="adj" fmla="val 8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D3 Shape</a:t>
            </a:r>
          </a:p>
          <a:p>
            <a:pPr algn="l"/>
            <a:r>
              <a:rPr sz="1000" b="0" i="0">
                <a:solidFill>
                  <a:srgbClr val="DCE8F8"/>
                </a:solidFill>
                <a:latin typeface="Calibri"/>
              </a:rPr>
              <a:t>odd patterns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4496" y="2057400"/>
            <a:ext cx="1572768" cy="2103120"/>
          </a:xfrm>
          <a:prstGeom prst="roundRect">
            <a:avLst>
              <a:gd name="adj" fmla="val 8000"/>
            </a:avLst>
          </a:prstGeom>
          <a:solidFill>
            <a:srgbClr val="EE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/>
            <a:r>
              <a:rPr sz="1400" b="1" i="0">
                <a:solidFill>
                  <a:srgbClr val="0B0B0B"/>
                </a:solidFill>
                <a:latin typeface="Calibri"/>
              </a:rPr>
              <a:t>Calibration</a:t>
            </a:r>
          </a:p>
          <a:p>
            <a:pPr algn="l"/>
            <a:r>
              <a:rPr sz="1100" b="0" i="0">
                <a:solidFill>
                  <a:srgbClr val="52514E"/>
                </a:solidFill>
                <a:latin typeface="Calibri"/>
              </a:rPr>
              <a:t>per detector: tail p-value vs its recent NORMAL scores
U = −log10 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56448" y="2057400"/>
            <a:ext cx="1572768" cy="2103120"/>
          </a:xfrm>
          <a:prstGeom prst="roundRect">
            <a:avLst>
              <a:gd name="adj" fmla="val 8000"/>
            </a:avLst>
          </a:prstGeom>
          <a:solidFill>
            <a:srgbClr val="EE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/>
            <a:r>
              <a:rPr sz="1400" b="1" i="0">
                <a:solidFill>
                  <a:srgbClr val="0B0B0B"/>
                </a:solidFill>
                <a:latin typeface="Calibri"/>
              </a:rPr>
              <a:t>Fusion</a:t>
            </a:r>
          </a:p>
          <a:p>
            <a:pPr algn="l"/>
            <a:r>
              <a:rPr sz="1100" b="0" i="0">
                <a:solidFill>
                  <a:srgbClr val="52514E"/>
                </a:solidFill>
                <a:latin typeface="Calibri"/>
              </a:rPr>
              <a:t>U = max U_k − log10 3
Ū = smoothed U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58400" y="2057400"/>
            <a:ext cx="1572768" cy="2103120"/>
          </a:xfrm>
          <a:prstGeom prst="roundRect">
            <a:avLst>
              <a:gd name="adj" fmla="val 8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Event state machine</a:t>
            </a:r>
          </a:p>
          <a:p>
            <a:pPr algn="l"/>
            <a:r>
              <a:rPr sz="1100" b="0" i="0">
                <a:solidFill>
                  <a:srgbClr val="C9D1DE"/>
                </a:solidFill>
                <a:latin typeface="Calibri"/>
              </a:rPr>
              <a:t>hysteresis · cooldown · max length · pause · re-baseline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157984" y="3108960"/>
            <a:ext cx="256032" cy="0"/>
          </a:xfrm>
          <a:prstGeom prst="line">
            <a:avLst/>
          </a:prstGeom>
          <a:ln w="19050">
            <a:solidFill>
              <a:srgbClr val="8987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059936" y="3108960"/>
            <a:ext cx="256032" cy="0"/>
          </a:xfrm>
          <a:prstGeom prst="line">
            <a:avLst/>
          </a:prstGeom>
          <a:ln w="19050">
            <a:solidFill>
              <a:srgbClr val="8987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5961888" y="3108960"/>
            <a:ext cx="256032" cy="0"/>
          </a:xfrm>
          <a:prstGeom prst="line">
            <a:avLst/>
          </a:prstGeom>
          <a:ln w="19050">
            <a:solidFill>
              <a:srgbClr val="8987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7863840" y="3108960"/>
            <a:ext cx="256032" cy="0"/>
          </a:xfrm>
          <a:prstGeom prst="line">
            <a:avLst/>
          </a:prstGeom>
          <a:ln w="19050">
            <a:solidFill>
              <a:srgbClr val="8987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765792" y="3108960"/>
            <a:ext cx="256032" cy="0"/>
          </a:xfrm>
          <a:prstGeom prst="line">
            <a:avLst/>
          </a:prstGeom>
          <a:ln w="19050">
            <a:solidFill>
              <a:srgbClr val="8987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10058400" y="4572000"/>
            <a:ext cx="1572768" cy="1097280"/>
          </a:xfrm>
          <a:prstGeom prst="roundRect">
            <a:avLst>
              <a:gd name="adj" fmla="val 8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/>
            <a:r>
              <a:rPr sz="1300" b="1" i="0">
                <a:solidFill>
                  <a:srgbClr val="0B0B0B"/>
                </a:solidFill>
                <a:latin typeface="Calibri"/>
              </a:rPr>
              <a:t>Outputs</a:t>
            </a:r>
          </a:p>
          <a:p>
            <a:pPr algn="l"/>
            <a:r>
              <a:rPr sz="1000" b="0" i="0">
                <a:solidFill>
                  <a:srgbClr val="52514E"/>
                </a:solidFill>
                <a:latin typeface="Calibri"/>
              </a:rPr>
              <a:t>score ∈ [0,1] · label · top detector · event id · evidence JSON + sentence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0844784" y="4187952"/>
            <a:ext cx="0" cy="356616"/>
          </a:xfrm>
          <a:prstGeom prst="line">
            <a:avLst/>
          </a:prstGeom>
          <a:ln w="19050">
            <a:solidFill>
              <a:srgbClr val="8987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48640" y="507492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2A78D6"/>
                </a:solidFill>
                <a:latin typeface="Calibri"/>
              </a:rPr>
              <a:t>O(1)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532120"/>
            <a:ext cx="21945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2514E"/>
                </a:solidFill>
                <a:latin typeface="Calibri"/>
              </a:rPr>
              <a:t>D1 rolling median (sorted list) and D2 CUSUM per 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507492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2A78D6"/>
                </a:solidFill>
                <a:latin typeface="Calibri"/>
              </a:rPr>
              <a:t>O(H·m)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5532120"/>
            <a:ext cx="21945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2514E"/>
                </a:solidFill>
                <a:latin typeface="Calibri"/>
              </a:rPr>
              <a:t>D3: one matrix-vector product over the last H windows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0" y="507492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2A78D6"/>
                </a:solidFill>
                <a:latin typeface="Calibri"/>
              </a:rPr>
              <a:t>44 µs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3520" y="5532120"/>
            <a:ext cx="21945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2514E"/>
                </a:solidFill>
                <a:latin typeface="Calibri"/>
              </a:rPr>
              <a:t>mean time per point on a laptop CPU (p99 243 µs)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507492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2A78D6"/>
                </a:solidFill>
                <a:latin typeface="Calibri"/>
              </a:rP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0" y="5532120"/>
            <a:ext cx="21945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2514E"/>
                </a:solidFill>
                <a:latin typeface="Calibri"/>
              </a:rPr>
              <a:t>random numbers, labels or future points used at run time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Sentinel  ·  Utkrishta 2026  ·  Challenge 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25912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474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B0B0B"/>
                </a:solidFill>
                <a:latin typeface="Calibri"/>
              </a:rPr>
              <a:t>Three cheap detectors, one calibrated scale, one state machine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188720"/>
            <a:ext cx="3566160" cy="1783080"/>
          </a:xfrm>
          <a:prstGeom prst="roundRect">
            <a:avLst>
              <a:gd name="adj" fmla="val 8000"/>
            </a:avLst>
          </a:prstGeom>
          <a:solidFill>
            <a:srgbClr val="EE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3200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2A78D6"/>
                </a:solidFill>
                <a:latin typeface="Calibri"/>
              </a:rPr>
              <a:t>D1  Residual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3200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2514E"/>
                </a:solidFill>
                <a:latin typeface="Calibri"/>
              </a:rPr>
              <a:t>Spikes, dips, broken daily/weekly pattern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48840"/>
            <a:ext cx="3291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0B0B0B"/>
                </a:solidFill>
                <a:latin typeface="Calibri"/>
              </a:rPr>
              <a:t>r = x − (median of last W deseasonalized x + hour offset)
S1 = |r| / σ_EW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79" y="1188720"/>
            <a:ext cx="3566160" cy="1783080"/>
          </a:xfrm>
          <a:prstGeom prst="roundRect">
            <a:avLst>
              <a:gd name="adj" fmla="val 8000"/>
            </a:avLst>
          </a:prstGeom>
          <a:solidFill>
            <a:srgbClr val="EE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59" y="1280160"/>
            <a:ext cx="3200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2A78D6"/>
                </a:solidFill>
                <a:latin typeface="Calibri"/>
              </a:rPr>
              <a:t>D2  Change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59" y="1691640"/>
            <a:ext cx="3200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2514E"/>
                </a:solidFill>
                <a:latin typeface="Calibri"/>
              </a:rPr>
              <a:t>Level shifts, slow drift, variance change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59" y="2148840"/>
            <a:ext cx="3291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0B0B0B"/>
                </a:solidFill>
                <a:latin typeface="Calibri"/>
              </a:rPr>
              <a:t>z = (x − slow mean) / slow scale
C± = max(0, C± ± z − k),  S2 = max(C+, C−, V+) / 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19" y="1188720"/>
            <a:ext cx="3566160" cy="1783080"/>
          </a:xfrm>
          <a:prstGeom prst="roundRect">
            <a:avLst>
              <a:gd name="adj" fmla="val 8000"/>
            </a:avLst>
          </a:prstGeom>
          <a:solidFill>
            <a:srgbClr val="EE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599" y="1280160"/>
            <a:ext cx="3200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2A78D6"/>
                </a:solidFill>
                <a:latin typeface="Calibri"/>
              </a:rPr>
              <a:t>D3  Shape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599" y="1691640"/>
            <a:ext cx="3200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2514E"/>
                </a:solidFill>
                <a:latin typeface="Calibri"/>
              </a:rPr>
              <a:t>Unusual patterns at normal amplitude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9" y="2148840"/>
            <a:ext cx="3291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0B0B0B"/>
                </a:solidFill>
                <a:latin typeface="Calibri"/>
              </a:rPr>
              <a:t>distance of newest z-normalized 16-point window
to its nearest of the last 2000 windows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200400"/>
            <a:ext cx="4754880" cy="2606040"/>
          </a:xfrm>
          <a:prstGeom prst="roundRect">
            <a:avLst>
              <a:gd name="adj" fmla="val 8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310128"/>
            <a:ext cx="4389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B0B0B"/>
                </a:solidFill>
                <a:latin typeface="Calibri"/>
              </a:rPr>
              <a:t>Calibration → surprise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794760"/>
            <a:ext cx="448056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1">
                <a:solidFill>
                  <a:srgbClr val="0B0B0B"/>
                </a:solidFill>
                <a:latin typeface="Calibri"/>
              </a:rPr>
              <a:t>p = (1 + #{buffer ≥ s}) / (1 + n)</a:t>
            </a:r>
          </a:p>
          <a:p>
            <a:pPr algn="l">
              <a:spcAft>
                <a:spcPts val="600"/>
              </a:spcAft>
            </a:pPr>
            <a:r>
              <a:rPr sz="1300" b="0" i="1">
                <a:solidFill>
                  <a:srgbClr val="0B0B0B"/>
                </a:solidFill>
                <a:latin typeface="Calibri"/>
              </a:rPr>
              <a:t>far tail: p = 0.05 · exp(−(s − q95) / mean excess)</a:t>
            </a:r>
          </a:p>
          <a:p>
            <a:pPr algn="l">
              <a:spcAft>
                <a:spcPts val="600"/>
              </a:spcAft>
            </a:pPr>
            <a:r>
              <a:rPr sz="1300" b="0" i="1">
                <a:solidFill>
                  <a:srgbClr val="0B0B0B"/>
                </a:solidFill>
                <a:latin typeface="Calibri"/>
              </a:rPr>
              <a:t>U = −log10 p   (U = 4 ≈ 1 in 10,000)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2514E"/>
                </a:solidFill>
                <a:latin typeface="Calibri"/>
              </a:rPr>
              <a:t>Buffer = recent scores in NORMAL state only, so an anomaly never teaches itself. The tail fit lets U pass the 1/(n+1) floor of an empirical p-value.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0" y="3931920"/>
            <a:ext cx="1600200" cy="640080"/>
          </a:xfrm>
          <a:prstGeom prst="roundRect">
            <a:avLst>
              <a:gd name="adj" fmla="val 30000"/>
            </a:avLst>
          </a:prstGeom>
          <a:solidFill>
            <a:srgbClr val="EE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/>
            <a:r>
              <a:rPr sz="1300" b="1" i="0">
                <a:solidFill>
                  <a:srgbClr val="0B0B0B"/>
                </a:solidFill>
                <a:latin typeface="Calibri"/>
              </a:rPr>
              <a:t>NORMAL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818120" y="3931920"/>
            <a:ext cx="1600200" cy="640080"/>
          </a:xfrm>
          <a:prstGeom prst="roundRect">
            <a:avLst>
              <a:gd name="adj" fmla="val 30000"/>
            </a:avLst>
          </a:prstGeom>
          <a:solidFill>
            <a:srgbClr val="E349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ANOMALOUS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966960" y="3931920"/>
            <a:ext cx="1600200" cy="640080"/>
          </a:xfrm>
          <a:prstGeom prst="roundRect">
            <a:avLst>
              <a:gd name="adj" fmla="val 30000"/>
            </a:avLst>
          </a:prstGeom>
          <a:solidFill>
            <a:srgbClr val="D9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/>
            <a:r>
              <a:rPr sz="1300" b="1" i="0">
                <a:solidFill>
                  <a:srgbClr val="0B0B0B"/>
                </a:solidFill>
                <a:latin typeface="Calibri"/>
              </a:rPr>
              <a:t>COOLDOWN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306056" y="4251959"/>
            <a:ext cx="475488" cy="0"/>
          </a:xfrm>
          <a:prstGeom prst="line">
            <a:avLst/>
          </a:prstGeom>
          <a:ln w="19050">
            <a:solidFill>
              <a:srgbClr val="5251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454896" y="4251959"/>
            <a:ext cx="475488" cy="0"/>
          </a:xfrm>
          <a:prstGeom prst="line">
            <a:avLst/>
          </a:prstGeom>
          <a:ln w="19050">
            <a:solidFill>
              <a:srgbClr val="5251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086600" y="3364991"/>
            <a:ext cx="1280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52514E"/>
                </a:solidFill>
                <a:latin typeface="Calibri"/>
              </a:rPr>
              <a:t>Ū ≥ θ_enter
= 3.5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9720" y="3364991"/>
            <a:ext cx="1371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52514E"/>
                </a:solidFill>
                <a:latin typeface="Calibri"/>
              </a:rPr>
              <a:t>Ū &lt; 3.0 or
length ≥ 800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0767060" y="4590288"/>
            <a:ext cx="0" cy="256032"/>
          </a:xfrm>
          <a:prstGeom prst="line">
            <a:avLst/>
          </a:prstGeom>
          <a:ln w="15875">
            <a:solidFill>
              <a:srgbClr val="5251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6469380" y="4846320"/>
            <a:ext cx="4297680" cy="0"/>
          </a:xfrm>
          <a:prstGeom prst="line">
            <a:avLst/>
          </a:prstGeom>
          <a:ln w="15875">
            <a:solidFill>
              <a:srgbClr val="5251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6469380" y="4608576"/>
            <a:ext cx="0" cy="237744"/>
          </a:xfrm>
          <a:prstGeom prst="line">
            <a:avLst/>
          </a:prstGeom>
          <a:ln w="15875">
            <a:solidFill>
              <a:srgbClr val="5251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949440" y="48920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52514E"/>
                </a:solidFill>
                <a:latin typeface="Calibri"/>
              </a:rPr>
              <a:t>after 100 quiet points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0" y="5349240"/>
            <a:ext cx="5943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52514E"/>
                </a:solidFill>
                <a:latin typeface="Calibri"/>
              </a:rPr>
              <a:t>Fusion: </a:t>
            </a:r>
            <a:r>
              <a:rPr sz="1200" b="0" i="0">
                <a:solidFill>
                  <a:srgbClr val="52514E"/>
                </a:solidFill>
                <a:latin typeface="Calibri"/>
              </a:rPr>
              <a:t>U = max_k U_k − log10 3 (Bonferroni); Ū = mean over 5 points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52514E"/>
                </a:solidFill>
                <a:latin typeface="Calibri"/>
              </a:rPr>
              <a:t>While ANOMALOUS: </a:t>
            </a:r>
            <a:r>
              <a:rPr sz="1200" b="0" i="0">
                <a:solidFill>
                  <a:srgbClr val="52514E"/>
                </a:solidFill>
                <a:latin typeface="Calibri"/>
              </a:rPr>
              <a:t>learning paused. At the end: re-baseline if the level moved &gt; 3σ or D2 fired.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Sentinel  ·  Utkrishta 2026  ·  Challenge 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25912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474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B0B0B"/>
                </a:solidFill>
                <a:latin typeface="Calibri"/>
              </a:rPr>
              <a:t>Staged search, logged run by run, judged on held-out categories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52514E"/>
                </a:solidFill>
                <a:latin typeface="Calibri"/>
              </a:rPr>
              <a:t>218 configs evaluated exactly on all 58 files; every run in experiments/runs.csv</a:t>
            </a:r>
          </a:p>
        </p:txBody>
      </p:sp>
      <p:pic>
        <p:nvPicPr>
          <p:cNvPr id="4" name="Picture 3" descr="tu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08760"/>
            <a:ext cx="5760720" cy="2846795"/>
          </a:xfrm>
          <a:prstGeom prst="rect">
            <a:avLst/>
          </a:prstGeom>
        </p:spPr>
      </p:pic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537960" y="1417320"/>
          <a:ext cx="5120640" cy="3657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37960" y="5029200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98781"/>
                </a:solidFill>
                <a:latin typeface="Calibri"/>
              </a:rPr>
              <a:t>Ablation: event F1, each variant with its own best θ_enter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434840"/>
            <a:ext cx="576072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 i="0">
                <a:solidFill>
                  <a:srgbClr val="52514E"/>
                </a:solidFill>
                <a:latin typeface="Calibri"/>
              </a:rPr>
              <a:t>S1 </a:t>
            </a:r>
            <a:r>
              <a:rPr sz="1100" b="0" i="0">
                <a:solidFill>
                  <a:srgbClr val="52514E"/>
                </a:solidFill>
                <a:latin typeface="Calibri"/>
              </a:rPr>
              <a:t>detector params (108): F1 0.475</a:t>
            </a:r>
          </a:p>
          <a:p>
            <a:pPr algn="l">
              <a:spcAft>
                <a:spcPts val="100"/>
              </a:spcAft>
            </a:pPr>
            <a:r>
              <a:rPr sz="1100" b="1" i="0">
                <a:solidFill>
                  <a:srgbClr val="52514E"/>
                </a:solidFill>
                <a:latin typeface="Calibri"/>
              </a:rPr>
              <a:t>S2a </a:t>
            </a:r>
            <a:r>
              <a:rPr sz="1100" b="0" i="0">
                <a:solidFill>
                  <a:srgbClr val="52514E"/>
                </a:solidFill>
                <a:latin typeface="Calibri"/>
              </a:rPr>
              <a:t>θ, hysteresis, smoothing (36): F1 0.505</a:t>
            </a:r>
          </a:p>
          <a:p>
            <a:pPr algn="l">
              <a:spcAft>
                <a:spcPts val="100"/>
              </a:spcAft>
            </a:pPr>
            <a:r>
              <a:rPr sz="1100" b="1" i="0">
                <a:solidFill>
                  <a:srgbClr val="52514E"/>
                </a:solidFill>
                <a:latin typeface="Calibri"/>
              </a:rPr>
              <a:t>S2b </a:t>
            </a:r>
            <a:r>
              <a:rPr sz="1100" b="0" i="0">
                <a:solidFill>
                  <a:srgbClr val="52514E"/>
                </a:solidFill>
                <a:latin typeface="Calibri"/>
              </a:rPr>
              <a:t>cooldown, max length (27): F1 0.536</a:t>
            </a:r>
          </a:p>
          <a:p>
            <a:pPr algn="l">
              <a:spcAft>
                <a:spcPts val="100"/>
              </a:spcAft>
            </a:pPr>
            <a:r>
              <a:rPr sz="1100" b="1" i="0">
                <a:solidFill>
                  <a:srgbClr val="52514E"/>
                </a:solidFill>
                <a:latin typeface="Calibri"/>
              </a:rPr>
              <a:t>S3a </a:t>
            </a:r>
            <a:r>
              <a:rPr sz="1100" b="0" i="0">
                <a:solidFill>
                  <a:srgbClr val="52514E"/>
                </a:solidFill>
                <a:latin typeface="Calibri"/>
              </a:rPr>
              <a:t>Fisher, peak-or-mean, learn in cooldown (24): no gain, kept</a:t>
            </a:r>
          </a:p>
          <a:p>
            <a:pPr algn="l">
              <a:spcAft>
                <a:spcPts val="100"/>
              </a:spcAft>
            </a:pPr>
            <a:r>
              <a:rPr sz="1100" b="1" i="0">
                <a:solidFill>
                  <a:srgbClr val="52514E"/>
                </a:solidFill>
                <a:latin typeface="Calibri"/>
              </a:rPr>
              <a:t>S3b </a:t>
            </a:r>
            <a:r>
              <a:rPr sz="1100" b="0" i="0">
                <a:solidFill>
                  <a:srgbClr val="52514E"/>
                </a:solidFill>
                <a:latin typeface="Calibri"/>
              </a:rPr>
              <a:t>season ACF, log1p (18): no gain, kept</a:t>
            </a:r>
          </a:p>
          <a:p>
            <a:pPr algn="l">
              <a:spcAft>
                <a:spcPts val="100"/>
              </a:spcAft>
            </a:pPr>
            <a:r>
              <a:rPr sz="1100" b="1" i="0">
                <a:solidFill>
                  <a:srgbClr val="52514E"/>
                </a:solidFill>
                <a:latin typeface="Calibri"/>
              </a:rPr>
              <a:t>S3c </a:t>
            </a:r>
            <a:r>
              <a:rPr sz="1100" b="0" i="0">
                <a:solidFill>
                  <a:srgbClr val="52514E"/>
                </a:solidFill>
                <a:latin typeface="Calibri"/>
              </a:rPr>
              <a:t>capped CUSUM (9): no gain, kept</a:t>
            </a:r>
          </a:p>
          <a:p>
            <a:pPr algn="l">
              <a:spcAft>
                <a:spcPts val="100"/>
              </a:spcAft>
            </a:pPr>
            <a:r>
              <a:rPr sz="1100" b="1" i="0">
                <a:solidFill>
                  <a:srgbClr val="52514E"/>
                </a:solidFill>
                <a:latin typeface="Calibri"/>
              </a:rPr>
              <a:t>S3d </a:t>
            </a:r>
            <a:r>
              <a:rPr sz="1100" b="0" i="0">
                <a:solidFill>
                  <a:srgbClr val="52514E"/>
                </a:solidFill>
                <a:latin typeface="Calibri"/>
              </a:rPr>
              <a:t>shape detector off (6): no gain, kept</a:t>
            </a:r>
          </a:p>
          <a:p>
            <a:pPr algn="l">
              <a:spcAft>
                <a:spcPts val="100"/>
              </a:spcAft>
            </a:pPr>
            <a:r>
              <a:rPr sz="1100" b="1" i="0">
                <a:solidFill>
                  <a:srgbClr val="52514E"/>
                </a:solidFill>
                <a:latin typeface="Calibri"/>
              </a:rPr>
              <a:t>S3e </a:t>
            </a:r>
            <a:r>
              <a:rPr sz="1100" b="0" i="0">
                <a:solidFill>
                  <a:srgbClr val="52514E"/>
                </a:solidFill>
                <a:latin typeface="Calibri"/>
              </a:rPr>
              <a:t>deseasonalized CUSUM (3): no gain, kept</a:t>
            </a:r>
          </a:p>
          <a:p>
            <a:pPr algn="l">
              <a:spcAft>
                <a:spcPts val="100"/>
              </a:spcAft>
            </a:pPr>
            <a:r>
              <a:rPr sz="1100" b="1" i="0">
                <a:solidFill>
                  <a:srgbClr val="52514E"/>
                </a:solidFill>
                <a:latin typeface="Calibri"/>
              </a:rPr>
              <a:t>Final </a:t>
            </a:r>
            <a:r>
              <a:rPr sz="1100" b="0" i="0">
                <a:solidFill>
                  <a:srgbClr val="52514E"/>
                </a:solidFill>
                <a:latin typeface="Calibri"/>
              </a:rPr>
              <a:t>F1 0.532 (stability rule); LOCO-CV over all 218 configs 0.486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Sentinel  ·  Utkrishta 2026  ·  Challenge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5912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474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B0B0B"/>
                </a:solidFill>
                <a:latin typeface="Calibri"/>
              </a:rPr>
              <a:t>Event F1 on held-out categories, no point adjustment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52514E"/>
                </a:solidFill>
                <a:latin typeface="Calibri"/>
              </a:rPr>
              <a:t>Precision counts alerts, recall counts labelled windows; both summed over files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148840"/>
            <a:ext cx="5212080" cy="54864"/>
          </a:xfrm>
          <a:prstGeom prst="rect">
            <a:avLst/>
          </a:prstGeom>
          <a:solidFill>
            <a:srgbClr val="C3C2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97280" y="1645920"/>
            <a:ext cx="1463040" cy="457200"/>
          </a:xfrm>
          <a:prstGeom prst="rect">
            <a:avLst/>
          </a:prstGeom>
          <a:solidFill>
            <a:srgbClr val="FBD9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840480" y="1645920"/>
            <a:ext cx="1280160" cy="457200"/>
          </a:xfrm>
          <a:prstGeom prst="rect">
            <a:avLst/>
          </a:prstGeom>
          <a:solidFill>
            <a:srgbClr val="FBD9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54480" y="2286000"/>
            <a:ext cx="640080" cy="274320"/>
          </a:xfrm>
          <a:prstGeom prst="rect">
            <a:avLst/>
          </a:prstGeom>
          <a:solidFill>
            <a:srgbClr val="E349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926080" y="2286000"/>
            <a:ext cx="365760" cy="274320"/>
          </a:xfrm>
          <a:prstGeom prst="rect">
            <a:avLst/>
          </a:prstGeom>
          <a:solidFill>
            <a:srgbClr val="E349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606040"/>
            <a:ext cx="1645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2514E"/>
                </a:solidFill>
                <a:latin typeface="Calibri"/>
              </a:rPr>
              <a:t>hit: TP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88920" y="2606040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2514E"/>
                </a:solidFill>
                <a:latin typeface="Calibri"/>
              </a:rPr>
              <a:t>false alert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2606040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2514E"/>
                </a:solidFill>
                <a:latin typeface="Calibri"/>
              </a:rPr>
              <a:t>missed window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017520"/>
            <a:ext cx="52120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B0B0B"/>
                </a:solidFill>
                <a:latin typeface="Calibri"/>
              </a:rPr>
              <a:t>Precision</a:t>
            </a:r>
            <a:r>
              <a:rPr sz="1300" b="0" i="0">
                <a:solidFill>
                  <a:srgbClr val="0B0B0B"/>
                </a:solidFill>
                <a:latin typeface="Calibri"/>
              </a:rPr>
              <a:t> = alerts touching a window / alerts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B0B0B"/>
                </a:solidFill>
                <a:latin typeface="Calibri"/>
              </a:rPr>
              <a:t>Recall</a:t>
            </a:r>
            <a:r>
              <a:rPr sz="1300" b="0" i="0">
                <a:solidFill>
                  <a:srgbClr val="0B0B0B"/>
                </a:solidFill>
                <a:latin typeface="Calibri"/>
              </a:rPr>
              <a:t> = windows touched by an alert / windows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B0B0B"/>
                </a:solidFill>
                <a:latin typeface="Calibri"/>
              </a:rPr>
              <a:t>Delay</a:t>
            </a:r>
            <a:r>
              <a:rPr sz="1300" b="0" i="0">
                <a:solidFill>
                  <a:srgbClr val="0B0B0B"/>
                </a:solidFill>
                <a:latin typeface="Calibri"/>
              </a:rPr>
              <a:t> = first alert inside the window − window start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11480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B0B0B"/>
                </a:solidFill>
                <a:latin typeface="Calibri"/>
              </a:rPr>
              <a:t>Leave-one-category-out (LOCO)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526280"/>
            <a:ext cx="685800" cy="502920"/>
          </a:xfrm>
          <a:prstGeom prst="roundRect">
            <a:avLst>
              <a:gd name="adj" fmla="val 8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/>
            <a:r>
              <a:rPr sz="1000" b="0" i="0">
                <a:solidFill>
                  <a:srgbClr val="52514E"/>
                </a:solidFill>
                <a:latin typeface="Calibri"/>
              </a:rPr>
              <a:t>Art. none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289304" y="4526280"/>
            <a:ext cx="685800" cy="502920"/>
          </a:xfrm>
          <a:prstGeom prst="roundRect">
            <a:avLst>
              <a:gd name="adj" fmla="val 8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/>
            <a:r>
              <a:rPr sz="1000" b="0" i="0">
                <a:solidFill>
                  <a:srgbClr val="52514E"/>
                </a:solidFill>
                <a:latin typeface="Calibri"/>
              </a:rPr>
              <a:t>Art. anom.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029968" y="4526280"/>
            <a:ext cx="685800" cy="502920"/>
          </a:xfrm>
          <a:prstGeom prst="roundRect">
            <a:avLst>
              <a:gd name="adj" fmla="val 8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/>
            <a:r>
              <a:rPr sz="1000" b="0" i="0">
                <a:solidFill>
                  <a:srgbClr val="52514E"/>
                </a:solidFill>
                <a:latin typeface="Calibri"/>
              </a:rPr>
              <a:t>AWS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70632" y="4526280"/>
            <a:ext cx="685800" cy="502920"/>
          </a:xfrm>
          <a:prstGeom prst="roundRect">
            <a:avLst>
              <a:gd name="adj" fmla="val 8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/>
            <a:r>
              <a:rPr sz="1000" b="0" i="0">
                <a:solidFill>
                  <a:srgbClr val="52514E"/>
                </a:solidFill>
                <a:latin typeface="Calibri"/>
              </a:rPr>
              <a:t>AdExch.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511296" y="4526280"/>
            <a:ext cx="685800" cy="502920"/>
          </a:xfrm>
          <a:prstGeom prst="roundRect">
            <a:avLst>
              <a:gd name="adj" fmla="val 8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Known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51960" y="4526280"/>
            <a:ext cx="685800" cy="502920"/>
          </a:xfrm>
          <a:prstGeom prst="roundRect">
            <a:avLst>
              <a:gd name="adj" fmla="val 8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/>
            <a:r>
              <a:rPr sz="1000" b="0" i="0">
                <a:solidFill>
                  <a:srgbClr val="52514E"/>
                </a:solidFill>
                <a:latin typeface="Calibri"/>
              </a:rPr>
              <a:t>Traffic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992624" y="4526280"/>
            <a:ext cx="685800" cy="502920"/>
          </a:xfrm>
          <a:prstGeom prst="roundRect">
            <a:avLst>
              <a:gd name="adj" fmla="val 8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/>
            <a:r>
              <a:rPr sz="1000" b="0" i="0">
                <a:solidFill>
                  <a:srgbClr val="52514E"/>
                </a:solidFill>
                <a:latin typeface="Calibri"/>
              </a:rPr>
              <a:t>Tweets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120640"/>
            <a:ext cx="52120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2514E"/>
                </a:solidFill>
                <a:latin typeface="Calibri"/>
              </a:rPr>
              <a:t>Pick the config on 6 categories, score it on the 7th; repeat 7 times. Each file is scored once while held out. One global config, no per-file tuning.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6309360" y="1371600"/>
          <a:ext cx="5349240" cy="39319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6309360" y="5303520"/>
            <a:ext cx="5349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2514E"/>
                </a:solidFill>
                <a:latin typeface="Calibri"/>
              </a:rPr>
              <a:t>Sentinel event F1 per category (windows found / windows). On the 5 no-anomaly files it raised 1 false alert.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Sentinel  ·  Utkrishta 2026  ·  Challenge 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25912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474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B0B0B"/>
                </a:solidFill>
                <a:latin typeface="Calibri"/>
              </a:rPr>
              <a:t>Sentinel leads every baseline, even ones given our calibration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188720"/>
            <a:ext cx="2606040" cy="1234440"/>
          </a:xfrm>
          <a:prstGeom prst="roundRect">
            <a:avLst>
              <a:gd name="adj" fmla="val 8000"/>
            </a:avLst>
          </a:prstGeom>
          <a:solidFill>
            <a:srgbClr val="EE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98448"/>
            <a:ext cx="2240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2A78D6"/>
                </a:solidFill>
                <a:latin typeface="Calibri"/>
              </a:rPr>
              <a:t>0.53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38528"/>
            <a:ext cx="2240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2514E"/>
                </a:solidFill>
                <a:latin typeface="Calibri"/>
              </a:rPr>
              <a:t>event F1, all files (95% CI 0.45–0.61)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91840" y="1188720"/>
            <a:ext cx="2606040" cy="1234440"/>
          </a:xfrm>
          <a:prstGeom prst="roundRect">
            <a:avLst>
              <a:gd name="adj" fmla="val 8000"/>
            </a:avLst>
          </a:prstGeom>
          <a:solidFill>
            <a:srgbClr val="EE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4720" y="1298448"/>
            <a:ext cx="2240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2A78D6"/>
                </a:solidFill>
                <a:latin typeface="Calibri"/>
              </a:rPr>
              <a:t>0.49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0" y="1938528"/>
            <a:ext cx="2240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2514E"/>
                </a:solidFill>
                <a:latin typeface="Calibri"/>
              </a:rPr>
              <a:t>event F1, held-out categories (LOCO)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1188720"/>
            <a:ext cx="2606040" cy="1234440"/>
          </a:xfrm>
          <a:prstGeom prst="roundRect">
            <a:avLst>
              <a:gd name="adj" fmla="val 8000"/>
            </a:avLst>
          </a:prstGeom>
          <a:solidFill>
            <a:srgbClr val="EE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0" y="1298448"/>
            <a:ext cx="2240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0B0B0B"/>
                </a:solidFill>
                <a:latin typeface="Calibri"/>
              </a:rPr>
              <a:t>0.50 / 0.57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1938528"/>
            <a:ext cx="2240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2514E"/>
                </a:solidFill>
                <a:latin typeface="Calibri"/>
              </a:rPr>
              <a:t>precision / recall (66/116 windows)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778240" y="1188720"/>
            <a:ext cx="2834640" cy="1234440"/>
          </a:xfrm>
          <a:prstGeom prst="roundRect">
            <a:avLst>
              <a:gd name="adj" fmla="val 8000"/>
            </a:avLst>
          </a:prstGeom>
          <a:solidFill>
            <a:srgbClr val="EE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19" y="1298448"/>
            <a:ext cx="24688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0B0B0B"/>
                </a:solidFill>
                <a:latin typeface="Calibri"/>
              </a:rPr>
              <a:t>44 µs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19" y="1938528"/>
            <a:ext cx="2468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2514E"/>
                </a:solidFill>
                <a:latin typeface="Calibri"/>
              </a:rPr>
              <a:t>per point, one laptop CPU core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548640" y="269748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1051560"/>
                <a:gridCol w="1234440"/>
                <a:gridCol w="1097280"/>
                <a:gridCol w="1005840"/>
                <a:gridCol w="1188720"/>
                <a:gridCol w="128016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 marL="73152" marR="73152" marT="27432" marB="27432" anchor="ctr"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Event F1</a:t>
                      </a:r>
                    </a:p>
                  </a:txBody>
                  <a:tcPr marL="73152" marR="73152" marT="27432" marB="27432" anchor="ctr"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LOCO-CV F1</a:t>
                      </a:r>
                    </a:p>
                  </a:txBody>
                  <a:tcPr marL="73152" marR="73152" marT="27432" marB="27432" anchor="ctr"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Precision</a:t>
                      </a:r>
                    </a:p>
                  </a:txBody>
                  <a:tcPr marL="73152" marR="73152" marT="27432" marB="27432" anchor="ctr"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Recall</a:t>
                      </a:r>
                    </a:p>
                  </a:txBody>
                  <a:tcPr marL="73152" marR="73152" marT="27432" marB="27432" anchor="ctr"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False alerts</a:t>
                      </a:r>
                    </a:p>
                  </a:txBody>
                  <a:tcPr marL="73152" marR="73152" marT="27432" marB="27432" anchor="ctr"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NAB*</a:t>
                      </a:r>
                    </a:p>
                  </a:txBody>
                  <a:tcPr marL="73152" marR="73152" marT="27432" marB="27432" anchor="ctr">
                    <a:solidFill>
                      <a:srgbClr val="0F1B2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B0B0B"/>
                          </a:solidFill>
                          <a:latin typeface="Calibri"/>
                        </a:rPr>
                        <a:t>Sentinel</a:t>
                      </a:r>
                    </a:p>
                  </a:txBody>
                  <a:tcPr marL="73152" marR="73152" marT="27432" marB="27432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0B0B0B"/>
                          </a:solidFill>
                          <a:latin typeface="Calibri"/>
                        </a:rPr>
                        <a:t>0.532</a:t>
                      </a:r>
                    </a:p>
                  </a:txBody>
                  <a:tcPr marL="73152" marR="73152" marT="27432" marB="27432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0B0B0B"/>
                          </a:solidFill>
                          <a:latin typeface="Calibri"/>
                        </a:rPr>
                        <a:t>0.486</a:t>
                      </a:r>
                    </a:p>
                  </a:txBody>
                  <a:tcPr marL="73152" marR="73152" marT="27432" marB="27432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0B0B0B"/>
                          </a:solidFill>
                          <a:latin typeface="Calibri"/>
                        </a:rPr>
                        <a:t>0.500</a:t>
                      </a:r>
                    </a:p>
                  </a:txBody>
                  <a:tcPr marL="73152" marR="73152" marT="27432" marB="27432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0B0B0B"/>
                          </a:solidFill>
                          <a:latin typeface="Calibri"/>
                        </a:rPr>
                        <a:t>0.569</a:t>
                      </a:r>
                    </a:p>
                  </a:txBody>
                  <a:tcPr marL="73152" marR="73152" marT="27432" marB="27432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0B0B0B"/>
                          </a:solidFill>
                          <a:latin typeface="Calibri"/>
                        </a:rPr>
                        <a:t>74</a:t>
                      </a:r>
                    </a:p>
                  </a:txBody>
                  <a:tcPr marL="73152" marR="73152" marT="27432" marB="27432" anchor="ctr">
                    <a:solidFill>
                      <a:srgbClr val="EEF4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0B0B0B"/>
                          </a:solidFill>
                          <a:latin typeface="Calibri"/>
                        </a:rPr>
                        <a:t>40.7</a:t>
                      </a:r>
                    </a:p>
                  </a:txBody>
                  <a:tcPr marL="73152" marR="73152" marT="27432" marB="27432" anchor="ctr">
                    <a:solidFill>
                      <a:srgbClr val="EEF4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LOF (+ our calibration &amp; event logic)</a:t>
                      </a:r>
                    </a:p>
                  </a:txBody>
                  <a:tcPr marL="73152" marR="73152" marT="27432" marB="27432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0.494</a:t>
                      </a:r>
                    </a:p>
                  </a:txBody>
                  <a:tcPr marL="73152" marR="73152" marT="27432" marB="27432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0.471</a:t>
                      </a:r>
                    </a:p>
                  </a:txBody>
                  <a:tcPr marL="73152" marR="73152" marT="27432" marB="27432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0.452</a:t>
                      </a:r>
                    </a:p>
                  </a:txBody>
                  <a:tcPr marL="73152" marR="73152" marT="27432" marB="27432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0.543</a:t>
                      </a:r>
                    </a:p>
                  </a:txBody>
                  <a:tcPr marL="73152" marR="73152" marT="27432" marB="27432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86</a:t>
                      </a:r>
                    </a:p>
                  </a:txBody>
                  <a:tcPr marL="73152" marR="73152" marT="27432" marB="27432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43.1</a:t>
                      </a:r>
                    </a:p>
                  </a:txBody>
                  <a:tcPr marL="73152" marR="73152" marT="27432" marB="27432" anchor="ctr">
                    <a:solidFill>
                      <a:srgbClr val="F7F7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Isolation Forest (+ our calibration &amp; event logic)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0.458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0.458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0.347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0.672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188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51.2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One-Class SVM (+ our calibration &amp; event logic)</a:t>
                      </a:r>
                    </a:p>
                  </a:txBody>
                  <a:tcPr marL="73152" marR="73152" marT="27432" marB="27432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0.390</a:t>
                      </a:r>
                    </a:p>
                  </a:txBody>
                  <a:tcPr marL="73152" marR="73152" marT="27432" marB="27432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0.372</a:t>
                      </a:r>
                    </a:p>
                  </a:txBody>
                  <a:tcPr marL="73152" marR="73152" marT="27432" marB="27432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0.288</a:t>
                      </a:r>
                    </a:p>
                  </a:txBody>
                  <a:tcPr marL="73152" marR="73152" marT="27432" marB="27432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0.603</a:t>
                      </a:r>
                    </a:p>
                  </a:txBody>
                  <a:tcPr marL="73152" marR="73152" marT="27432" marB="27432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220</a:t>
                      </a:r>
                    </a:p>
                  </a:txBody>
                  <a:tcPr marL="73152" marR="73152" marT="27432" marB="27432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39.4</a:t>
                      </a:r>
                    </a:p>
                  </a:txBody>
                  <a:tcPr marL="73152" marR="73152" marT="27432" marB="27432" anchor="ctr">
                    <a:solidFill>
                      <a:srgbClr val="F7F7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Rolling z-score (+ our calibration &amp; event logic)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0.350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0.350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0.299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0.422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131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32.4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Random (plain threshold)</a:t>
                      </a:r>
                    </a:p>
                  </a:txBody>
                  <a:tcPr marL="73152" marR="73152" marT="27432" marB="27432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0.186</a:t>
                      </a:r>
                    </a:p>
                  </a:txBody>
                  <a:tcPr marL="73152" marR="73152" marT="27432" marB="27432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73152" marR="73152" marT="27432" marB="27432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0.103</a:t>
                      </a:r>
                    </a:p>
                  </a:txBody>
                  <a:tcPr marL="73152" marR="73152" marT="27432" marB="27432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0.931</a:t>
                      </a:r>
                    </a:p>
                  </a:txBody>
                  <a:tcPr marL="73152" marR="73152" marT="27432" marB="27432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4301</a:t>
                      </a:r>
                    </a:p>
                  </a:txBody>
                  <a:tcPr marL="73152" marR="73152" marT="27432" marB="27432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52514E"/>
                          </a:solidFill>
                          <a:latin typeface="Calibri"/>
                        </a:rPr>
                        <a:t>-108.3</a:t>
                      </a:r>
                    </a:p>
                  </a:txBody>
                  <a:tcPr marL="73152" marR="73152" marT="27432" marB="27432" anchor="ctr">
                    <a:solidFill>
                      <a:srgbClr val="F7F7F5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548640" y="5349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98781"/>
                </a:solidFill>
                <a:latin typeface="Calibri"/>
              </a:rPr>
              <a:t>Best variant of each baseline shown (full table: results/baselines_comparison.csv). LOCO-CV: threshold chosen on 6 categories, scored on the 7th. *NAB score at our operating point (alert onsets as detections). NAB's scoreboard (ARTime 74.9, HTM ~70, CAD OSE 69.9) tunes a threshold per detector and is a different metric.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Sentinel  ·  Utkrishta 2026  ·  Challenge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25912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474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B0B0B"/>
                </a:solidFill>
                <a:latin typeface="Calibri"/>
              </a:rPr>
              <a:t>Every alert comes with evidence a person can 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52514E"/>
                </a:solidFill>
                <a:latin typeface="Calibri"/>
              </a:rPr>
              <a:t>streamlit run app/streamlit_app.py  ·  python scripts/run_stream.py --input file.csv --output out.csv --events ev.jsonl</a:t>
            </a:r>
          </a:p>
        </p:txBody>
      </p:sp>
      <p:pic>
        <p:nvPicPr>
          <p:cNvPr id="4" name="Picture 3" descr="demo_stream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08760"/>
            <a:ext cx="5705856" cy="47548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46520" y="1508760"/>
            <a:ext cx="5212080" cy="1234440"/>
          </a:xfrm>
          <a:prstGeom prst="roundRect">
            <a:avLst>
              <a:gd name="adj" fmla="val 8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0" y="1581912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2A78D6"/>
                </a:solidFill>
                <a:latin typeface="Calibri"/>
              </a:rPr>
              <a:t>Correct alert</a:t>
            </a:r>
            <a:r>
              <a:rPr sz="1100" b="0" i="0">
                <a:solidFill>
                  <a:srgbClr val="52514E"/>
                </a:solidFill>
                <a:latin typeface="Calibri"/>
              </a:rPr>
              <a:t>  ·  ec2_cpu_utilization_825cc2.csv  ·  2014-04-16 03:34:00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920240"/>
            <a:ext cx="4937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0B0B0B"/>
                </a:solidFill>
                <a:latin typeface="Calibri"/>
              </a:rPr>
              <a:t>Value 24.43 is 21.9x the normal spread below the expected 92.51.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46520" y="2880360"/>
            <a:ext cx="5212080" cy="1234440"/>
          </a:xfrm>
          <a:prstGeom prst="roundRect">
            <a:avLst>
              <a:gd name="adj" fmla="val 8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2953512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2A78D6"/>
                </a:solidFill>
                <a:latin typeface="Calibri"/>
              </a:rPr>
              <a:t>Correct alert</a:t>
            </a:r>
            <a:r>
              <a:rPr sz="1100" b="0" i="0">
                <a:solidFill>
                  <a:srgbClr val="52514E"/>
                </a:solidFill>
                <a:latin typeface="Calibri"/>
              </a:rPr>
              <a:t>  ·  Twitter_volume_FB.csv  ·  2015-04-03 17:47:53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3291840"/>
            <a:ext cx="4937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0B0B0B"/>
                </a:solidFill>
                <a:latin typeface="Calibri"/>
              </a:rPr>
              <a:t>Value 1258 is 58.2x the normal spread above the expected 11. Also: Sustained upward shift: recent mean 107.1 vs baseline 16.83 for 2 points.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46520" y="4251960"/>
            <a:ext cx="5212080" cy="1691640"/>
          </a:xfrm>
          <a:prstGeom prst="roundRect">
            <a:avLst>
              <a:gd name="adj" fmla="val 8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4325112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E34948"/>
                </a:solidFill>
                <a:latin typeface="Calibri"/>
              </a:rPr>
              <a:t>False alert: why</a:t>
            </a:r>
            <a:r>
              <a:rPr sz="1100" b="0" i="0">
                <a:solidFill>
                  <a:srgbClr val="52514E"/>
                </a:solidFill>
                <a:latin typeface="Calibri"/>
              </a:rPr>
              <a:t>  ·  art_daily_jumpsdown.csv  ·  2014-04-12 10:35:00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4663440"/>
            <a:ext cx="4937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0B0B0B"/>
                </a:solidFill>
                <a:latin typeface="Calibri"/>
              </a:rPr>
              <a:t>Sustained upward shift: recent mean 72.67 vs baseline 32.23 for 20 points.</a:t>
            </a:r>
          </a:p>
          <a:p>
            <a:pPr algn="l"/>
            <a:r>
              <a:rPr sz="1100" b="0" i="1">
                <a:solidFill>
                  <a:srgbClr val="52514E"/>
                </a:solidFill>
                <a:latin typeface="Calibri"/>
              </a:rPr>
              <a:t>After the real anomaly the change detector re-baselined onto the night-time level, so the next normal daily rise looked like a shift.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Sentinel  ·  Utkrishta 2026  ·  Challenge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5912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474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What breaks it, and what comes next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25880"/>
            <a:ext cx="5394960" cy="868680"/>
          </a:xfrm>
          <a:prstGeom prst="roundRect">
            <a:avLst>
              <a:gd name="adj" fmla="val 8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Looks like normal</a:t>
            </a:r>
          </a:p>
          <a:p>
            <a:pPr algn="l"/>
            <a:r>
              <a:rPr sz="1200" b="0" i="0">
                <a:solidFill>
                  <a:srgbClr val="C9D1DE"/>
                </a:solidFill>
                <a:latin typeface="Calibri"/>
              </a:rPr>
              <a:t>anomalies that resemble the usual seasonal pattern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350008"/>
            <a:ext cx="5394960" cy="868680"/>
          </a:xfrm>
          <a:prstGeom prst="roundRect">
            <a:avLst>
              <a:gd name="adj" fmla="val 8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Bursty series</a:t>
            </a:r>
          </a:p>
          <a:p>
            <a:pPr algn="l"/>
            <a:r>
              <a:rPr sz="1200" b="0" i="0">
                <a:solidFill>
                  <a:srgbClr val="C9D1DE"/>
                </a:solidFill>
                <a:latin typeface="Calibri"/>
              </a:rPr>
              <a:t>Tweets/AWS: many unlabelled spikes look like labelled ones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3374136"/>
            <a:ext cx="5394960" cy="868680"/>
          </a:xfrm>
          <a:prstGeom prst="roundRect">
            <a:avLst>
              <a:gd name="adj" fmla="val 8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Regime switching</a:t>
            </a:r>
          </a:p>
          <a:p>
            <a:pPr algn="l"/>
            <a:r>
              <a:rPr sz="1200" b="0" i="0">
                <a:solidFill>
                  <a:srgbClr val="C9D1DE"/>
                </a:solidFill>
                <a:latin typeface="Calibri"/>
              </a:rPr>
              <a:t>CUSUM fires on series that change level often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398264"/>
            <a:ext cx="5394960" cy="868680"/>
          </a:xfrm>
          <a:prstGeom prst="roundRect">
            <a:avLst>
              <a:gd name="adj" fmla="val 8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Labels</a:t>
            </a:r>
          </a:p>
          <a:p>
            <a:pPr algn="l"/>
            <a:r>
              <a:rPr sz="1200" b="0" i="0">
                <a:solidFill>
                  <a:srgbClr val="C9D1DE"/>
                </a:solidFill>
                <a:latin typeface="Calibri"/>
              </a:rPr>
              <a:t>some windows show no visible change; some clear events are unlabelled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325880"/>
            <a:ext cx="52120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8FB3E8"/>
                </a:solidFill>
                <a:latin typeface="Calibri"/>
              </a:rPr>
              <a:t>Next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783080"/>
            <a:ext cx="52120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D6DBE4"/>
                </a:solidFill>
                <a:latin typeface="Calibri"/>
              </a:rPr>
              <a:t>Multivariate streams (shared context across metrics)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D6DBE4"/>
                </a:solidFill>
                <a:latin typeface="Calibri"/>
              </a:rPr>
              <a:t>Learn more seasonal periods online, not only day/week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D6DBE4"/>
                </a:solidFill>
                <a:latin typeface="Calibri"/>
              </a:rPr>
              <a:t>Operator feedback to adapt θ per service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D6DBE4"/>
                </a:solidFill>
                <a:latin typeface="Calibri"/>
              </a:rPr>
              <a:t>Compare with time-series foundation models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3794760"/>
            <a:ext cx="52120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8FB3E8"/>
                </a:solidFill>
                <a:latin typeface="Calibri"/>
              </a:rPr>
              <a:t>Conclusion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251960"/>
            <a:ext cx="52120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Three simple, causal detectors + calibration + event logic: event F1 0.53 on NAB (0.49 on held-out categories).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One alert per incident, each with a reason; tens of microseconds per point on a laptop.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Every number is reproducible from one command per step.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8A94A6"/>
                </a:solidFill>
                <a:latin typeface="Calibri"/>
              </a:rPr>
              <a:t>Sentinel  ·  Utkrishta 2026  ·  Challenge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5912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A94A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Sentinel — Utkrishta 2026 Challenge 2</dc:title>
  <dc:subject/>
  <dc:creator>Kommana Srinivasa Rao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